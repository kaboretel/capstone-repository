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14"/>
  </p:notesMasterIdLst>
  <p:sldIdLst>
    <p:sldId id="268" r:id="rId2"/>
    <p:sldId id="257" r:id="rId3"/>
    <p:sldId id="258" r:id="rId4"/>
    <p:sldId id="259" r:id="rId5"/>
    <p:sldId id="260" r:id="rId6"/>
    <p:sldId id="269"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D15742-DB29-453D-88AA-FDA63F68052C}" v="28" dt="2026-05-12T23:03:00.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8475" autoAdjust="0"/>
  </p:normalViewPr>
  <p:slideViewPr>
    <p:cSldViewPr snapToGrid="0">
      <p:cViewPr varScale="1">
        <p:scale>
          <a:sx n="65" d="100"/>
          <a:sy n="65" d="100"/>
        </p:scale>
        <p:origin x="59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lesphore Kabore" userId="d4ccbf058aa88abe" providerId="LiveId" clId="{FE57C5EA-29B7-4850-AEA3-B9A8E9DBF7A7}"/>
    <pc:docChg chg="undo redo custSel addSld delSld modSld">
      <pc:chgData name="Telesphore Kabore" userId="d4ccbf058aa88abe" providerId="LiveId" clId="{FE57C5EA-29B7-4850-AEA3-B9A8E9DBF7A7}" dt="2026-05-12T23:17:27.204" v="1153" actId="6549"/>
      <pc:docMkLst>
        <pc:docMk/>
      </pc:docMkLst>
      <pc:sldChg chg="addSp delSp modSp del mod">
        <pc:chgData name="Telesphore Kabore" userId="d4ccbf058aa88abe" providerId="LiveId" clId="{FE57C5EA-29B7-4850-AEA3-B9A8E9DBF7A7}" dt="2026-05-12T20:26:34.812" v="92" actId="47"/>
        <pc:sldMkLst>
          <pc:docMk/>
          <pc:sldMk cId="0" sldId="256"/>
        </pc:sldMkLst>
        <pc:spChg chg="mod">
          <ac:chgData name="Telesphore Kabore" userId="d4ccbf058aa88abe" providerId="LiveId" clId="{FE57C5EA-29B7-4850-AEA3-B9A8E9DBF7A7}" dt="2026-05-12T20:17:31.963" v="20" actId="207"/>
          <ac:spMkLst>
            <pc:docMk/>
            <pc:sldMk cId="0" sldId="256"/>
            <ac:spMk id="4" creationId="{00000000-0000-0000-0000-000000000000}"/>
          </ac:spMkLst>
        </pc:spChg>
        <pc:spChg chg="mod">
          <ac:chgData name="Telesphore Kabore" userId="d4ccbf058aa88abe" providerId="LiveId" clId="{FE57C5EA-29B7-4850-AEA3-B9A8E9DBF7A7}" dt="2026-05-12T20:18:40.624" v="27" actId="1076"/>
          <ac:spMkLst>
            <pc:docMk/>
            <pc:sldMk cId="0" sldId="256"/>
            <ac:spMk id="6" creationId="{00000000-0000-0000-0000-000000000000}"/>
          </ac:spMkLst>
        </pc:spChg>
        <pc:graphicFrameChg chg="del mod">
          <ac:chgData name="Telesphore Kabore" userId="d4ccbf058aa88abe" providerId="LiveId" clId="{FE57C5EA-29B7-4850-AEA3-B9A8E9DBF7A7}" dt="2026-05-12T20:19:15.298" v="31" actId="478"/>
          <ac:graphicFrameMkLst>
            <pc:docMk/>
            <pc:sldMk cId="0" sldId="256"/>
            <ac:graphicFrameMk id="7" creationId="{00000000-0000-0000-0000-000000000000}"/>
          </ac:graphicFrameMkLst>
        </pc:graphicFrameChg>
        <pc:graphicFrameChg chg="add mod">
          <ac:chgData name="Telesphore Kabore" userId="d4ccbf058aa88abe" providerId="LiveId" clId="{FE57C5EA-29B7-4850-AEA3-B9A8E9DBF7A7}" dt="2026-05-12T20:18:46.596" v="28"/>
          <ac:graphicFrameMkLst>
            <pc:docMk/>
            <pc:sldMk cId="0" sldId="256"/>
            <ac:graphicFrameMk id="23" creationId="{E3B227D0-9B2B-0A0F-F5CE-19BD299CC4B2}"/>
          </ac:graphicFrameMkLst>
        </pc:graphicFrameChg>
        <pc:graphicFrameChg chg="add mod">
          <ac:chgData name="Telesphore Kabore" userId="d4ccbf058aa88abe" providerId="LiveId" clId="{FE57C5EA-29B7-4850-AEA3-B9A8E9DBF7A7}" dt="2026-05-12T20:19:51.143" v="57" actId="1076"/>
          <ac:graphicFrameMkLst>
            <pc:docMk/>
            <pc:sldMk cId="0" sldId="256"/>
            <ac:graphicFrameMk id="24" creationId="{27DC5225-282D-059F-7307-DC51A70780C0}"/>
          </ac:graphicFrameMkLst>
        </pc:graphicFrameChg>
      </pc:sldChg>
      <pc:sldChg chg="modSp mod modNotesTx">
        <pc:chgData name="Telesphore Kabore" userId="d4ccbf058aa88abe" providerId="LiveId" clId="{FE57C5EA-29B7-4850-AEA3-B9A8E9DBF7A7}" dt="2026-05-12T23:15:37.061" v="1142" actId="20577"/>
        <pc:sldMkLst>
          <pc:docMk/>
          <pc:sldMk cId="0" sldId="257"/>
        </pc:sldMkLst>
        <pc:spChg chg="mod">
          <ac:chgData name="Telesphore Kabore" userId="d4ccbf058aa88abe" providerId="LiveId" clId="{FE57C5EA-29B7-4850-AEA3-B9A8E9DBF7A7}" dt="2026-05-12T20:15:11.732" v="0" actId="207"/>
          <ac:spMkLst>
            <pc:docMk/>
            <pc:sldMk cId="0" sldId="257"/>
            <ac:spMk id="4" creationId="{00000000-0000-0000-0000-000000000000}"/>
          </ac:spMkLst>
        </pc:spChg>
        <pc:spChg chg="mod">
          <ac:chgData name="Telesphore Kabore" userId="d4ccbf058aa88abe" providerId="LiveId" clId="{FE57C5EA-29B7-4850-AEA3-B9A8E9DBF7A7}" dt="2026-05-12T20:25:56.672" v="90" actId="14100"/>
          <ac:spMkLst>
            <pc:docMk/>
            <pc:sldMk cId="0" sldId="257"/>
            <ac:spMk id="6" creationId="{00000000-0000-0000-0000-000000000000}"/>
          </ac:spMkLst>
        </pc:spChg>
        <pc:spChg chg="mod">
          <ac:chgData name="Telesphore Kabore" userId="d4ccbf058aa88abe" providerId="LiveId" clId="{FE57C5EA-29B7-4850-AEA3-B9A8E9DBF7A7}" dt="2026-05-12T20:26:05.113" v="91" actId="14100"/>
          <ac:spMkLst>
            <pc:docMk/>
            <pc:sldMk cId="0" sldId="257"/>
            <ac:spMk id="9" creationId="{00000000-0000-0000-0000-000000000000}"/>
          </ac:spMkLst>
        </pc:spChg>
      </pc:sldChg>
      <pc:sldChg chg="modSp mod modNotesTx">
        <pc:chgData name="Telesphore Kabore" userId="d4ccbf058aa88abe" providerId="LiveId" clId="{FE57C5EA-29B7-4850-AEA3-B9A8E9DBF7A7}" dt="2026-05-12T23:15:49.353" v="1143" actId="20577"/>
        <pc:sldMkLst>
          <pc:docMk/>
          <pc:sldMk cId="0" sldId="258"/>
        </pc:sldMkLst>
        <pc:spChg chg="mod">
          <ac:chgData name="Telesphore Kabore" userId="d4ccbf058aa88abe" providerId="LiveId" clId="{FE57C5EA-29B7-4850-AEA3-B9A8E9DBF7A7}" dt="2026-05-12T20:15:23.941" v="1" actId="207"/>
          <ac:spMkLst>
            <pc:docMk/>
            <pc:sldMk cId="0" sldId="258"/>
            <ac:spMk id="4" creationId="{00000000-0000-0000-0000-000000000000}"/>
          </ac:spMkLst>
        </pc:spChg>
        <pc:spChg chg="mod">
          <ac:chgData name="Telesphore Kabore" userId="d4ccbf058aa88abe" providerId="LiveId" clId="{FE57C5EA-29B7-4850-AEA3-B9A8E9DBF7A7}" dt="2026-05-12T20:15:32.906" v="2" actId="14100"/>
          <ac:spMkLst>
            <pc:docMk/>
            <pc:sldMk cId="0" sldId="258"/>
            <ac:spMk id="9" creationId="{00000000-0000-0000-0000-000000000000}"/>
          </ac:spMkLst>
        </pc:spChg>
        <pc:spChg chg="mod">
          <ac:chgData name="Telesphore Kabore" userId="d4ccbf058aa88abe" providerId="LiveId" clId="{FE57C5EA-29B7-4850-AEA3-B9A8E9DBF7A7}" dt="2026-05-12T20:15:48.258" v="8" actId="20577"/>
          <ac:spMkLst>
            <pc:docMk/>
            <pc:sldMk cId="0" sldId="258"/>
            <ac:spMk id="19" creationId="{00000000-0000-0000-0000-000000000000}"/>
          </ac:spMkLst>
        </pc:spChg>
      </pc:sldChg>
      <pc:sldChg chg="modSp mod modNotesTx">
        <pc:chgData name="Telesphore Kabore" userId="d4ccbf058aa88abe" providerId="LiveId" clId="{FE57C5EA-29B7-4850-AEA3-B9A8E9DBF7A7}" dt="2026-05-12T23:15:57.399" v="1144" actId="20577"/>
        <pc:sldMkLst>
          <pc:docMk/>
          <pc:sldMk cId="0" sldId="259"/>
        </pc:sldMkLst>
        <pc:spChg chg="mod">
          <ac:chgData name="Telesphore Kabore" userId="d4ccbf058aa88abe" providerId="LiveId" clId="{FE57C5EA-29B7-4850-AEA3-B9A8E9DBF7A7}" dt="2026-05-12T20:16:02.172" v="9" actId="207"/>
          <ac:spMkLst>
            <pc:docMk/>
            <pc:sldMk cId="0" sldId="259"/>
            <ac:spMk id="4" creationId="{00000000-0000-0000-0000-000000000000}"/>
          </ac:spMkLst>
        </pc:spChg>
        <pc:spChg chg="mod">
          <ac:chgData name="Telesphore Kabore" userId="d4ccbf058aa88abe" providerId="LiveId" clId="{FE57C5EA-29B7-4850-AEA3-B9A8E9DBF7A7}" dt="2026-05-12T20:16:45.061" v="18" actId="20577"/>
          <ac:spMkLst>
            <pc:docMk/>
            <pc:sldMk cId="0" sldId="259"/>
            <ac:spMk id="5" creationId="{00000000-0000-0000-0000-000000000000}"/>
          </ac:spMkLst>
        </pc:spChg>
      </pc:sldChg>
      <pc:sldChg chg="modSp mod modNotesTx">
        <pc:chgData name="Telesphore Kabore" userId="d4ccbf058aa88abe" providerId="LiveId" clId="{FE57C5EA-29B7-4850-AEA3-B9A8E9DBF7A7}" dt="2026-05-12T23:16:06.602" v="1145" actId="20577"/>
        <pc:sldMkLst>
          <pc:docMk/>
          <pc:sldMk cId="0" sldId="260"/>
        </pc:sldMkLst>
        <pc:spChg chg="mod">
          <ac:chgData name="Telesphore Kabore" userId="d4ccbf058aa88abe" providerId="LiveId" clId="{FE57C5EA-29B7-4850-AEA3-B9A8E9DBF7A7}" dt="2026-05-12T20:17:01.091" v="19" actId="207"/>
          <ac:spMkLst>
            <pc:docMk/>
            <pc:sldMk cId="0" sldId="260"/>
            <ac:spMk id="4" creationId="{00000000-0000-0000-0000-000000000000}"/>
          </ac:spMkLst>
        </pc:spChg>
      </pc:sldChg>
      <pc:sldChg chg="modNotesTx">
        <pc:chgData name="Telesphore Kabore" userId="d4ccbf058aa88abe" providerId="LiveId" clId="{FE57C5EA-29B7-4850-AEA3-B9A8E9DBF7A7}" dt="2026-05-12T23:16:31.604" v="1151" actId="6549"/>
        <pc:sldMkLst>
          <pc:docMk/>
          <pc:sldMk cId="0" sldId="262"/>
        </pc:sldMkLst>
      </pc:sldChg>
      <pc:sldChg chg="modNotesTx">
        <pc:chgData name="Telesphore Kabore" userId="d4ccbf058aa88abe" providerId="LiveId" clId="{FE57C5EA-29B7-4850-AEA3-B9A8E9DBF7A7}" dt="2026-05-12T22:52:25.939" v="713" actId="20577"/>
        <pc:sldMkLst>
          <pc:docMk/>
          <pc:sldMk cId="0" sldId="263"/>
        </pc:sldMkLst>
      </pc:sldChg>
      <pc:sldChg chg="modNotesTx">
        <pc:chgData name="Telesphore Kabore" userId="d4ccbf058aa88abe" providerId="LiveId" clId="{FE57C5EA-29B7-4850-AEA3-B9A8E9DBF7A7}" dt="2026-05-12T22:59:40.535" v="1052" actId="6549"/>
        <pc:sldMkLst>
          <pc:docMk/>
          <pc:sldMk cId="0" sldId="264"/>
        </pc:sldMkLst>
      </pc:sldChg>
      <pc:sldChg chg="delSp mod modNotesTx">
        <pc:chgData name="Telesphore Kabore" userId="d4ccbf058aa88abe" providerId="LiveId" clId="{FE57C5EA-29B7-4850-AEA3-B9A8E9DBF7A7}" dt="2026-05-12T23:17:18.042" v="1152" actId="6549"/>
        <pc:sldMkLst>
          <pc:docMk/>
          <pc:sldMk cId="0" sldId="265"/>
        </pc:sldMkLst>
        <pc:picChg chg="del">
          <ac:chgData name="Telesphore Kabore" userId="d4ccbf058aa88abe" providerId="LiveId" clId="{FE57C5EA-29B7-4850-AEA3-B9A8E9DBF7A7}" dt="2026-05-12T20:27:55.523" v="93" actId="478"/>
          <ac:picMkLst>
            <pc:docMk/>
            <pc:sldMk cId="0" sldId="265"/>
            <ac:picMk id="33" creationId="{00000000-0000-0000-0000-000000000000}"/>
          </ac:picMkLst>
        </pc:picChg>
      </pc:sldChg>
      <pc:sldChg chg="modNotesTx">
        <pc:chgData name="Telesphore Kabore" userId="d4ccbf058aa88abe" providerId="LiveId" clId="{FE57C5EA-29B7-4850-AEA3-B9A8E9DBF7A7}" dt="2026-05-12T23:17:27.204" v="1153" actId="6549"/>
        <pc:sldMkLst>
          <pc:docMk/>
          <pc:sldMk cId="0" sldId="266"/>
        </pc:sldMkLst>
      </pc:sldChg>
      <pc:sldChg chg="delSp modSp mod">
        <pc:chgData name="Telesphore Kabore" userId="d4ccbf058aa88abe" providerId="LiveId" clId="{FE57C5EA-29B7-4850-AEA3-B9A8E9DBF7A7}" dt="2026-05-12T23:07:05.992" v="1141" actId="207"/>
        <pc:sldMkLst>
          <pc:docMk/>
          <pc:sldMk cId="0" sldId="267"/>
        </pc:sldMkLst>
        <pc:spChg chg="mod">
          <ac:chgData name="Telesphore Kabore" userId="d4ccbf058aa88abe" providerId="LiveId" clId="{FE57C5EA-29B7-4850-AEA3-B9A8E9DBF7A7}" dt="2026-05-12T23:07:05.992" v="1141" actId="207"/>
          <ac:spMkLst>
            <pc:docMk/>
            <pc:sldMk cId="0" sldId="267"/>
            <ac:spMk id="3" creationId="{00000000-0000-0000-0000-000000000000}"/>
          </ac:spMkLst>
        </pc:spChg>
        <pc:spChg chg="mod">
          <ac:chgData name="Telesphore Kabore" userId="d4ccbf058aa88abe" providerId="LiveId" clId="{FE57C5EA-29B7-4850-AEA3-B9A8E9DBF7A7}" dt="2026-05-12T23:04:21.757" v="1103" actId="207"/>
          <ac:spMkLst>
            <pc:docMk/>
            <pc:sldMk cId="0" sldId="267"/>
            <ac:spMk id="5" creationId="{00000000-0000-0000-0000-000000000000}"/>
          </ac:spMkLst>
        </pc:spChg>
        <pc:spChg chg="mod">
          <ac:chgData name="Telesphore Kabore" userId="d4ccbf058aa88abe" providerId="LiveId" clId="{FE57C5EA-29B7-4850-AEA3-B9A8E9DBF7A7}" dt="2026-05-12T23:04:36.915" v="1106" actId="113"/>
          <ac:spMkLst>
            <pc:docMk/>
            <pc:sldMk cId="0" sldId="267"/>
            <ac:spMk id="6" creationId="{00000000-0000-0000-0000-000000000000}"/>
          </ac:spMkLst>
        </pc:spChg>
        <pc:spChg chg="mod">
          <ac:chgData name="Telesphore Kabore" userId="d4ccbf058aa88abe" providerId="LiveId" clId="{FE57C5EA-29B7-4850-AEA3-B9A8E9DBF7A7}" dt="2026-05-12T23:04:51.287" v="1111" actId="207"/>
          <ac:spMkLst>
            <pc:docMk/>
            <pc:sldMk cId="0" sldId="267"/>
            <ac:spMk id="7" creationId="{00000000-0000-0000-0000-000000000000}"/>
          </ac:spMkLst>
        </pc:spChg>
        <pc:spChg chg="mod">
          <ac:chgData name="Telesphore Kabore" userId="d4ccbf058aa88abe" providerId="LiveId" clId="{FE57C5EA-29B7-4850-AEA3-B9A8E9DBF7A7}" dt="2026-05-12T23:04:59.959" v="1113" actId="113"/>
          <ac:spMkLst>
            <pc:docMk/>
            <pc:sldMk cId="0" sldId="267"/>
            <ac:spMk id="8" creationId="{00000000-0000-0000-0000-000000000000}"/>
          </ac:spMkLst>
        </pc:spChg>
        <pc:spChg chg="mod">
          <ac:chgData name="Telesphore Kabore" userId="d4ccbf058aa88abe" providerId="LiveId" clId="{FE57C5EA-29B7-4850-AEA3-B9A8E9DBF7A7}" dt="2026-05-12T23:05:11.798" v="1116" actId="113"/>
          <ac:spMkLst>
            <pc:docMk/>
            <pc:sldMk cId="0" sldId="267"/>
            <ac:spMk id="9" creationId="{00000000-0000-0000-0000-000000000000}"/>
          </ac:spMkLst>
        </pc:spChg>
        <pc:spChg chg="mod">
          <ac:chgData name="Telesphore Kabore" userId="d4ccbf058aa88abe" providerId="LiveId" clId="{FE57C5EA-29B7-4850-AEA3-B9A8E9DBF7A7}" dt="2026-05-12T23:05:04.926" v="1114" actId="207"/>
          <ac:spMkLst>
            <pc:docMk/>
            <pc:sldMk cId="0" sldId="267"/>
            <ac:spMk id="10" creationId="{00000000-0000-0000-0000-000000000000}"/>
          </ac:spMkLst>
        </pc:spChg>
        <pc:spChg chg="mod">
          <ac:chgData name="Telesphore Kabore" userId="d4ccbf058aa88abe" providerId="LiveId" clId="{FE57C5EA-29B7-4850-AEA3-B9A8E9DBF7A7}" dt="2026-05-12T23:05:19.218" v="1118" actId="207"/>
          <ac:spMkLst>
            <pc:docMk/>
            <pc:sldMk cId="0" sldId="267"/>
            <ac:spMk id="11" creationId="{00000000-0000-0000-0000-000000000000}"/>
          </ac:spMkLst>
        </pc:spChg>
        <pc:spChg chg="mod">
          <ac:chgData name="Telesphore Kabore" userId="d4ccbf058aa88abe" providerId="LiveId" clId="{FE57C5EA-29B7-4850-AEA3-B9A8E9DBF7A7}" dt="2026-05-12T23:05:35.149" v="1123" actId="207"/>
          <ac:spMkLst>
            <pc:docMk/>
            <pc:sldMk cId="0" sldId="267"/>
            <ac:spMk id="12" creationId="{00000000-0000-0000-0000-000000000000}"/>
          </ac:spMkLst>
        </pc:spChg>
        <pc:spChg chg="mod">
          <ac:chgData name="Telesphore Kabore" userId="d4ccbf058aa88abe" providerId="LiveId" clId="{FE57C5EA-29B7-4850-AEA3-B9A8E9DBF7A7}" dt="2026-05-12T23:05:26.619" v="1120" actId="113"/>
          <ac:spMkLst>
            <pc:docMk/>
            <pc:sldMk cId="0" sldId="267"/>
            <ac:spMk id="13" creationId="{00000000-0000-0000-0000-000000000000}"/>
          </ac:spMkLst>
        </pc:spChg>
        <pc:spChg chg="mod">
          <ac:chgData name="Telesphore Kabore" userId="d4ccbf058aa88abe" providerId="LiveId" clId="{FE57C5EA-29B7-4850-AEA3-B9A8E9DBF7A7}" dt="2026-05-12T23:06:42.720" v="1140" actId="113"/>
          <ac:spMkLst>
            <pc:docMk/>
            <pc:sldMk cId="0" sldId="267"/>
            <ac:spMk id="14" creationId="{00000000-0000-0000-0000-000000000000}"/>
          </ac:spMkLst>
        </pc:spChg>
        <pc:spChg chg="mod">
          <ac:chgData name="Telesphore Kabore" userId="d4ccbf058aa88abe" providerId="LiveId" clId="{FE57C5EA-29B7-4850-AEA3-B9A8E9DBF7A7}" dt="2026-05-12T23:06:32.619" v="1138" actId="113"/>
          <ac:spMkLst>
            <pc:docMk/>
            <pc:sldMk cId="0" sldId="267"/>
            <ac:spMk id="16" creationId="{00000000-0000-0000-0000-000000000000}"/>
          </ac:spMkLst>
        </pc:spChg>
        <pc:spChg chg="mod">
          <ac:chgData name="Telesphore Kabore" userId="d4ccbf058aa88abe" providerId="LiveId" clId="{FE57C5EA-29B7-4850-AEA3-B9A8E9DBF7A7}" dt="2026-05-12T23:06:26.050" v="1136" actId="113"/>
          <ac:spMkLst>
            <pc:docMk/>
            <pc:sldMk cId="0" sldId="267"/>
            <ac:spMk id="18" creationId="{00000000-0000-0000-0000-000000000000}"/>
          </ac:spMkLst>
        </pc:spChg>
        <pc:spChg chg="mod">
          <ac:chgData name="Telesphore Kabore" userId="d4ccbf058aa88abe" providerId="LiveId" clId="{FE57C5EA-29B7-4850-AEA3-B9A8E9DBF7A7}" dt="2026-05-12T23:06:05.660" v="1131" actId="113"/>
          <ac:spMkLst>
            <pc:docMk/>
            <pc:sldMk cId="0" sldId="267"/>
            <ac:spMk id="20" creationId="{00000000-0000-0000-0000-000000000000}"/>
          </ac:spMkLst>
        </pc:spChg>
        <pc:spChg chg="mod">
          <ac:chgData name="Telesphore Kabore" userId="d4ccbf058aa88abe" providerId="LiveId" clId="{FE57C5EA-29B7-4850-AEA3-B9A8E9DBF7A7}" dt="2026-05-12T23:06:00.328" v="1129" actId="207"/>
          <ac:spMkLst>
            <pc:docMk/>
            <pc:sldMk cId="0" sldId="267"/>
            <ac:spMk id="22" creationId="{00000000-0000-0000-0000-000000000000}"/>
          </ac:spMkLst>
        </pc:spChg>
        <pc:spChg chg="mod">
          <ac:chgData name="Telesphore Kabore" userId="d4ccbf058aa88abe" providerId="LiveId" clId="{FE57C5EA-29B7-4850-AEA3-B9A8E9DBF7A7}" dt="2026-05-12T23:05:51.358" v="1127" actId="207"/>
          <ac:spMkLst>
            <pc:docMk/>
            <pc:sldMk cId="0" sldId="267"/>
            <ac:spMk id="24" creationId="{00000000-0000-0000-0000-000000000000}"/>
          </ac:spMkLst>
        </pc:spChg>
        <pc:spChg chg="mod">
          <ac:chgData name="Telesphore Kabore" userId="d4ccbf058aa88abe" providerId="LiveId" clId="{FE57C5EA-29B7-4850-AEA3-B9A8E9DBF7A7}" dt="2026-05-12T23:05:42.709" v="1125" actId="113"/>
          <ac:spMkLst>
            <pc:docMk/>
            <pc:sldMk cId="0" sldId="267"/>
            <ac:spMk id="26" creationId="{00000000-0000-0000-0000-000000000000}"/>
          </ac:spMkLst>
        </pc:spChg>
        <pc:spChg chg="del">
          <ac:chgData name="Telesphore Kabore" userId="d4ccbf058aa88abe" providerId="LiveId" clId="{FE57C5EA-29B7-4850-AEA3-B9A8E9DBF7A7}" dt="2026-05-12T23:04:02.418" v="1101" actId="478"/>
          <ac:spMkLst>
            <pc:docMk/>
            <pc:sldMk cId="0" sldId="267"/>
            <ac:spMk id="27" creationId="{00000000-0000-0000-0000-000000000000}"/>
          </ac:spMkLst>
        </pc:spChg>
      </pc:sldChg>
      <pc:sldChg chg="modSp mod modNotesTx">
        <pc:chgData name="Telesphore Kabore" userId="d4ccbf058aa88abe" providerId="LiveId" clId="{FE57C5EA-29B7-4850-AEA3-B9A8E9DBF7A7}" dt="2026-05-12T22:29:17.299" v="171" actId="20577"/>
        <pc:sldMkLst>
          <pc:docMk/>
          <pc:sldMk cId="0" sldId="268"/>
        </pc:sldMkLst>
        <pc:spChg chg="mod">
          <ac:chgData name="Telesphore Kabore" userId="d4ccbf058aa88abe" providerId="LiveId" clId="{FE57C5EA-29B7-4850-AEA3-B9A8E9DBF7A7}" dt="2026-05-12T20:23:02.459" v="59" actId="207"/>
          <ac:spMkLst>
            <pc:docMk/>
            <pc:sldMk cId="0" sldId="268"/>
            <ac:spMk id="6" creationId="{00000000-0000-0000-0000-000000000000}"/>
          </ac:spMkLst>
        </pc:spChg>
        <pc:spChg chg="mod">
          <ac:chgData name="Telesphore Kabore" userId="d4ccbf058aa88abe" providerId="LiveId" clId="{FE57C5EA-29B7-4850-AEA3-B9A8E9DBF7A7}" dt="2026-05-12T20:23:13.308" v="60" actId="207"/>
          <ac:spMkLst>
            <pc:docMk/>
            <pc:sldMk cId="0" sldId="268"/>
            <ac:spMk id="8" creationId="{00000000-0000-0000-0000-000000000000}"/>
          </ac:spMkLst>
        </pc:spChg>
        <pc:spChg chg="mod">
          <ac:chgData name="Telesphore Kabore" userId="d4ccbf058aa88abe" providerId="LiveId" clId="{FE57C5EA-29B7-4850-AEA3-B9A8E9DBF7A7}" dt="2026-05-12T20:24:16.982" v="69" actId="207"/>
          <ac:spMkLst>
            <pc:docMk/>
            <pc:sldMk cId="0" sldId="268"/>
            <ac:spMk id="12" creationId="{00000000-0000-0000-0000-000000000000}"/>
          </ac:spMkLst>
        </pc:spChg>
        <pc:spChg chg="mod">
          <ac:chgData name="Telesphore Kabore" userId="d4ccbf058aa88abe" providerId="LiveId" clId="{FE57C5EA-29B7-4850-AEA3-B9A8E9DBF7A7}" dt="2026-05-12T20:23:47.133" v="63" actId="113"/>
          <ac:spMkLst>
            <pc:docMk/>
            <pc:sldMk cId="0" sldId="268"/>
            <ac:spMk id="15" creationId="{00000000-0000-0000-0000-000000000000}"/>
          </ac:spMkLst>
        </pc:spChg>
        <pc:spChg chg="mod">
          <ac:chgData name="Telesphore Kabore" userId="d4ccbf058aa88abe" providerId="LiveId" clId="{FE57C5EA-29B7-4850-AEA3-B9A8E9DBF7A7}" dt="2026-05-12T20:24:34.113" v="73" actId="207"/>
          <ac:spMkLst>
            <pc:docMk/>
            <pc:sldMk cId="0" sldId="268"/>
            <ac:spMk id="18" creationId="{00000000-0000-0000-0000-000000000000}"/>
          </ac:spMkLst>
        </pc:spChg>
        <pc:spChg chg="mod">
          <ac:chgData name="Telesphore Kabore" userId="d4ccbf058aa88abe" providerId="LiveId" clId="{FE57C5EA-29B7-4850-AEA3-B9A8E9DBF7A7}" dt="2026-05-12T20:24:26.974" v="71" actId="113"/>
          <ac:spMkLst>
            <pc:docMk/>
            <pc:sldMk cId="0" sldId="268"/>
            <ac:spMk id="21" creationId="{00000000-0000-0000-0000-000000000000}"/>
          </ac:spMkLst>
        </pc:spChg>
        <pc:spChg chg="mod">
          <ac:chgData name="Telesphore Kabore" userId="d4ccbf058aa88abe" providerId="LiveId" clId="{FE57C5EA-29B7-4850-AEA3-B9A8E9DBF7A7}" dt="2026-05-12T20:24:51.684" v="77" actId="207"/>
          <ac:spMkLst>
            <pc:docMk/>
            <pc:sldMk cId="0" sldId="268"/>
            <ac:spMk id="24" creationId="{00000000-0000-0000-0000-000000000000}"/>
          </ac:spMkLst>
        </pc:spChg>
        <pc:spChg chg="mod">
          <ac:chgData name="Telesphore Kabore" userId="d4ccbf058aa88abe" providerId="LiveId" clId="{FE57C5EA-29B7-4850-AEA3-B9A8E9DBF7A7}" dt="2026-05-12T20:24:58.835" v="79" actId="113"/>
          <ac:spMkLst>
            <pc:docMk/>
            <pc:sldMk cId="0" sldId="268"/>
            <ac:spMk id="27" creationId="{00000000-0000-0000-0000-000000000000}"/>
          </ac:spMkLst>
        </pc:spChg>
        <pc:spChg chg="mod">
          <ac:chgData name="Telesphore Kabore" userId="d4ccbf058aa88abe" providerId="LiveId" clId="{FE57C5EA-29B7-4850-AEA3-B9A8E9DBF7A7}" dt="2026-05-12T20:25:09.160" v="83" actId="113"/>
          <ac:spMkLst>
            <pc:docMk/>
            <pc:sldMk cId="0" sldId="268"/>
            <ac:spMk id="30" creationId="{00000000-0000-0000-0000-000000000000}"/>
          </ac:spMkLst>
        </pc:spChg>
        <pc:spChg chg="mod">
          <ac:chgData name="Telesphore Kabore" userId="d4ccbf058aa88abe" providerId="LiveId" clId="{FE57C5EA-29B7-4850-AEA3-B9A8E9DBF7A7}" dt="2026-05-12T20:25:04.103" v="81" actId="207"/>
          <ac:spMkLst>
            <pc:docMk/>
            <pc:sldMk cId="0" sldId="268"/>
            <ac:spMk id="33" creationId="{00000000-0000-0000-0000-000000000000}"/>
          </ac:spMkLst>
        </pc:spChg>
        <pc:spChg chg="mod">
          <ac:chgData name="Telesphore Kabore" userId="d4ccbf058aa88abe" providerId="LiveId" clId="{FE57C5EA-29B7-4850-AEA3-B9A8E9DBF7A7}" dt="2026-05-12T20:25:22.807" v="87" actId="113"/>
          <ac:spMkLst>
            <pc:docMk/>
            <pc:sldMk cId="0" sldId="268"/>
            <ac:spMk id="36" creationId="{00000000-0000-0000-0000-000000000000}"/>
          </ac:spMkLst>
        </pc:spChg>
        <pc:spChg chg="mod">
          <ac:chgData name="Telesphore Kabore" userId="d4ccbf058aa88abe" providerId="LiveId" clId="{FE57C5EA-29B7-4850-AEA3-B9A8E9DBF7A7}" dt="2026-05-12T20:25:17.685" v="85" actId="207"/>
          <ac:spMkLst>
            <pc:docMk/>
            <pc:sldMk cId="0" sldId="268"/>
            <ac:spMk id="39" creationId="{00000000-0000-0000-0000-000000000000}"/>
          </ac:spMkLst>
        </pc:spChg>
      </pc:sldChg>
      <pc:sldChg chg="add setBg modNotesTx">
        <pc:chgData name="Telesphore Kabore" userId="d4ccbf058aa88abe" providerId="LiveId" clId="{FE57C5EA-29B7-4850-AEA3-B9A8E9DBF7A7}" dt="2026-05-12T23:16:15.088" v="1146" actId="6549"/>
        <pc:sldMkLst>
          <pc:docMk/>
          <pc:sldMk cId="0" sldId="26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DHS 2015–16</c:v>
                </c:pt>
              </c:strCache>
            </c:strRef>
          </c:tx>
          <c:spPr>
            <a:solidFill>
              <a:srgbClr val="028090"/>
            </a:solidFill>
            <a:effectLst/>
          </c:spPr>
          <c:invertIfNegative val="0"/>
          <c:dLbls>
            <c:numFmt formatCode="0&quot;%&quot;"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ANC4+</c:v>
                </c:pt>
                <c:pt idx="1">
                  <c:v>SBA (Skilled Birth)</c:v>
                </c:pt>
                <c:pt idx="2">
                  <c:v>PNC</c:v>
                </c:pt>
              </c:strCache>
            </c:strRef>
          </c:cat>
          <c:val>
            <c:numRef>
              <c:f>Sheet1!$B$2:$B$4</c:f>
              <c:numCache>
                <c:formatCode>General</c:formatCode>
                <c:ptCount val="3"/>
                <c:pt idx="0">
                  <c:v>51</c:v>
                </c:pt>
                <c:pt idx="1">
                  <c:v>49.7</c:v>
                </c:pt>
                <c:pt idx="2">
                  <c:v>99.5</c:v>
                </c:pt>
              </c:numCache>
            </c:numRef>
          </c:val>
          <c:extLst>
            <c:ext xmlns:c16="http://schemas.microsoft.com/office/drawing/2014/chart" uri="{C3380CC4-5D6E-409C-BE32-E72D297353CC}">
              <c16:uniqueId val="{00000000-7D2E-4BB8-8533-4DD537E1C383}"/>
            </c:ext>
          </c:extLst>
        </c:ser>
        <c:ser>
          <c:idx val="1"/>
          <c:order val="1"/>
          <c:tx>
            <c:strRef>
              <c:f>Sheet1!$C$1</c:f>
              <c:strCache>
                <c:ptCount val="1"/>
                <c:pt idx="0">
                  <c:v>DHS 2024</c:v>
                </c:pt>
              </c:strCache>
            </c:strRef>
          </c:tx>
          <c:spPr>
            <a:solidFill>
              <a:srgbClr val="E63946"/>
            </a:solidFill>
            <a:effectLst/>
          </c:spPr>
          <c:invertIfNegative val="0"/>
          <c:dLbls>
            <c:numFmt formatCode="0&quot;%&quot;"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ANC4+</c:v>
                </c:pt>
                <c:pt idx="1">
                  <c:v>SBA (Skilled Birth)</c:v>
                </c:pt>
                <c:pt idx="2">
                  <c:v>PNC</c:v>
                </c:pt>
              </c:strCache>
            </c:strRef>
          </c:cat>
          <c:val>
            <c:numRef>
              <c:f>Sheet1!$C$2:$C$4</c:f>
              <c:numCache>
                <c:formatCode>General</c:formatCode>
                <c:ptCount val="3"/>
                <c:pt idx="0">
                  <c:v>63.1</c:v>
                </c:pt>
                <c:pt idx="1">
                  <c:v>33</c:v>
                </c:pt>
                <c:pt idx="2">
                  <c:v>99.3</c:v>
                </c:pt>
              </c:numCache>
            </c:numRef>
          </c:val>
          <c:extLst>
            <c:ext xmlns:c16="http://schemas.microsoft.com/office/drawing/2014/chart" uri="{C3380CC4-5D6E-409C-BE32-E72D297353CC}">
              <c16:uniqueId val="{00000001-7D2E-4BB8-8533-4DD537E1C38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12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0A2342"/>
                </a:solidFill>
                <a:latin typeface="Arial"/>
              </a:defRPr>
            </a:pPr>
            <a:r>
              <a:rPr lang="en-US" sz="1100" b="0" i="0" u="none" strike="noStrike">
                <a:solidFill>
                  <a:srgbClr val="0A2342"/>
                </a:solidFill>
                <a:latin typeface="Arial"/>
              </a:rPr>
              <a:t>ANC4+ by Wealth Quintile</a:t>
            </a:r>
          </a:p>
        </c:rich>
      </c:tx>
      <c:overlay val="0"/>
    </c:title>
    <c:autoTitleDeleted val="0"/>
    <c:plotArea>
      <c:layout/>
      <c:barChart>
        <c:barDir val="bar"/>
        <c:grouping val="clustered"/>
        <c:varyColors val="0"/>
        <c:ser>
          <c:idx val="0"/>
          <c:order val="0"/>
          <c:tx>
            <c:strRef>
              <c:f>Sheet1!$B$1</c:f>
              <c:strCache>
                <c:ptCount val="1"/>
                <c:pt idx="0">
                  <c:v>ANC4+ (2024)</c:v>
                </c:pt>
              </c:strCache>
            </c:strRef>
          </c:tx>
          <c:spPr>
            <a:solidFill>
              <a:srgbClr val="028090"/>
            </a:solidFill>
            <a:effectLst/>
          </c:spPr>
          <c:invertIfNegative val="0"/>
          <c:dLbls>
            <c:numFmt formatCode="0&quot;%&quot;"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Poorest</c:v>
                </c:pt>
                <c:pt idx="1">
                  <c:v>Poor</c:v>
                </c:pt>
                <c:pt idx="2">
                  <c:v>Middle</c:v>
                </c:pt>
                <c:pt idx="3">
                  <c:v>Rich</c:v>
                </c:pt>
                <c:pt idx="4">
                  <c:v>Richest</c:v>
                </c:pt>
              </c:strCache>
            </c:strRef>
          </c:cat>
          <c:val>
            <c:numRef>
              <c:f>Sheet1!$B$2:$B$6</c:f>
              <c:numCache>
                <c:formatCode>General</c:formatCode>
                <c:ptCount val="5"/>
                <c:pt idx="0">
                  <c:v>55</c:v>
                </c:pt>
                <c:pt idx="1">
                  <c:v>60</c:v>
                </c:pt>
                <c:pt idx="2">
                  <c:v>63</c:v>
                </c:pt>
                <c:pt idx="3">
                  <c:v>69</c:v>
                </c:pt>
                <c:pt idx="4">
                  <c:v>76</c:v>
                </c:pt>
              </c:numCache>
            </c:numRef>
          </c:val>
          <c:extLst>
            <c:ext xmlns:c16="http://schemas.microsoft.com/office/drawing/2014/chart" uri="{C3380CC4-5D6E-409C-BE32-E72D297353CC}">
              <c16:uniqueId val="{00000000-4A6B-473B-B4B2-F2EBEBE2471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0A2342"/>
                </a:solidFill>
                <a:latin typeface="Arial"/>
              </a:defRPr>
            </a:pPr>
            <a:r>
              <a:rPr lang="en-US" sz="1100" b="0" i="0" u="none" strike="noStrike">
                <a:solidFill>
                  <a:srgbClr val="0A2342"/>
                </a:solidFill>
                <a:latin typeface="Arial"/>
              </a:rPr>
              <a:t>SBA by Wealth Quintile</a:t>
            </a:r>
          </a:p>
        </c:rich>
      </c:tx>
      <c:overlay val="0"/>
    </c:title>
    <c:autoTitleDeleted val="0"/>
    <c:plotArea>
      <c:layout/>
      <c:barChart>
        <c:barDir val="bar"/>
        <c:grouping val="clustered"/>
        <c:varyColors val="0"/>
        <c:ser>
          <c:idx val="0"/>
          <c:order val="0"/>
          <c:tx>
            <c:strRef>
              <c:f>Sheet1!$B$1</c:f>
              <c:strCache>
                <c:ptCount val="1"/>
                <c:pt idx="0">
                  <c:v>SBA (2024)</c:v>
                </c:pt>
              </c:strCache>
            </c:strRef>
          </c:tx>
          <c:spPr>
            <a:solidFill>
              <a:srgbClr val="E63946"/>
            </a:solidFill>
            <a:effectLst/>
          </c:spPr>
          <c:invertIfNegative val="0"/>
          <c:dLbls>
            <c:numFmt formatCode="0&quot;%&quot;"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Poorest</c:v>
                </c:pt>
                <c:pt idx="1">
                  <c:v>Poor</c:v>
                </c:pt>
                <c:pt idx="2">
                  <c:v>Middle</c:v>
                </c:pt>
                <c:pt idx="3">
                  <c:v>Rich</c:v>
                </c:pt>
                <c:pt idx="4">
                  <c:v>Richest</c:v>
                </c:pt>
              </c:strCache>
            </c:strRef>
          </c:cat>
          <c:val>
            <c:numRef>
              <c:f>Sheet1!$B$2:$B$6</c:f>
              <c:numCache>
                <c:formatCode>General</c:formatCode>
                <c:ptCount val="5"/>
                <c:pt idx="0">
                  <c:v>20</c:v>
                </c:pt>
                <c:pt idx="1">
                  <c:v>26</c:v>
                </c:pt>
                <c:pt idx="2">
                  <c:v>31</c:v>
                </c:pt>
                <c:pt idx="3">
                  <c:v>42</c:v>
                </c:pt>
                <c:pt idx="4">
                  <c:v>58</c:v>
                </c:pt>
              </c:numCache>
            </c:numRef>
          </c:val>
          <c:extLst>
            <c:ext xmlns:c16="http://schemas.microsoft.com/office/drawing/2014/chart" uri="{C3380CC4-5D6E-409C-BE32-E72D297353CC}">
              <c16:uniqueId val="{00000000-622E-4348-8256-8FF1CA2BFAF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040408-445F-4302-88FD-34AB0E4D1199}" type="datetimeFigureOut">
              <a:rPr lang="en-US" smtClean="0"/>
              <a:t>5/12/2026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3DDA5E-CD0A-4336-ADFB-638870FF5A28}" type="slidenum">
              <a:rPr lang="en-US" smtClean="0"/>
              <a:t>‹#›</a:t>
            </a:fld>
            <a:endParaRPr lang="en-US"/>
          </a:p>
        </p:txBody>
      </p:sp>
    </p:spTree>
    <p:extLst>
      <p:ext uri="{BB962C8B-B14F-4D97-AF65-F5344CB8AC3E}">
        <p14:creationId xmlns:p14="http://schemas.microsoft.com/office/powerpoint/2010/main" val="4091771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My name is Télesphore Kaboré, and today I want to take you on a data journey through one of the most pressing public health challenges in sub-Saharan Africa : why women in Malawi are still dying from causes we know how to prevent."</a:t>
            </a:r>
          </a:p>
          <a:p>
            <a:endParaRPr lang="en-US" b="1" dirty="0"/>
          </a:p>
          <a:p>
            <a:r>
              <a:rPr lang="en-US" dirty="0"/>
              <a:t>"This capstone project combines predictive modeling, equity analysis, and spatial mapping to go beyond simple national averages and ask: who is being left behind, where, and why?"</a:t>
            </a:r>
          </a:p>
          <a:p>
            <a:endParaRPr lang="en-US" b="1" dirty="0"/>
          </a:p>
          <a:p>
            <a:r>
              <a:rPr lang="en-US" dirty="0"/>
              <a:t>"To answer that, I'll walk you through ten sections. We'll start with the context that motivated this work, then move through the data sources and methods I used, before diving into the results : descriptive trends, equity breakdowns, predictive models, and district-level maps. We'll close with the dashboard I built for policymakers and the recommendations that follow from the analysis."</a:t>
            </a:r>
          </a:p>
          <a:p>
            <a:endParaRPr lang="en-US" b="1" dirty="0"/>
          </a:p>
          <a:p>
            <a:r>
              <a:rPr lang="en-US" dirty="0"/>
              <a:t>"Let's start with why Malawi, and why now."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"Malawi has made real progress on maternal mortality over the past decade , but national numbers mask deep inequalities across districts, wealth groups, and education levels. That gap between the headline and the reality is what motivated this project."</a:t>
            </a:r>
          </a:p>
          <a:p>
            <a:endParaRPr lang="en-US" b="1" dirty="0"/>
          </a:p>
          <a:p>
            <a:r>
              <a:rPr lang="en-US" dirty="0"/>
              <a:t>"Building on my doctoral research in maternal health service uptake, I designed a multi-method analysis,  combining survey-weighted statistics, equity breakdowns, predictive modeling, spatial mapping, and a Power BI dashboard, to move beyond what aggregate coverage rates can tell us."</a:t>
            </a:r>
          </a:p>
          <a:p>
            <a:endParaRPr lang="en-US" b="1" dirty="0"/>
          </a:p>
          <a:p>
            <a:r>
              <a:rPr lang="en-US" dirty="0"/>
              <a:t>"That led me to five concrete questions, which together form the backbone of everything you'll see today,  from how coverage shifted between 2015 and 2024, to which districts are falling behind, to whether data storytelling can actually support planning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draws on three data sources. The backbone is the Malawi Demographic and Health Survey,  two rounds: the 2015–16 survey as my baseline, and the 2024 survey as the most recent snapshot. Both are nationally representative household surveys, and I applied the DHS survey weights throughout to ensure my estimates reflect the actual population."</a:t>
            </a:r>
          </a:p>
          <a:p>
            <a:endParaRPr lang="en-US" dirty="0"/>
          </a:p>
          <a:p>
            <a:r>
              <a:rPr lang="en-US" dirty="0"/>
              <a:t>"One important step was harmonizing variables across the two rounds,  district names, wealth quintiles, and outcome definitions, so the comparison is apples to apples. I also joined the district-level summaries to GADM administrative boundaries to enable the spatial mapping you'll see later."</a:t>
            </a:r>
          </a:p>
          <a:p>
            <a:endParaRPr lang="en-US" b="1" dirty="0"/>
          </a:p>
          <a:p>
            <a:r>
              <a:rPr lang="en-US" dirty="0"/>
              <a:t>"From these surveys I constructed three binary outcomes that run through the entire analysis: ANC4+,  whether a woman attended at least four antenatal visits; SBA,  whether a skilled provider was present at delivery; and PNC, whether she received postnatal care. Everything from the descriptive trends to the predictive models is built around these three indicators."</a:t>
            </a:r>
          </a:p>
          <a:p>
            <a:endParaRPr lang="en-US" b="1" dirty="0"/>
          </a:p>
          <a:p>
            <a:r>
              <a:rPr lang="en-US" dirty="0"/>
              <a:t>"Now let me walk you through the tools and methods I used to analyze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follows a five-stage analytical pipeline — descriptive, equity, predictive, spatial, and dashboard — each requiring a different tool."</a:t>
            </a:r>
          </a:p>
          <a:p>
            <a:endParaRPr lang="en-US" b="1" dirty="0"/>
          </a:p>
          <a:p>
            <a:r>
              <a:rPr lang="en-US" dirty="0"/>
              <a:t>"R was my primary environment for everything statistical: survey-weighted estimates, equity breakdowns by wealth and education, and the choropleth maps built with the sf and ggplot2 packages. For the predictive modeling I moved to Python and scikit-learn, where I ran logistic regression models and addressed class imbalance using balanced weighting. The spatial boundary work relied on GADM shapefiles joined to the DHS district summaries. And the final data product is a three-page Power BI dashboard designed specifically for a policymaker audience — not just charts, but a decision-support narrative."</a:t>
            </a:r>
          </a:p>
          <a:p>
            <a:endParaRPr lang="en-US" b="1" dirty="0"/>
          </a:p>
          <a:p>
            <a:r>
              <a:rPr lang="en-US" dirty="0"/>
              <a:t>"Before we get to results, let me quickly walk through the key data preparation decisions that sit underneath all of this."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I needed to make sure the data was clean, consistent, and comparable across both survey rounds. Six steps shaped that process."</a:t>
            </a:r>
          </a:p>
          <a:p>
            <a:endParaRPr lang="en-US" b="1" dirty="0"/>
          </a:p>
          <a:p>
            <a:r>
              <a:rPr lang="en-US" dirty="0"/>
              <a:t>"First, DHS survey weights were applied throughout — dividing the weight variable by one million — so every estimate reflects the national population, not just the raw sample. Second, I harmonized district names, wealth quintiles, and outcome definitions across the two DHS files so the trend comparison is valid. Cases with missing outcome data were excluded from the relevant models rather than imputed."</a:t>
            </a:r>
          </a:p>
          <a:p>
            <a:endParaRPr lang="en-US" dirty="0"/>
          </a:p>
          <a:p>
            <a:r>
              <a:rPr lang="en-US" dirty="0"/>
              <a:t>"Two steps are worth pausing on. The binary outcome creation, coding ANC4+, SBA, and PNC as zero-or-one variables,  is the foundation everything else is built on. And for the SBA predictive model specifically, I encountered severe class imbalance: the vast majority of women in the sample did use a skilled birth attendant, which means a naive model would simply predict '</a:t>
            </a:r>
            <a:r>
              <a:rPr lang="en-US" dirty="0" err="1"/>
              <a:t>yes'</a:t>
            </a:r>
            <a:r>
              <a:rPr lang="en-US" dirty="0"/>
              <a:t> for everyone and look accurate while missing all the at-risk cases. I corrected for this using scikit-</a:t>
            </a:r>
            <a:r>
              <a:rPr lang="en-US" dirty="0" err="1"/>
              <a:t>learn's</a:t>
            </a:r>
            <a:r>
              <a:rPr lang="en-US" dirty="0"/>
              <a:t> balanced class weighting, which I'll come back to when we discuss model performance."</a:t>
            </a:r>
          </a:p>
          <a:p>
            <a:endParaRPr lang="en-US" b="1" dirty="0"/>
          </a:p>
          <a:p>
            <a:r>
              <a:rPr lang="en-US" dirty="0"/>
              <a:t>"With clean, analysis-ready data in hand, let's look at what it tells 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results slide, and it tells a story with a clear contradiction at its center."</a:t>
            </a:r>
          </a:p>
          <a:p>
            <a:endParaRPr lang="en-US" b="1" dirty="0"/>
          </a:p>
          <a:p>
            <a:r>
              <a:rPr lang="en-US" dirty="0"/>
              <a:t>"ANC4+ improved by 12 percentage points, from 51% in 2015 to 63% in 2024. That means more women are engaging with the health system during pregnancy, which is genuinely good news. PNC remained near-universal at around 99% in both rounds , consistent and stable. But look at SBA, skilled birth attendance collapsed from 50% to 33%, a drop of nearly 17 percentage points."</a:t>
            </a:r>
          </a:p>
          <a:p>
            <a:endParaRPr lang="en-US" b="1" dirty="0"/>
          </a:p>
          <a:p>
            <a:r>
              <a:rPr lang="en-US" dirty="0"/>
              <a:t>"That contradiction is the central finding of this project. Women are attending more antenatal visits than ever, but when it comes time to actually deliver, a growing share are doing so without a skilled provider present. The care continuum is broken in the middle. More engagement at the front end is not translating into safer deliveries , and that is exactly where maternal deaths happen."</a:t>
            </a:r>
          </a:p>
          <a:p>
            <a:endParaRPr lang="en-US" dirty="0"/>
          </a:p>
          <a:p>
            <a:r>
              <a:rPr lang="en-US" dirty="0"/>
              <a:t>"The national average, however, hides as much as it reveals. Let's look at who specifically is being left behind."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national average of 33% SBA coverage is already alarming, but it becomes even more troubling when you disaggregate by wealth."</a:t>
            </a:r>
          </a:p>
          <a:p>
            <a:endParaRPr lang="en-US" b="1" dirty="0"/>
          </a:p>
          <a:p>
            <a:r>
              <a:rPr lang="en-US" b="1" dirty="0"/>
              <a:t>Walk the charts</a:t>
            </a:r>
            <a:r>
              <a:rPr lang="en-US" dirty="0"/>
              <a:t> "On the left, ANC4+ coverage rises steadily with wealth, from around 55% among the poorest to 76% among the richest. That's a meaningful gap, but the gradient is relatively moderate. Now look at SBA on the right. The poorest women have just 20% skilled birth attendance. The richest have 58%. That is a 38 percentage point gap, nearly three times wider than the ANC4+ gap, meaning wealth is a far stronger determinant of whether a woman delivers safely than of whether she attends antenatal care."</a:t>
            </a:r>
          </a:p>
          <a:p>
            <a:endParaRPr lang="en-US" b="1" dirty="0"/>
          </a:p>
          <a:p>
            <a:r>
              <a:rPr lang="en-US" dirty="0"/>
              <a:t>"Education and residence tell the same story. Women with higher education consistently outperform those with no education across all three indicators. Urban women outperform rural women. These are not random variations, they are structural inequalities that have persisted across both survey rounds."</a:t>
            </a:r>
          </a:p>
          <a:p>
            <a:endParaRPr lang="en-US" b="1" dirty="0"/>
          </a:p>
          <a:p>
            <a:r>
              <a:rPr lang="en-US" dirty="0"/>
              <a:t>"What this tells us is that the SBA decline we saw at the national level is not evenly distributed. It is falling hardest on the women who were already the most vulnerable.“</a:t>
            </a:r>
          </a:p>
          <a:p>
            <a:r>
              <a:rPr lang="en-US" dirty="0"/>
              <a:t>"I then asked: can we predict which women are most at risk of not using these services? That's what the predictive modeling attempted to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"I built two logistic regression models to predict non-use of maternal health services — one for SBA, one for ANC4+. Both used balanced class weighting to correct for the imbalance issue I mentioned earlier. The results are instructive, and honestly, the limitations are as important as the findings."</a:t>
            </a:r>
          </a:p>
          <a:p>
            <a:endParaRPr lang="en-US" b="1" dirty="0">
              <a:effectLst/>
            </a:endParaRPr>
          </a:p>
          <a:p>
            <a:r>
              <a:rPr lang="en-US" dirty="0">
                <a:effectLst/>
              </a:rPr>
              <a:t>"The SBA model achieved 68% accuracy and a ROC-AUC of 0.685, moderate but meaningful performance. Crucially, it identified 57% of actual non-users, which means it has real screening potential. The low precision of around 5% reflects the rarity of non-use in the sample, many false positives, but in a public health context, casting a wider net to catch at-risk women is often an acceptable trade-off."</a:t>
            </a:r>
          </a:p>
          <a:p>
            <a:endParaRPr lang="en-US" dirty="0">
              <a:effectLst/>
            </a:endParaRPr>
          </a:p>
          <a:p>
            <a:r>
              <a:rPr lang="en-US" dirty="0">
                <a:effectLst/>
              </a:rPr>
              <a:t>"The ANC4+ model performed much more weakly, 53% accuracy and a ROC-AUC of just 0.556, barely above random chance. That tells us something important: wealth, education, and residence alone are not sufficient to predict ANC4+ non-use. The variables that likely matter more, distance to facilities, quality of care, transport availability, cultural norms, were not in the dataset."</a:t>
            </a:r>
          </a:p>
          <a:p>
            <a:endParaRPr lang="en-US" b="1" dirty="0">
              <a:effectLst/>
            </a:endParaRPr>
          </a:p>
          <a:p>
            <a:r>
              <a:rPr lang="en-US" dirty="0">
                <a:effectLst/>
              </a:rPr>
              <a:t>"So the predictive models are useful for profiling risk at a population level, but they are not ready for individual-level targeting. The bigger contribution here is the diagnostic insight: we need richer data to build actionable predictive tools for ANC uptake."</a:t>
            </a:r>
          </a:p>
          <a:p>
            <a:endParaRPr lang="en-US" b="1" dirty="0">
              <a:effectLst/>
            </a:endParaRPr>
          </a:p>
          <a:p>
            <a:r>
              <a:rPr lang="en-US" dirty="0">
                <a:effectLst/>
              </a:rPr>
              <a:t>"Now let's shift from who to where, the spatial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moves the analysis from who to where. These three maps show a composite maternal health coverage index, combining SBA, ANC4+, and PNC at the district level."</a:t>
            </a:r>
          </a:p>
          <a:p>
            <a:endParaRPr lang="en-US" b="1" dirty="0"/>
          </a:p>
          <a:p>
            <a:r>
              <a:rPr lang="en-US" dirty="0"/>
              <a:t>"The 2015 baseline on the left shows considerable variation already, some northern districts performing relatively well in green and yellow, while central and southern districts show weaker coverage in blue and purple. By 2024, the middle map shows that variation has deepened , more districts shifting toward the darker end of the scale, signaling broader deterioration in the composite index, driven primarily by the SBA decline."</a:t>
            </a:r>
          </a:p>
          <a:p>
            <a:endParaRPr lang="en-US" b="1" dirty="0"/>
          </a:p>
          <a:p>
            <a:r>
              <a:rPr lang="en-US" dirty="0"/>
              <a:t>"The map on the right is the most actionable. Green districts improved between 2015 and 2024, a handful in the north. But the dominant color is red and pink, covering much of the central and western regions, indicating coverage declined. One district in the south stands out in deep red, the sharpest deterioration in the country. These are the districts that need immediate attention from planners and resource allocators."</a:t>
            </a:r>
          </a:p>
          <a:p>
            <a:endParaRPr lang="en-US" b="1" dirty="0"/>
          </a:p>
          <a:p>
            <a:r>
              <a:rPr lang="en-US" dirty="0"/>
              <a:t>"This is precisely why national averages are dangerous. A country-level figure of 33% SBA masks the fact that some districts may be at 20% while others are at 50%. Spatial targeting is impossible without maps like these."</a:t>
            </a:r>
          </a:p>
          <a:p>
            <a:endParaRPr lang="en-US" b="1" dirty="0"/>
          </a:p>
          <a:p>
            <a:r>
              <a:rPr lang="en-US" dirty="0"/>
              <a:t>"This spatial layer fed directly into the Power BI dashboard, let me show you how that comes together."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data product ties everything together, a three-page Power BI dashboard designed not for data scientists, but for district health planners and policymakers who need to act on this information."</a:t>
            </a:r>
          </a:p>
          <a:p>
            <a:endParaRPr lang="en-US" b="1" dirty="0"/>
          </a:p>
          <a:p>
            <a:r>
              <a:rPr lang="en-US" dirty="0"/>
              <a:t>"Page one is an executive summary, national KPIs for all three indicators with trend comparison banners, so a decision-maker can land on that page and immediately understand the direction of travel. Page two is the spatial analysis , interactive district-level maps for 2015, 2024, and the change between the two rounds, filterable by indicator and region. Page three is the indicator comparison, breaking down ANC4+, SBA, PNC, and the composite index side by side across wealth, education, and residence groups."</a:t>
            </a:r>
          </a:p>
          <a:p>
            <a:endParaRPr lang="en-US" b="1" dirty="0"/>
          </a:p>
          <a:p>
            <a:r>
              <a:rPr lang="en-US" dirty="0"/>
              <a:t>"The dashboard is built around five findings that together tell a coherent story: ANC4+ is improving, PNC is holding, SBA is in crisis, district disparities are real and masked by national averages, and the equity gaps are structural, not random."</a:t>
            </a:r>
          </a:p>
          <a:p>
            <a:endParaRPr lang="en-US" b="1" dirty="0"/>
          </a:p>
          <a:p>
            <a:r>
              <a:rPr lang="en-US" dirty="0"/>
              <a:t>"The goal was to make this analysis usable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findings, six recommendations — let me be brief."</a:t>
            </a:r>
          </a:p>
          <a:p>
            <a:r>
              <a:rPr lang="en-US" dirty="0"/>
              <a:t>"ANC4+ improved, PNC held. But SBA collapsed from 50% to 33% , that is the crisis. Wealth, education, and residence gaps are structural. Northern districts improved; central and southern declined."</a:t>
            </a:r>
          </a:p>
          <a:p>
            <a:endParaRPr lang="en-US" dirty="0"/>
          </a:p>
          <a:p>
            <a:r>
              <a:rPr lang="en-US" dirty="0"/>
              <a:t>"Priority one: reverse the SBA decline through better facility delivery, referrals, and transport. Priority two: use the spatial maps to target declining districts with resources. Priority three: equity-focused programs for the poorest and most rural women. And longer term, richer data for the predictive models, the dashboard as a routine planning tool, and qualitative research to explain why women who attend antenatal care are still not delivering with a skilled provider."</a:t>
            </a:r>
          </a:p>
          <a:p>
            <a:endParaRPr lang="en-US" dirty="0"/>
          </a:p>
          <a:p>
            <a:r>
              <a:rPr lang="en-US" dirty="0"/>
              <a:t>"Malawi has the data to act. This project provides the analytical clarity on where to act first.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3ECF1-A145-4E16-B826-6647E1EE79F1}" type="datetimeFigureOut">
              <a:rPr lang="en-US" smtClean="0"/>
              <a:t>5/12/2026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FADB95D6-5AE7-4409-8BFD-34FA9532C01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03510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3ECF1-A145-4E16-B826-6647E1EE79F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DB95D6-5AE7-4409-8BFD-34FA9532C01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0253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3ECF1-A145-4E16-B826-6647E1EE79F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DB95D6-5AE7-4409-8BFD-34FA9532C01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22440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3ECF1-A145-4E16-B826-6647E1EE79F1}"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DB95D6-5AE7-4409-8BFD-34FA9532C01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4688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3ECF1-A145-4E16-B826-6647E1EE79F1}"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DB95D6-5AE7-4409-8BFD-34FA9532C01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2660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3ECF1-A145-4E16-B826-6647E1EE79F1}"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DB95D6-5AE7-4409-8BFD-34FA9532C01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9983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3ECF1-A145-4E16-B826-6647E1EE79F1}"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DB95D6-5AE7-4409-8BFD-34FA9532C017}" type="slidenum">
              <a:rPr lang="en-US" smtClean="0"/>
              <a:t>‹#›</a:t>
            </a:fld>
            <a:endParaRPr lang="en-US"/>
          </a:p>
        </p:txBody>
      </p:sp>
    </p:spTree>
    <p:extLst>
      <p:ext uri="{BB962C8B-B14F-4D97-AF65-F5344CB8AC3E}">
        <p14:creationId xmlns:p14="http://schemas.microsoft.com/office/powerpoint/2010/main" val="213339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A3ECF1-A145-4E16-B826-6647E1EE79F1}"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DB95D6-5AE7-4409-8BFD-34FA9532C01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637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6A3ECF1-A145-4E16-B826-6647E1EE79F1}" type="datetimeFigureOut">
              <a:rPr lang="en-US" smtClean="0"/>
              <a:t>5/12/2026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FADB95D6-5AE7-4409-8BFD-34FA9532C01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8422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3ECF1-A145-4E16-B826-6647E1EE79F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DB95D6-5AE7-4409-8BFD-34FA9532C01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88429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3ECF1-A145-4E16-B826-6647E1EE79F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DB95D6-5AE7-4409-8BFD-34FA9532C01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3004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086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6A3ECF1-A145-4E16-B826-6647E1EE79F1}" type="datetimeFigureOut">
              <a:rPr lang="en-US" smtClean="0"/>
              <a:t>5/12/2026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ADB95D6-5AE7-4409-8BFD-34FA9532C01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0425469"/>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512064"/>
          </a:xfrm>
          <a:prstGeom prst="rect">
            <a:avLst/>
          </a:prstGeom>
          <a:solidFill>
            <a:srgbClr val="091B35"/>
          </a:solidFill>
          <a:ln w="12700">
            <a:solidFill>
              <a:srgbClr val="091B35"/>
            </a:solidFill>
            <a:prstDash val="solid"/>
          </a:ln>
        </p:spPr>
        <p:txBody>
          <a:bodyPr/>
          <a:lstStyle/>
          <a:p>
            <a:endParaRPr lang="en-US" sz="2400"/>
          </a:p>
        </p:txBody>
      </p:sp>
      <p:sp>
        <p:nvSpPr>
          <p:cNvPr id="3" name="Text 1"/>
          <p:cNvSpPr/>
          <p:nvPr/>
        </p:nvSpPr>
        <p:spPr>
          <a:xfrm>
            <a:off x="365760" y="0"/>
            <a:ext cx="11582400" cy="512064"/>
          </a:xfrm>
          <a:prstGeom prst="rect">
            <a:avLst/>
          </a:prstGeom>
          <a:noFill/>
          <a:ln/>
        </p:spPr>
        <p:txBody>
          <a:bodyPr wrap="square" rtlCol="0" anchor="ctr"/>
          <a:lstStyle/>
          <a:p>
            <a:r>
              <a:rPr lang="en-US" sz="1200" dirty="0">
                <a:solidFill>
                  <a:srgbClr val="94A3B8"/>
                </a:solidFill>
                <a:latin typeface="Calibri" pitchFamily="34" charset="0"/>
                <a:ea typeface="Calibri" pitchFamily="34" charset="-122"/>
                <a:cs typeface="Calibri" pitchFamily="34" charset="-120"/>
              </a:rPr>
              <a:t>Télesphore Evariste Larba KABORÉ  |  DATA 205  |  Spring 2026  |  CRN: 3206  |  Montgomery College</a:t>
            </a:r>
            <a:endParaRPr lang="en-US" sz="1200" dirty="0"/>
          </a:p>
        </p:txBody>
      </p:sp>
      <p:sp>
        <p:nvSpPr>
          <p:cNvPr id="4" name="Shape 2"/>
          <p:cNvSpPr/>
          <p:nvPr/>
        </p:nvSpPr>
        <p:spPr>
          <a:xfrm>
            <a:off x="7437120" y="633984"/>
            <a:ext cx="24384" cy="5974080"/>
          </a:xfrm>
          <a:prstGeom prst="rect">
            <a:avLst/>
          </a:prstGeom>
          <a:solidFill>
            <a:srgbClr val="028090"/>
          </a:solidFill>
          <a:ln w="12700">
            <a:solidFill>
              <a:srgbClr val="028090"/>
            </a:solidFill>
            <a:prstDash val="solid"/>
          </a:ln>
        </p:spPr>
        <p:txBody>
          <a:bodyPr/>
          <a:lstStyle/>
          <a:p>
            <a:endParaRPr lang="en-US" sz="2400"/>
          </a:p>
        </p:txBody>
      </p:sp>
      <p:sp>
        <p:nvSpPr>
          <p:cNvPr id="5" name="Text 3"/>
          <p:cNvSpPr/>
          <p:nvPr/>
        </p:nvSpPr>
        <p:spPr>
          <a:xfrm>
            <a:off x="548640" y="853440"/>
            <a:ext cx="6644640" cy="2316480"/>
          </a:xfrm>
          <a:prstGeom prst="rect">
            <a:avLst/>
          </a:prstGeom>
          <a:noFill/>
          <a:ln/>
        </p:spPr>
        <p:txBody>
          <a:bodyPr wrap="square" rtlCol="0" anchor="ctr"/>
          <a:lstStyle/>
          <a:p>
            <a:r>
              <a:rPr lang="en-US" sz="4533" b="1" dirty="0">
                <a:solidFill>
                  <a:srgbClr val="FFFFFF"/>
                </a:solidFill>
                <a:latin typeface="Calibri" pitchFamily="34" charset="0"/>
                <a:ea typeface="Calibri" pitchFamily="34" charset="-122"/>
                <a:cs typeface="Calibri" pitchFamily="34" charset="-120"/>
              </a:rPr>
              <a:t>From Service Coverage to</a:t>
            </a:r>
            <a:endParaRPr lang="en-US" sz="4533" dirty="0"/>
          </a:p>
          <a:p>
            <a:r>
              <a:rPr lang="en-US" sz="4533" b="1" dirty="0">
                <a:solidFill>
                  <a:srgbClr val="FFFFFF"/>
                </a:solidFill>
                <a:latin typeface="Calibri" pitchFamily="34" charset="0"/>
                <a:ea typeface="Calibri" pitchFamily="34" charset="-122"/>
                <a:cs typeface="Calibri" pitchFamily="34" charset="-120"/>
              </a:rPr>
              <a:t>Mortality Reduction</a:t>
            </a:r>
            <a:endParaRPr lang="en-US" sz="4533" dirty="0"/>
          </a:p>
        </p:txBody>
      </p:sp>
      <p:sp>
        <p:nvSpPr>
          <p:cNvPr id="6" name="Text 4"/>
          <p:cNvSpPr/>
          <p:nvPr/>
        </p:nvSpPr>
        <p:spPr>
          <a:xfrm>
            <a:off x="548640" y="3194304"/>
            <a:ext cx="6644640" cy="670560"/>
          </a:xfrm>
          <a:prstGeom prst="rect">
            <a:avLst/>
          </a:prstGeom>
          <a:noFill/>
          <a:ln/>
        </p:spPr>
        <p:txBody>
          <a:bodyPr wrap="square" rtlCol="0" anchor="ctr"/>
          <a:lstStyle/>
          <a:p>
            <a:r>
              <a:rPr lang="en-US" i="1" dirty="0">
                <a:latin typeface="Calibri" pitchFamily="34" charset="0"/>
                <a:ea typeface="Calibri" pitchFamily="34" charset="-122"/>
                <a:cs typeface="Calibri" pitchFamily="34" charset="-120"/>
              </a:rPr>
              <a:t>Predictive and Spatial Analysis of Maternal Health in Malawi</a:t>
            </a:r>
            <a:endParaRPr lang="en-US" dirty="0"/>
          </a:p>
        </p:txBody>
      </p:sp>
      <p:sp>
        <p:nvSpPr>
          <p:cNvPr id="7" name="Shape 5"/>
          <p:cNvSpPr/>
          <p:nvPr/>
        </p:nvSpPr>
        <p:spPr>
          <a:xfrm>
            <a:off x="548640" y="3974592"/>
            <a:ext cx="3901440" cy="60960"/>
          </a:xfrm>
          <a:prstGeom prst="rect">
            <a:avLst/>
          </a:prstGeom>
          <a:solidFill>
            <a:srgbClr val="028090"/>
          </a:solidFill>
          <a:ln w="12700">
            <a:solidFill>
              <a:srgbClr val="028090"/>
            </a:solidFill>
            <a:prstDash val="solid"/>
          </a:ln>
        </p:spPr>
        <p:txBody>
          <a:bodyPr/>
          <a:lstStyle/>
          <a:p>
            <a:endParaRPr lang="en-US" sz="2400"/>
          </a:p>
        </p:txBody>
      </p:sp>
      <p:sp>
        <p:nvSpPr>
          <p:cNvPr id="8" name="Text 6"/>
          <p:cNvSpPr/>
          <p:nvPr/>
        </p:nvSpPr>
        <p:spPr>
          <a:xfrm>
            <a:off x="548640" y="4169664"/>
            <a:ext cx="6705600" cy="1036320"/>
          </a:xfrm>
          <a:prstGeom prst="rect">
            <a:avLst/>
          </a:prstGeom>
          <a:noFill/>
          <a:ln/>
        </p:spPr>
        <p:txBody>
          <a:bodyPr wrap="square" rtlCol="0" anchor="ctr"/>
          <a:lstStyle/>
          <a:p>
            <a:r>
              <a:rPr lang="en-US" sz="1533" b="1" dirty="0">
                <a:latin typeface="Calibri" pitchFamily="34" charset="0"/>
                <a:ea typeface="Calibri" pitchFamily="34" charset="-122"/>
                <a:cs typeface="Calibri" pitchFamily="34" charset="-120"/>
              </a:rPr>
              <a:t>Télesphore Evariste Larba KABORÉ</a:t>
            </a:r>
            <a:endParaRPr lang="en-US" sz="1533" dirty="0"/>
          </a:p>
          <a:p>
            <a:r>
              <a:rPr lang="en-US" sz="1533" dirty="0">
                <a:latin typeface="Calibri" pitchFamily="34" charset="0"/>
                <a:ea typeface="Calibri" pitchFamily="34" charset="-122"/>
                <a:cs typeface="Calibri" pitchFamily="34" charset="-120"/>
              </a:rPr>
              <a:t>DATA 205 Capstone Project  ·  CRN 3206  ·  Montgomery College  ·  Spring 2026</a:t>
            </a:r>
            <a:endParaRPr lang="en-US" sz="1533" dirty="0"/>
          </a:p>
        </p:txBody>
      </p:sp>
      <p:sp>
        <p:nvSpPr>
          <p:cNvPr id="9" name="Text 7"/>
          <p:cNvSpPr/>
          <p:nvPr/>
        </p:nvSpPr>
        <p:spPr>
          <a:xfrm>
            <a:off x="7620000" y="755904"/>
            <a:ext cx="4267200" cy="463296"/>
          </a:xfrm>
          <a:prstGeom prst="rect">
            <a:avLst/>
          </a:prstGeom>
          <a:noFill/>
          <a:ln/>
        </p:spPr>
        <p:txBody>
          <a:bodyPr wrap="square" lIns="0" tIns="0" rIns="0" bIns="0" rtlCol="0" anchor="ctr"/>
          <a:lstStyle/>
          <a:p>
            <a:r>
              <a:rPr lang="en-US" sz="1733" b="1" kern="0" spc="533" dirty="0">
                <a:solidFill>
                  <a:srgbClr val="028090"/>
                </a:solidFill>
                <a:latin typeface="Calibri" pitchFamily="34" charset="0"/>
                <a:ea typeface="Calibri" pitchFamily="34" charset="-122"/>
                <a:cs typeface="Calibri" pitchFamily="34" charset="-120"/>
              </a:rPr>
              <a:t>PLAN</a:t>
            </a:r>
            <a:endParaRPr lang="en-US" sz="1733" dirty="0"/>
          </a:p>
        </p:txBody>
      </p:sp>
      <p:sp>
        <p:nvSpPr>
          <p:cNvPr id="10" name="Shape 8"/>
          <p:cNvSpPr/>
          <p:nvPr/>
        </p:nvSpPr>
        <p:spPr>
          <a:xfrm>
            <a:off x="7620000" y="1365504"/>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11" name="Text 9"/>
          <p:cNvSpPr/>
          <p:nvPr/>
        </p:nvSpPr>
        <p:spPr>
          <a:xfrm>
            <a:off x="7620000" y="1365504"/>
            <a:ext cx="341376" cy="341376"/>
          </a:xfrm>
          <a:prstGeom prst="rect">
            <a:avLst/>
          </a:prstGeom>
          <a:noFill/>
          <a:ln/>
        </p:spPr>
        <p:txBody>
          <a:bodyPr wrap="square" lIns="0" tIns="0" rIns="0" bIns="0" rtlCol="0" anchor="ctr"/>
          <a:lstStyle/>
          <a:p>
            <a:pPr algn="ctr"/>
            <a:r>
              <a:rPr lang="en-US" sz="1067" b="1" dirty="0">
                <a:solidFill>
                  <a:srgbClr val="FFFFFF"/>
                </a:solidFill>
              </a:rPr>
              <a:t>1</a:t>
            </a:r>
            <a:endParaRPr lang="en-US" sz="1067" dirty="0"/>
          </a:p>
        </p:txBody>
      </p:sp>
      <p:sp>
        <p:nvSpPr>
          <p:cNvPr id="12" name="Text 10"/>
          <p:cNvSpPr/>
          <p:nvPr/>
        </p:nvSpPr>
        <p:spPr>
          <a:xfrm>
            <a:off x="8010144" y="1316736"/>
            <a:ext cx="3084187"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Introduction</a:t>
            </a:r>
            <a:endParaRPr lang="en-US" sz="1533" b="1" dirty="0"/>
          </a:p>
        </p:txBody>
      </p:sp>
      <p:sp>
        <p:nvSpPr>
          <p:cNvPr id="13" name="Shape 11"/>
          <p:cNvSpPr/>
          <p:nvPr/>
        </p:nvSpPr>
        <p:spPr>
          <a:xfrm>
            <a:off x="7620000" y="1889760"/>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14" name="Text 12"/>
          <p:cNvSpPr/>
          <p:nvPr/>
        </p:nvSpPr>
        <p:spPr>
          <a:xfrm>
            <a:off x="7620000" y="1889760"/>
            <a:ext cx="341376" cy="341376"/>
          </a:xfrm>
          <a:prstGeom prst="rect">
            <a:avLst/>
          </a:prstGeom>
          <a:noFill/>
          <a:ln/>
        </p:spPr>
        <p:txBody>
          <a:bodyPr wrap="square" lIns="0" tIns="0" rIns="0" bIns="0" rtlCol="0" anchor="ctr"/>
          <a:lstStyle/>
          <a:p>
            <a:pPr algn="ctr"/>
            <a:r>
              <a:rPr lang="en-US" sz="1067" b="1" dirty="0">
                <a:solidFill>
                  <a:srgbClr val="FFFFFF"/>
                </a:solidFill>
              </a:rPr>
              <a:t>2</a:t>
            </a:r>
            <a:endParaRPr lang="en-US" sz="1067" dirty="0"/>
          </a:p>
        </p:txBody>
      </p:sp>
      <p:sp>
        <p:nvSpPr>
          <p:cNvPr id="15" name="Text 13"/>
          <p:cNvSpPr/>
          <p:nvPr/>
        </p:nvSpPr>
        <p:spPr>
          <a:xfrm>
            <a:off x="8071104" y="1840992"/>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Data</a:t>
            </a:r>
            <a:endParaRPr lang="en-US" sz="1533" b="1" dirty="0"/>
          </a:p>
        </p:txBody>
      </p:sp>
      <p:sp>
        <p:nvSpPr>
          <p:cNvPr id="16" name="Shape 14"/>
          <p:cNvSpPr/>
          <p:nvPr/>
        </p:nvSpPr>
        <p:spPr>
          <a:xfrm>
            <a:off x="7620000" y="2414016"/>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17" name="Text 15"/>
          <p:cNvSpPr/>
          <p:nvPr/>
        </p:nvSpPr>
        <p:spPr>
          <a:xfrm>
            <a:off x="7620000" y="2414016"/>
            <a:ext cx="341376" cy="341376"/>
          </a:xfrm>
          <a:prstGeom prst="rect">
            <a:avLst/>
          </a:prstGeom>
          <a:noFill/>
          <a:ln/>
        </p:spPr>
        <p:txBody>
          <a:bodyPr wrap="square" lIns="0" tIns="0" rIns="0" bIns="0" rtlCol="0" anchor="ctr"/>
          <a:lstStyle/>
          <a:p>
            <a:pPr algn="ctr"/>
            <a:r>
              <a:rPr lang="en-US" sz="1067" b="1" dirty="0">
                <a:solidFill>
                  <a:srgbClr val="FFFFFF"/>
                </a:solidFill>
              </a:rPr>
              <a:t>3</a:t>
            </a:r>
            <a:endParaRPr lang="en-US" sz="1067" dirty="0"/>
          </a:p>
        </p:txBody>
      </p:sp>
      <p:sp>
        <p:nvSpPr>
          <p:cNvPr id="18" name="Text 16"/>
          <p:cNvSpPr/>
          <p:nvPr/>
        </p:nvSpPr>
        <p:spPr>
          <a:xfrm>
            <a:off x="8071104" y="2365248"/>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Methods</a:t>
            </a:r>
            <a:r>
              <a:rPr lang="en-US" sz="1533" dirty="0">
                <a:solidFill>
                  <a:srgbClr val="FFFFFF"/>
                </a:solidFill>
                <a:latin typeface="Calibri" pitchFamily="34" charset="0"/>
                <a:ea typeface="Calibri" pitchFamily="34" charset="-122"/>
                <a:cs typeface="Calibri" pitchFamily="34" charset="-120"/>
              </a:rPr>
              <a:t> &amp; Tools</a:t>
            </a:r>
            <a:endParaRPr lang="en-US" sz="1533" dirty="0"/>
          </a:p>
        </p:txBody>
      </p:sp>
      <p:sp>
        <p:nvSpPr>
          <p:cNvPr id="19" name="Shape 17"/>
          <p:cNvSpPr/>
          <p:nvPr/>
        </p:nvSpPr>
        <p:spPr>
          <a:xfrm>
            <a:off x="7620000" y="2938272"/>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20" name="Text 18"/>
          <p:cNvSpPr/>
          <p:nvPr/>
        </p:nvSpPr>
        <p:spPr>
          <a:xfrm>
            <a:off x="7620000" y="2938272"/>
            <a:ext cx="341376" cy="341376"/>
          </a:xfrm>
          <a:prstGeom prst="rect">
            <a:avLst/>
          </a:prstGeom>
          <a:noFill/>
          <a:ln/>
        </p:spPr>
        <p:txBody>
          <a:bodyPr wrap="square" lIns="0" tIns="0" rIns="0" bIns="0" rtlCol="0" anchor="ctr"/>
          <a:lstStyle/>
          <a:p>
            <a:pPr algn="ctr"/>
            <a:r>
              <a:rPr lang="en-US" sz="1067" b="1" dirty="0">
                <a:solidFill>
                  <a:srgbClr val="FFFFFF"/>
                </a:solidFill>
              </a:rPr>
              <a:t>4</a:t>
            </a:r>
            <a:endParaRPr lang="en-US" sz="1067" dirty="0"/>
          </a:p>
        </p:txBody>
      </p:sp>
      <p:sp>
        <p:nvSpPr>
          <p:cNvPr id="21" name="Text 19"/>
          <p:cNvSpPr/>
          <p:nvPr/>
        </p:nvSpPr>
        <p:spPr>
          <a:xfrm>
            <a:off x="8071104" y="2889504"/>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Data Preparation</a:t>
            </a:r>
            <a:endParaRPr lang="en-US" sz="1533" b="1" dirty="0"/>
          </a:p>
        </p:txBody>
      </p:sp>
      <p:sp>
        <p:nvSpPr>
          <p:cNvPr id="22" name="Shape 20"/>
          <p:cNvSpPr/>
          <p:nvPr/>
        </p:nvSpPr>
        <p:spPr>
          <a:xfrm>
            <a:off x="7620000" y="3462528"/>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23" name="Text 21"/>
          <p:cNvSpPr/>
          <p:nvPr/>
        </p:nvSpPr>
        <p:spPr>
          <a:xfrm>
            <a:off x="7620000" y="3462528"/>
            <a:ext cx="341376" cy="341376"/>
          </a:xfrm>
          <a:prstGeom prst="rect">
            <a:avLst/>
          </a:prstGeom>
          <a:noFill/>
          <a:ln/>
        </p:spPr>
        <p:txBody>
          <a:bodyPr wrap="square" lIns="0" tIns="0" rIns="0" bIns="0" rtlCol="0" anchor="ctr"/>
          <a:lstStyle/>
          <a:p>
            <a:pPr algn="ctr"/>
            <a:r>
              <a:rPr lang="en-US" sz="1067" b="1" dirty="0">
                <a:solidFill>
                  <a:srgbClr val="FFFFFF"/>
                </a:solidFill>
              </a:rPr>
              <a:t>5</a:t>
            </a:r>
            <a:endParaRPr lang="en-US" sz="1067" dirty="0"/>
          </a:p>
        </p:txBody>
      </p:sp>
      <p:sp>
        <p:nvSpPr>
          <p:cNvPr id="24" name="Text 22"/>
          <p:cNvSpPr/>
          <p:nvPr/>
        </p:nvSpPr>
        <p:spPr>
          <a:xfrm>
            <a:off x="8071104" y="3413760"/>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Descriptive</a:t>
            </a:r>
            <a:r>
              <a:rPr lang="en-US" sz="1533" dirty="0">
                <a:solidFill>
                  <a:srgbClr val="FFFFFF"/>
                </a:solidFill>
                <a:latin typeface="Calibri" pitchFamily="34" charset="0"/>
                <a:ea typeface="Calibri" pitchFamily="34" charset="-122"/>
                <a:cs typeface="Calibri" pitchFamily="34" charset="-120"/>
              </a:rPr>
              <a:t> </a:t>
            </a:r>
            <a:r>
              <a:rPr lang="en-US" sz="1533" b="1" dirty="0">
                <a:latin typeface="Calibri" pitchFamily="34" charset="0"/>
                <a:ea typeface="Calibri" pitchFamily="34" charset="-122"/>
                <a:cs typeface="Calibri" pitchFamily="34" charset="-120"/>
              </a:rPr>
              <a:t>Statistics</a:t>
            </a:r>
            <a:endParaRPr lang="en-US" sz="1533" b="1" dirty="0"/>
          </a:p>
        </p:txBody>
      </p:sp>
      <p:sp>
        <p:nvSpPr>
          <p:cNvPr id="25" name="Shape 23"/>
          <p:cNvSpPr/>
          <p:nvPr/>
        </p:nvSpPr>
        <p:spPr>
          <a:xfrm>
            <a:off x="7620000" y="3986784"/>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26" name="Text 24"/>
          <p:cNvSpPr/>
          <p:nvPr/>
        </p:nvSpPr>
        <p:spPr>
          <a:xfrm>
            <a:off x="7620000" y="3986784"/>
            <a:ext cx="341376" cy="341376"/>
          </a:xfrm>
          <a:prstGeom prst="rect">
            <a:avLst/>
          </a:prstGeom>
          <a:noFill/>
          <a:ln/>
        </p:spPr>
        <p:txBody>
          <a:bodyPr wrap="square" lIns="0" tIns="0" rIns="0" bIns="0" rtlCol="0" anchor="ctr"/>
          <a:lstStyle/>
          <a:p>
            <a:pPr algn="ctr"/>
            <a:r>
              <a:rPr lang="en-US" sz="1067" b="1" dirty="0">
                <a:solidFill>
                  <a:srgbClr val="FFFFFF"/>
                </a:solidFill>
              </a:rPr>
              <a:t>6</a:t>
            </a:r>
            <a:endParaRPr lang="en-US" sz="1067" dirty="0"/>
          </a:p>
        </p:txBody>
      </p:sp>
      <p:sp>
        <p:nvSpPr>
          <p:cNvPr id="27" name="Text 25"/>
          <p:cNvSpPr/>
          <p:nvPr/>
        </p:nvSpPr>
        <p:spPr>
          <a:xfrm>
            <a:off x="8071104" y="3938016"/>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Equity Analysis</a:t>
            </a:r>
            <a:endParaRPr lang="en-US" sz="1533" b="1" dirty="0"/>
          </a:p>
        </p:txBody>
      </p:sp>
      <p:sp>
        <p:nvSpPr>
          <p:cNvPr id="28" name="Shape 26"/>
          <p:cNvSpPr/>
          <p:nvPr/>
        </p:nvSpPr>
        <p:spPr>
          <a:xfrm>
            <a:off x="7620000" y="4511040"/>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29" name="Text 27"/>
          <p:cNvSpPr/>
          <p:nvPr/>
        </p:nvSpPr>
        <p:spPr>
          <a:xfrm>
            <a:off x="7620000" y="4511040"/>
            <a:ext cx="341376" cy="341376"/>
          </a:xfrm>
          <a:prstGeom prst="rect">
            <a:avLst/>
          </a:prstGeom>
          <a:noFill/>
          <a:ln/>
        </p:spPr>
        <p:txBody>
          <a:bodyPr wrap="square" lIns="0" tIns="0" rIns="0" bIns="0" rtlCol="0" anchor="ctr"/>
          <a:lstStyle/>
          <a:p>
            <a:pPr algn="ctr"/>
            <a:r>
              <a:rPr lang="en-US" sz="1067" b="1" dirty="0">
                <a:solidFill>
                  <a:srgbClr val="FFFFFF"/>
                </a:solidFill>
              </a:rPr>
              <a:t>7</a:t>
            </a:r>
            <a:endParaRPr lang="en-US" sz="1067" dirty="0"/>
          </a:p>
        </p:txBody>
      </p:sp>
      <p:sp>
        <p:nvSpPr>
          <p:cNvPr id="30" name="Text 28"/>
          <p:cNvSpPr/>
          <p:nvPr/>
        </p:nvSpPr>
        <p:spPr>
          <a:xfrm>
            <a:off x="8071104" y="4462272"/>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Predictive Analysis</a:t>
            </a:r>
            <a:endParaRPr lang="en-US" sz="1533" b="1" dirty="0"/>
          </a:p>
        </p:txBody>
      </p:sp>
      <p:sp>
        <p:nvSpPr>
          <p:cNvPr id="31" name="Shape 29"/>
          <p:cNvSpPr/>
          <p:nvPr/>
        </p:nvSpPr>
        <p:spPr>
          <a:xfrm>
            <a:off x="7620000" y="5035296"/>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32" name="Text 30"/>
          <p:cNvSpPr/>
          <p:nvPr/>
        </p:nvSpPr>
        <p:spPr>
          <a:xfrm>
            <a:off x="7620000" y="5035296"/>
            <a:ext cx="341376" cy="341376"/>
          </a:xfrm>
          <a:prstGeom prst="rect">
            <a:avLst/>
          </a:prstGeom>
          <a:noFill/>
          <a:ln/>
        </p:spPr>
        <p:txBody>
          <a:bodyPr wrap="square" lIns="0" tIns="0" rIns="0" bIns="0" rtlCol="0" anchor="ctr"/>
          <a:lstStyle/>
          <a:p>
            <a:pPr algn="ctr"/>
            <a:r>
              <a:rPr lang="en-US" sz="1067" b="1" dirty="0">
                <a:solidFill>
                  <a:srgbClr val="FFFFFF"/>
                </a:solidFill>
              </a:rPr>
              <a:t>8</a:t>
            </a:r>
            <a:endParaRPr lang="en-US" sz="1067" dirty="0"/>
          </a:p>
        </p:txBody>
      </p:sp>
      <p:sp>
        <p:nvSpPr>
          <p:cNvPr id="33" name="Text 31"/>
          <p:cNvSpPr/>
          <p:nvPr/>
        </p:nvSpPr>
        <p:spPr>
          <a:xfrm>
            <a:off x="8071104" y="4986528"/>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Spatial Analysis</a:t>
            </a:r>
            <a:endParaRPr lang="en-US" sz="1533" b="1" dirty="0"/>
          </a:p>
        </p:txBody>
      </p:sp>
      <p:sp>
        <p:nvSpPr>
          <p:cNvPr id="34" name="Shape 32"/>
          <p:cNvSpPr/>
          <p:nvPr/>
        </p:nvSpPr>
        <p:spPr>
          <a:xfrm>
            <a:off x="7620000" y="5559552"/>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35" name="Text 33"/>
          <p:cNvSpPr/>
          <p:nvPr/>
        </p:nvSpPr>
        <p:spPr>
          <a:xfrm>
            <a:off x="7620000" y="5559552"/>
            <a:ext cx="341376" cy="341376"/>
          </a:xfrm>
          <a:prstGeom prst="rect">
            <a:avLst/>
          </a:prstGeom>
          <a:noFill/>
          <a:ln/>
        </p:spPr>
        <p:txBody>
          <a:bodyPr wrap="square" lIns="0" tIns="0" rIns="0" bIns="0" rtlCol="0" anchor="ctr"/>
          <a:lstStyle/>
          <a:p>
            <a:pPr algn="ctr"/>
            <a:r>
              <a:rPr lang="en-US" sz="1067" b="1" dirty="0">
                <a:solidFill>
                  <a:srgbClr val="FFFFFF"/>
                </a:solidFill>
              </a:rPr>
              <a:t>9</a:t>
            </a:r>
            <a:endParaRPr lang="en-US" sz="1067" dirty="0"/>
          </a:p>
        </p:txBody>
      </p:sp>
      <p:sp>
        <p:nvSpPr>
          <p:cNvPr id="36" name="Text 34"/>
          <p:cNvSpPr/>
          <p:nvPr/>
        </p:nvSpPr>
        <p:spPr>
          <a:xfrm>
            <a:off x="8071104" y="5510784"/>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Dashboard &amp; Results</a:t>
            </a:r>
            <a:endParaRPr lang="en-US" sz="1533" b="1" dirty="0"/>
          </a:p>
        </p:txBody>
      </p:sp>
      <p:sp>
        <p:nvSpPr>
          <p:cNvPr id="37" name="Shape 35"/>
          <p:cNvSpPr/>
          <p:nvPr/>
        </p:nvSpPr>
        <p:spPr>
          <a:xfrm>
            <a:off x="7620000" y="6083808"/>
            <a:ext cx="341376" cy="341376"/>
          </a:xfrm>
          <a:prstGeom prst="rect">
            <a:avLst/>
          </a:prstGeom>
          <a:solidFill>
            <a:srgbClr val="028090"/>
          </a:solidFill>
          <a:ln w="12700">
            <a:solidFill>
              <a:srgbClr val="028090"/>
            </a:solidFill>
            <a:prstDash val="solid"/>
          </a:ln>
        </p:spPr>
        <p:txBody>
          <a:bodyPr/>
          <a:lstStyle/>
          <a:p>
            <a:endParaRPr lang="en-US" sz="2400"/>
          </a:p>
        </p:txBody>
      </p:sp>
      <p:sp>
        <p:nvSpPr>
          <p:cNvPr id="38" name="Text 36"/>
          <p:cNvSpPr/>
          <p:nvPr/>
        </p:nvSpPr>
        <p:spPr>
          <a:xfrm>
            <a:off x="7620000" y="6083808"/>
            <a:ext cx="341376" cy="341376"/>
          </a:xfrm>
          <a:prstGeom prst="rect">
            <a:avLst/>
          </a:prstGeom>
          <a:noFill/>
          <a:ln/>
        </p:spPr>
        <p:txBody>
          <a:bodyPr wrap="square" lIns="0" tIns="0" rIns="0" bIns="0" rtlCol="0" anchor="ctr"/>
          <a:lstStyle/>
          <a:p>
            <a:pPr algn="ctr"/>
            <a:r>
              <a:rPr lang="en-US" sz="1067" b="1" dirty="0">
                <a:solidFill>
                  <a:srgbClr val="FFFFFF"/>
                </a:solidFill>
              </a:rPr>
              <a:t>10</a:t>
            </a:r>
            <a:endParaRPr lang="en-US" sz="1067" dirty="0"/>
          </a:p>
        </p:txBody>
      </p:sp>
      <p:sp>
        <p:nvSpPr>
          <p:cNvPr id="39" name="Text 37"/>
          <p:cNvSpPr/>
          <p:nvPr/>
        </p:nvSpPr>
        <p:spPr>
          <a:xfrm>
            <a:off x="8071104" y="6035040"/>
            <a:ext cx="3779520" cy="463296"/>
          </a:xfrm>
          <a:prstGeom prst="rect">
            <a:avLst/>
          </a:prstGeom>
          <a:noFill/>
          <a:ln/>
        </p:spPr>
        <p:txBody>
          <a:bodyPr wrap="square" lIns="0" tIns="0" rIns="0" bIns="0" rtlCol="0" anchor="ctr"/>
          <a:lstStyle/>
          <a:p>
            <a:r>
              <a:rPr lang="en-US" sz="1533" b="1" dirty="0">
                <a:latin typeface="Calibri" pitchFamily="34" charset="0"/>
                <a:ea typeface="Calibri" pitchFamily="34" charset="-122"/>
                <a:cs typeface="Calibri" pitchFamily="34" charset="-120"/>
              </a:rPr>
              <a:t>Conclusions</a:t>
            </a:r>
            <a:endParaRPr lang="en-US" sz="1533" b="1" dirty="0"/>
          </a:p>
        </p:txBody>
      </p:sp>
      <p:sp>
        <p:nvSpPr>
          <p:cNvPr id="40" name="Shape 38"/>
          <p:cNvSpPr/>
          <p:nvPr/>
        </p:nvSpPr>
        <p:spPr>
          <a:xfrm>
            <a:off x="0" y="6461760"/>
            <a:ext cx="12192000" cy="396240"/>
          </a:xfrm>
          <a:prstGeom prst="rect">
            <a:avLst/>
          </a:prstGeom>
          <a:solidFill>
            <a:srgbClr val="028090"/>
          </a:solidFill>
          <a:ln w="12700">
            <a:solidFill>
              <a:srgbClr val="028090"/>
            </a:solidFill>
            <a:prstDash val="solid"/>
          </a:ln>
        </p:spPr>
        <p:txBody>
          <a:bodyPr/>
          <a:lstStyle/>
          <a:p>
            <a:endParaRPr lang="en-US" sz="2400"/>
          </a:p>
        </p:txBody>
      </p:sp>
      <p:sp>
        <p:nvSpPr>
          <p:cNvPr id="41" name="Text 39"/>
          <p:cNvSpPr/>
          <p:nvPr/>
        </p:nvSpPr>
        <p:spPr>
          <a:xfrm>
            <a:off x="0" y="6461760"/>
            <a:ext cx="12192000" cy="396240"/>
          </a:xfrm>
          <a:prstGeom prst="rect">
            <a:avLst/>
          </a:prstGeom>
          <a:noFill/>
          <a:ln/>
        </p:spPr>
        <p:txBody>
          <a:bodyPr wrap="square" rtlCol="0" anchor="ctr"/>
          <a:lstStyle/>
          <a:p>
            <a:pPr algn="ctr"/>
            <a:r>
              <a:rPr lang="en-US" sz="1133" dirty="0">
                <a:solidFill>
                  <a:srgbClr val="FFFFFF"/>
                </a:solidFill>
                <a:latin typeface="Calibri" pitchFamily="34" charset="0"/>
                <a:ea typeface="Calibri" pitchFamily="34" charset="-122"/>
                <a:cs typeface="Calibri" pitchFamily="34" charset="-120"/>
              </a:rPr>
              <a:t>DATA 205  ·  Spring 2026  ·  Télesphore Evariste Larba KABORÉ  ·  Montgomery College</a:t>
            </a:r>
            <a:endParaRPr lang="en-US" sz="113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INTRODUCTION</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latin typeface="Calibri" pitchFamily="34" charset="0"/>
                <a:ea typeface="Calibri" pitchFamily="34" charset="-122"/>
                <a:cs typeface="Calibri" pitchFamily="34" charset="-120"/>
              </a:rPr>
              <a:t>Context &amp; Motivation</a:t>
            </a:r>
            <a:endParaRPr lang="en-US" sz="3200" dirty="0"/>
          </a:p>
        </p:txBody>
      </p:sp>
      <p:sp>
        <p:nvSpPr>
          <p:cNvPr id="5" name="Shape 3"/>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sp>
        <p:nvSpPr>
          <p:cNvPr id="6" name="Shape 4"/>
          <p:cNvSpPr/>
          <p:nvPr/>
        </p:nvSpPr>
        <p:spPr>
          <a:xfrm>
            <a:off x="548640" y="1230354"/>
            <a:ext cx="5486400" cy="4804686"/>
          </a:xfrm>
          <a:prstGeom prst="rect">
            <a:avLst/>
          </a:prstGeom>
          <a:solidFill>
            <a:srgbClr val="FFFFFF"/>
          </a:solidFill>
          <a:ln w="6350">
            <a:solidFill>
              <a:srgbClr val="DDE6EA"/>
            </a:solidFill>
            <a:prstDash val="solid"/>
          </a:ln>
          <a:effectLst>
            <a:outerShdw blurRad="76200" dist="25400" dir="8100000" algn="bl" rotWithShape="0">
              <a:srgbClr val="000000">
                <a:alpha val="8000"/>
              </a:srgbClr>
            </a:outerShdw>
          </a:effectLst>
        </p:spPr>
        <p:txBody>
          <a:bodyPr/>
          <a:lstStyle/>
          <a:p>
            <a:endParaRPr lang="en-US" sz="2400"/>
          </a:p>
        </p:txBody>
      </p:sp>
      <p:sp>
        <p:nvSpPr>
          <p:cNvPr id="7" name="Text 5"/>
          <p:cNvSpPr/>
          <p:nvPr/>
        </p:nvSpPr>
        <p:spPr>
          <a:xfrm>
            <a:off x="670560" y="1950720"/>
            <a:ext cx="4998720" cy="426720"/>
          </a:xfrm>
          <a:prstGeom prst="rect">
            <a:avLst/>
          </a:prstGeom>
          <a:noFill/>
          <a:ln/>
        </p:spPr>
        <p:txBody>
          <a:bodyPr wrap="square" lIns="0" tIns="0" rIns="0" bIns="0" rtlCol="0" anchor="ctr"/>
          <a:lstStyle/>
          <a:p>
            <a:r>
              <a:rPr lang="en-US" sz="1600" b="1" dirty="0">
                <a:solidFill>
                  <a:srgbClr val="028090"/>
                </a:solidFill>
                <a:latin typeface="Calibri" pitchFamily="34" charset="0"/>
                <a:ea typeface="Calibri" pitchFamily="34" charset="-122"/>
                <a:cs typeface="Calibri" pitchFamily="34" charset="-120"/>
              </a:rPr>
              <a:t>Why Maternal Health in Malawi?</a:t>
            </a:r>
            <a:endParaRPr lang="en-US" sz="1600" dirty="0"/>
          </a:p>
        </p:txBody>
      </p:sp>
      <p:sp>
        <p:nvSpPr>
          <p:cNvPr id="8" name="Text 6"/>
          <p:cNvSpPr/>
          <p:nvPr/>
        </p:nvSpPr>
        <p:spPr>
          <a:xfrm>
            <a:off x="670560" y="2438400"/>
            <a:ext cx="4998720" cy="3657600"/>
          </a:xfrm>
          <a:prstGeom prst="rect">
            <a:avLst/>
          </a:prstGeom>
          <a:noFill/>
          <a:ln/>
        </p:spPr>
        <p:txBody>
          <a:bodyPr wrap="square" rtlCol="0" anchor="ctr"/>
          <a:lstStyle/>
          <a:p>
            <a:r>
              <a:rPr lang="en-US" sz="1533" dirty="0">
                <a:solidFill>
                  <a:srgbClr val="475569"/>
                </a:solidFill>
                <a:latin typeface="Calibri" pitchFamily="34" charset="0"/>
                <a:ea typeface="Calibri" pitchFamily="34" charset="-122"/>
                <a:cs typeface="Calibri" pitchFamily="34" charset="-120"/>
              </a:rPr>
              <a:t>Malawi has made progress reducing maternal mortality — but national averages hide critical gaps across districts, wealth groups, and education levels.</a:t>
            </a:r>
            <a:endParaRPr lang="en-US" sz="1533" dirty="0"/>
          </a:p>
          <a:p>
            <a:endParaRPr lang="en-US" sz="1533" dirty="0"/>
          </a:p>
          <a:p>
            <a:r>
              <a:rPr lang="en-US" sz="1533" dirty="0">
                <a:solidFill>
                  <a:srgbClr val="475569"/>
                </a:solidFill>
                <a:latin typeface="Calibri" pitchFamily="34" charset="0"/>
                <a:ea typeface="Calibri" pitchFamily="34" charset="-122"/>
                <a:cs typeface="Calibri" pitchFamily="34" charset="-120"/>
              </a:rPr>
              <a:t>This project builds on doctoral work in maternal health service uptake, aiming to go beyond simple coverage rates using:</a:t>
            </a:r>
            <a:endParaRPr lang="en-US" sz="1533" dirty="0"/>
          </a:p>
          <a:p>
            <a:endParaRPr lang="en-US" sz="1533" dirty="0"/>
          </a:p>
          <a:p>
            <a:pPr marL="228594" indent="-228594">
              <a:buFont typeface="Arial" panose="020B0604020202020204" pitchFamily="34" charset="0"/>
              <a:buChar char="•"/>
            </a:pPr>
            <a:r>
              <a:rPr lang="en-US" sz="1533" dirty="0">
                <a:solidFill>
                  <a:srgbClr val="475569"/>
                </a:solidFill>
                <a:latin typeface="Calibri" pitchFamily="34" charset="0"/>
                <a:ea typeface="Calibri" pitchFamily="34" charset="-122"/>
                <a:cs typeface="Calibri" pitchFamily="34" charset="-120"/>
              </a:rPr>
              <a:t>Survey-weighted descriptive analysis (DHS 2015–16 &amp; 2024)</a:t>
            </a:r>
            <a:endParaRPr lang="en-US" sz="1533" dirty="0"/>
          </a:p>
          <a:p>
            <a:pPr marL="228594" indent="-228594">
              <a:buFont typeface="Arial" panose="020B0604020202020204" pitchFamily="34" charset="0"/>
              <a:buChar char="•"/>
            </a:pPr>
            <a:r>
              <a:rPr lang="en-US" sz="1533" dirty="0">
                <a:solidFill>
                  <a:srgbClr val="475569"/>
                </a:solidFill>
                <a:latin typeface="Calibri" pitchFamily="34" charset="0"/>
                <a:ea typeface="Calibri" pitchFamily="34" charset="-122"/>
                <a:cs typeface="Calibri" pitchFamily="34" charset="-120"/>
              </a:rPr>
              <a:t>Equity analysis by wealth, education &amp; residence</a:t>
            </a:r>
            <a:endParaRPr lang="en-US" sz="1533" dirty="0"/>
          </a:p>
          <a:p>
            <a:pPr marL="228594" indent="-228594">
              <a:buFont typeface="Arial" panose="020B0604020202020204" pitchFamily="34" charset="0"/>
              <a:buChar char="•"/>
            </a:pPr>
            <a:r>
              <a:rPr lang="en-US" sz="1533" dirty="0">
                <a:solidFill>
                  <a:srgbClr val="475569"/>
                </a:solidFill>
                <a:latin typeface="Calibri" pitchFamily="34" charset="0"/>
                <a:ea typeface="Calibri" pitchFamily="34" charset="-122"/>
                <a:cs typeface="Calibri" pitchFamily="34" charset="-120"/>
              </a:rPr>
              <a:t>Predictive modeling (logistic regression)</a:t>
            </a:r>
            <a:endParaRPr lang="en-US" sz="1533" dirty="0"/>
          </a:p>
          <a:p>
            <a:pPr marL="228594" indent="-228594">
              <a:buFont typeface="Arial" panose="020B0604020202020204" pitchFamily="34" charset="0"/>
              <a:buChar char="•"/>
            </a:pPr>
            <a:r>
              <a:rPr lang="en-US" sz="1533" dirty="0">
                <a:solidFill>
                  <a:srgbClr val="475569"/>
                </a:solidFill>
                <a:latin typeface="Calibri" pitchFamily="34" charset="0"/>
                <a:ea typeface="Calibri" pitchFamily="34" charset="-122"/>
                <a:cs typeface="Calibri" pitchFamily="34" charset="-120"/>
              </a:rPr>
              <a:t>District-level spatial mapping</a:t>
            </a:r>
            <a:endParaRPr lang="en-US" sz="1533" dirty="0"/>
          </a:p>
          <a:p>
            <a:pPr marL="228594" indent="-228594">
              <a:buFont typeface="Arial" panose="020B0604020202020204" pitchFamily="34" charset="0"/>
              <a:buChar char="•"/>
            </a:pPr>
            <a:r>
              <a:rPr lang="en-US" sz="1533" dirty="0">
                <a:solidFill>
                  <a:srgbClr val="475569"/>
                </a:solidFill>
                <a:latin typeface="Calibri" pitchFamily="34" charset="0"/>
                <a:ea typeface="Calibri" pitchFamily="34" charset="-122"/>
                <a:cs typeface="Calibri" pitchFamily="34" charset="-120"/>
              </a:rPr>
              <a:t>Power BI dashboard for policymakers</a:t>
            </a:r>
            <a:endParaRPr lang="en-US" sz="1533" dirty="0"/>
          </a:p>
        </p:txBody>
      </p:sp>
      <p:sp>
        <p:nvSpPr>
          <p:cNvPr id="9" name="Shape 7"/>
          <p:cNvSpPr/>
          <p:nvPr/>
        </p:nvSpPr>
        <p:spPr>
          <a:xfrm>
            <a:off x="6264613" y="1292352"/>
            <a:ext cx="5744507" cy="463296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US" sz="2400"/>
          </a:p>
        </p:txBody>
      </p:sp>
      <p:sp>
        <p:nvSpPr>
          <p:cNvPr id="10" name="Text 8"/>
          <p:cNvSpPr/>
          <p:nvPr/>
        </p:nvSpPr>
        <p:spPr>
          <a:xfrm>
            <a:off x="6461760" y="1950720"/>
            <a:ext cx="4998720" cy="426720"/>
          </a:xfrm>
          <a:prstGeom prst="rect">
            <a:avLst/>
          </a:prstGeom>
          <a:noFill/>
          <a:ln/>
        </p:spPr>
        <p:txBody>
          <a:bodyPr wrap="square" lIns="0" tIns="0" rIns="0" bIns="0" rtlCol="0" anchor="ctr"/>
          <a:lstStyle/>
          <a:p>
            <a:r>
              <a:rPr lang="en-US" sz="1600" b="1" dirty="0">
                <a:solidFill>
                  <a:srgbClr val="02C39A"/>
                </a:solidFill>
                <a:latin typeface="Calibri" pitchFamily="34" charset="0"/>
                <a:ea typeface="Calibri" pitchFamily="34" charset="-122"/>
                <a:cs typeface="Calibri" pitchFamily="34" charset="-120"/>
              </a:rPr>
              <a:t>Core Research Questions</a:t>
            </a:r>
            <a:endParaRPr lang="en-US" sz="1600" dirty="0"/>
          </a:p>
        </p:txBody>
      </p:sp>
      <p:sp>
        <p:nvSpPr>
          <p:cNvPr id="11" name="Shape 9"/>
          <p:cNvSpPr/>
          <p:nvPr/>
        </p:nvSpPr>
        <p:spPr>
          <a:xfrm>
            <a:off x="6400800" y="2535936"/>
            <a:ext cx="341376" cy="341376"/>
          </a:xfrm>
          <a:prstGeom prst="ellipse">
            <a:avLst/>
          </a:prstGeom>
          <a:solidFill>
            <a:srgbClr val="028090"/>
          </a:solidFill>
          <a:ln w="12700">
            <a:solidFill>
              <a:srgbClr val="028090"/>
            </a:solidFill>
            <a:prstDash val="solid"/>
          </a:ln>
        </p:spPr>
        <p:txBody>
          <a:bodyPr/>
          <a:lstStyle/>
          <a:p>
            <a:endParaRPr lang="en-US" sz="2400"/>
          </a:p>
        </p:txBody>
      </p:sp>
      <p:sp>
        <p:nvSpPr>
          <p:cNvPr id="12" name="Text 10"/>
          <p:cNvSpPr/>
          <p:nvPr/>
        </p:nvSpPr>
        <p:spPr>
          <a:xfrm>
            <a:off x="6400800" y="2535936"/>
            <a:ext cx="341376" cy="341376"/>
          </a:xfrm>
          <a:prstGeom prst="rect">
            <a:avLst/>
          </a:prstGeom>
          <a:noFill/>
          <a:ln/>
        </p:spPr>
        <p:txBody>
          <a:bodyPr wrap="square" lIns="0" tIns="0" rIns="0" bIns="0" rtlCol="0" anchor="ctr"/>
          <a:lstStyle/>
          <a:p>
            <a:pPr algn="ctr"/>
            <a:r>
              <a:rPr lang="en-US" sz="1067" b="1" dirty="0">
                <a:solidFill>
                  <a:srgbClr val="FFFFFF"/>
                </a:solidFill>
              </a:rPr>
              <a:t>1</a:t>
            </a:r>
            <a:endParaRPr lang="en-US" sz="1067" dirty="0"/>
          </a:p>
        </p:txBody>
      </p:sp>
      <p:sp>
        <p:nvSpPr>
          <p:cNvPr id="13" name="Text 11"/>
          <p:cNvSpPr/>
          <p:nvPr/>
        </p:nvSpPr>
        <p:spPr>
          <a:xfrm>
            <a:off x="6888480" y="2499360"/>
            <a:ext cx="463296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How did ANC4+, SBA, and PNC coverage change between 2015 and 2024?</a:t>
            </a:r>
            <a:endParaRPr lang="en-US" sz="1400" dirty="0"/>
          </a:p>
        </p:txBody>
      </p:sp>
      <p:sp>
        <p:nvSpPr>
          <p:cNvPr id="14" name="Shape 12"/>
          <p:cNvSpPr/>
          <p:nvPr/>
        </p:nvSpPr>
        <p:spPr>
          <a:xfrm>
            <a:off x="6400800" y="3267456"/>
            <a:ext cx="341376" cy="341376"/>
          </a:xfrm>
          <a:prstGeom prst="ellipse">
            <a:avLst/>
          </a:prstGeom>
          <a:solidFill>
            <a:srgbClr val="028090"/>
          </a:solidFill>
          <a:ln w="12700">
            <a:solidFill>
              <a:srgbClr val="028090"/>
            </a:solidFill>
            <a:prstDash val="solid"/>
          </a:ln>
        </p:spPr>
        <p:txBody>
          <a:bodyPr/>
          <a:lstStyle/>
          <a:p>
            <a:endParaRPr lang="en-US" sz="2400"/>
          </a:p>
        </p:txBody>
      </p:sp>
      <p:sp>
        <p:nvSpPr>
          <p:cNvPr id="15" name="Text 13"/>
          <p:cNvSpPr/>
          <p:nvPr/>
        </p:nvSpPr>
        <p:spPr>
          <a:xfrm>
            <a:off x="6400800" y="3267456"/>
            <a:ext cx="341376" cy="341376"/>
          </a:xfrm>
          <a:prstGeom prst="rect">
            <a:avLst/>
          </a:prstGeom>
          <a:noFill/>
          <a:ln/>
        </p:spPr>
        <p:txBody>
          <a:bodyPr wrap="square" lIns="0" tIns="0" rIns="0" bIns="0" rtlCol="0" anchor="ctr"/>
          <a:lstStyle/>
          <a:p>
            <a:pPr algn="ctr"/>
            <a:r>
              <a:rPr lang="en-US" sz="1067" b="1" dirty="0">
                <a:solidFill>
                  <a:srgbClr val="FFFFFF"/>
                </a:solidFill>
              </a:rPr>
              <a:t>2</a:t>
            </a:r>
            <a:endParaRPr lang="en-US" sz="1067" dirty="0"/>
          </a:p>
        </p:txBody>
      </p:sp>
      <p:sp>
        <p:nvSpPr>
          <p:cNvPr id="16" name="Text 14"/>
          <p:cNvSpPr/>
          <p:nvPr/>
        </p:nvSpPr>
        <p:spPr>
          <a:xfrm>
            <a:off x="6888480" y="3230880"/>
            <a:ext cx="463296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How do indicators vary by wealth, education, and urban/rural residence?</a:t>
            </a:r>
            <a:endParaRPr lang="en-US" sz="1400" dirty="0"/>
          </a:p>
        </p:txBody>
      </p:sp>
      <p:sp>
        <p:nvSpPr>
          <p:cNvPr id="17" name="Shape 15"/>
          <p:cNvSpPr/>
          <p:nvPr/>
        </p:nvSpPr>
        <p:spPr>
          <a:xfrm>
            <a:off x="6400800" y="3998976"/>
            <a:ext cx="341376" cy="341376"/>
          </a:xfrm>
          <a:prstGeom prst="ellipse">
            <a:avLst/>
          </a:prstGeom>
          <a:solidFill>
            <a:srgbClr val="028090"/>
          </a:solidFill>
          <a:ln w="12700">
            <a:solidFill>
              <a:srgbClr val="028090"/>
            </a:solidFill>
            <a:prstDash val="solid"/>
          </a:ln>
        </p:spPr>
        <p:txBody>
          <a:bodyPr/>
          <a:lstStyle/>
          <a:p>
            <a:endParaRPr lang="en-US" sz="2400"/>
          </a:p>
        </p:txBody>
      </p:sp>
      <p:sp>
        <p:nvSpPr>
          <p:cNvPr id="18" name="Text 16"/>
          <p:cNvSpPr/>
          <p:nvPr/>
        </p:nvSpPr>
        <p:spPr>
          <a:xfrm>
            <a:off x="6400800" y="3998976"/>
            <a:ext cx="341376" cy="341376"/>
          </a:xfrm>
          <a:prstGeom prst="rect">
            <a:avLst/>
          </a:prstGeom>
          <a:noFill/>
          <a:ln/>
        </p:spPr>
        <p:txBody>
          <a:bodyPr wrap="square" lIns="0" tIns="0" rIns="0" bIns="0" rtlCol="0" anchor="ctr"/>
          <a:lstStyle/>
          <a:p>
            <a:pPr algn="ctr"/>
            <a:r>
              <a:rPr lang="en-US" sz="1067" b="1" dirty="0">
                <a:solidFill>
                  <a:srgbClr val="FFFFFF"/>
                </a:solidFill>
              </a:rPr>
              <a:t>3</a:t>
            </a:r>
            <a:endParaRPr lang="en-US" sz="1067" dirty="0"/>
          </a:p>
        </p:txBody>
      </p:sp>
      <p:sp>
        <p:nvSpPr>
          <p:cNvPr id="19" name="Text 17"/>
          <p:cNvSpPr/>
          <p:nvPr/>
        </p:nvSpPr>
        <p:spPr>
          <a:xfrm>
            <a:off x="6888480" y="3962400"/>
            <a:ext cx="463296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Which factors predict non-utilization of maternal health services?</a:t>
            </a:r>
            <a:endParaRPr lang="en-US" sz="1400" dirty="0"/>
          </a:p>
        </p:txBody>
      </p:sp>
      <p:sp>
        <p:nvSpPr>
          <p:cNvPr id="20" name="Shape 18"/>
          <p:cNvSpPr/>
          <p:nvPr/>
        </p:nvSpPr>
        <p:spPr>
          <a:xfrm>
            <a:off x="6400800" y="4730496"/>
            <a:ext cx="341376" cy="341376"/>
          </a:xfrm>
          <a:prstGeom prst="ellipse">
            <a:avLst/>
          </a:prstGeom>
          <a:solidFill>
            <a:srgbClr val="028090"/>
          </a:solidFill>
          <a:ln w="12700">
            <a:solidFill>
              <a:srgbClr val="028090"/>
            </a:solidFill>
            <a:prstDash val="solid"/>
          </a:ln>
        </p:spPr>
        <p:txBody>
          <a:bodyPr/>
          <a:lstStyle/>
          <a:p>
            <a:endParaRPr lang="en-US" sz="2400"/>
          </a:p>
        </p:txBody>
      </p:sp>
      <p:sp>
        <p:nvSpPr>
          <p:cNvPr id="21" name="Text 19"/>
          <p:cNvSpPr/>
          <p:nvPr/>
        </p:nvSpPr>
        <p:spPr>
          <a:xfrm>
            <a:off x="6400800" y="4730496"/>
            <a:ext cx="341376" cy="341376"/>
          </a:xfrm>
          <a:prstGeom prst="rect">
            <a:avLst/>
          </a:prstGeom>
          <a:noFill/>
          <a:ln/>
        </p:spPr>
        <p:txBody>
          <a:bodyPr wrap="square" lIns="0" tIns="0" rIns="0" bIns="0" rtlCol="0" anchor="ctr"/>
          <a:lstStyle/>
          <a:p>
            <a:pPr algn="ctr"/>
            <a:r>
              <a:rPr lang="en-US" sz="1067" b="1" dirty="0">
                <a:solidFill>
                  <a:srgbClr val="FFFFFF"/>
                </a:solidFill>
              </a:rPr>
              <a:t>4</a:t>
            </a:r>
            <a:endParaRPr lang="en-US" sz="1067" dirty="0"/>
          </a:p>
        </p:txBody>
      </p:sp>
      <p:sp>
        <p:nvSpPr>
          <p:cNvPr id="22" name="Text 20"/>
          <p:cNvSpPr/>
          <p:nvPr/>
        </p:nvSpPr>
        <p:spPr>
          <a:xfrm>
            <a:off x="6888480" y="4693920"/>
            <a:ext cx="463296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Which districts improved or declined in maternal health coverage?</a:t>
            </a:r>
            <a:endParaRPr lang="en-US" sz="1400" dirty="0"/>
          </a:p>
        </p:txBody>
      </p:sp>
      <p:sp>
        <p:nvSpPr>
          <p:cNvPr id="23" name="Shape 21"/>
          <p:cNvSpPr/>
          <p:nvPr/>
        </p:nvSpPr>
        <p:spPr>
          <a:xfrm>
            <a:off x="6400800" y="5462016"/>
            <a:ext cx="341376" cy="341376"/>
          </a:xfrm>
          <a:prstGeom prst="ellipse">
            <a:avLst/>
          </a:prstGeom>
          <a:solidFill>
            <a:srgbClr val="028090"/>
          </a:solidFill>
          <a:ln w="12700">
            <a:solidFill>
              <a:srgbClr val="028090"/>
            </a:solidFill>
            <a:prstDash val="solid"/>
          </a:ln>
        </p:spPr>
        <p:txBody>
          <a:bodyPr/>
          <a:lstStyle/>
          <a:p>
            <a:endParaRPr lang="en-US" sz="2400"/>
          </a:p>
        </p:txBody>
      </p:sp>
      <p:sp>
        <p:nvSpPr>
          <p:cNvPr id="24" name="Text 22"/>
          <p:cNvSpPr/>
          <p:nvPr/>
        </p:nvSpPr>
        <p:spPr>
          <a:xfrm>
            <a:off x="6400800" y="5462016"/>
            <a:ext cx="341376" cy="341376"/>
          </a:xfrm>
          <a:prstGeom prst="rect">
            <a:avLst/>
          </a:prstGeom>
          <a:noFill/>
          <a:ln/>
        </p:spPr>
        <p:txBody>
          <a:bodyPr wrap="square" lIns="0" tIns="0" rIns="0" bIns="0" rtlCol="0" anchor="ctr"/>
          <a:lstStyle/>
          <a:p>
            <a:pPr algn="ctr"/>
            <a:r>
              <a:rPr lang="en-US" sz="1067" b="1" dirty="0">
                <a:solidFill>
                  <a:srgbClr val="FFFFFF"/>
                </a:solidFill>
              </a:rPr>
              <a:t>5</a:t>
            </a:r>
            <a:endParaRPr lang="en-US" sz="1067" dirty="0"/>
          </a:p>
        </p:txBody>
      </p:sp>
      <p:sp>
        <p:nvSpPr>
          <p:cNvPr id="25" name="Text 23"/>
          <p:cNvSpPr/>
          <p:nvPr/>
        </p:nvSpPr>
        <p:spPr>
          <a:xfrm>
            <a:off x="6888480" y="5425440"/>
            <a:ext cx="463296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How can dashboard storytelling support planning and decision-making?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DATA</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latin typeface="Calibri" pitchFamily="34" charset="0"/>
                <a:ea typeface="Calibri" pitchFamily="34" charset="-122"/>
                <a:cs typeface="Calibri" pitchFamily="34" charset="-120"/>
              </a:rPr>
              <a:t>Data Sources &amp; Preparation</a:t>
            </a:r>
            <a:endParaRPr lang="en-US" sz="3200" dirty="0"/>
          </a:p>
        </p:txBody>
      </p:sp>
      <p:sp>
        <p:nvSpPr>
          <p:cNvPr id="5" name="Shape 3"/>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sp>
        <p:nvSpPr>
          <p:cNvPr id="6" name="Shape 4"/>
          <p:cNvSpPr/>
          <p:nvPr/>
        </p:nvSpPr>
        <p:spPr>
          <a:xfrm>
            <a:off x="426720" y="1767840"/>
            <a:ext cx="3718560" cy="4632960"/>
          </a:xfrm>
          <a:prstGeom prst="rect">
            <a:avLst/>
          </a:prstGeom>
          <a:solidFill>
            <a:srgbClr val="FFFFFF"/>
          </a:solidFill>
          <a:ln w="6350">
            <a:solidFill>
              <a:srgbClr val="DDE6EA"/>
            </a:solidFill>
            <a:prstDash val="solid"/>
          </a:ln>
          <a:effectLst>
            <a:outerShdw blurRad="76200" dist="25400" dir="8100000" algn="bl" rotWithShape="0">
              <a:srgbClr val="000000">
                <a:alpha val="8000"/>
              </a:srgbClr>
            </a:outerShdw>
          </a:effectLst>
        </p:spPr>
        <p:txBody>
          <a:bodyPr/>
          <a:lstStyle/>
          <a:p>
            <a:endParaRPr lang="en-US" sz="2400"/>
          </a:p>
        </p:txBody>
      </p:sp>
      <p:sp>
        <p:nvSpPr>
          <p:cNvPr id="7" name="Shape 5"/>
          <p:cNvSpPr/>
          <p:nvPr/>
        </p:nvSpPr>
        <p:spPr>
          <a:xfrm>
            <a:off x="426720" y="1767840"/>
            <a:ext cx="3718560" cy="609600"/>
          </a:xfrm>
          <a:prstGeom prst="rect">
            <a:avLst/>
          </a:prstGeom>
          <a:solidFill>
            <a:srgbClr val="028090"/>
          </a:solidFill>
          <a:ln w="12700">
            <a:solidFill>
              <a:srgbClr val="028090"/>
            </a:solidFill>
            <a:prstDash val="solid"/>
          </a:ln>
        </p:spPr>
        <p:txBody>
          <a:bodyPr/>
          <a:lstStyle/>
          <a:p>
            <a:endParaRPr lang="en-US" sz="2400"/>
          </a:p>
        </p:txBody>
      </p:sp>
      <p:sp>
        <p:nvSpPr>
          <p:cNvPr id="8" name="Text 6"/>
          <p:cNvSpPr/>
          <p:nvPr/>
        </p:nvSpPr>
        <p:spPr>
          <a:xfrm>
            <a:off x="573024" y="1767840"/>
            <a:ext cx="3413760" cy="60960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Malawi DHS 2015–16</a:t>
            </a:r>
            <a:endParaRPr lang="en-US" sz="1600" dirty="0"/>
          </a:p>
        </p:txBody>
      </p:sp>
      <p:sp>
        <p:nvSpPr>
          <p:cNvPr id="9" name="Text 7"/>
          <p:cNvSpPr/>
          <p:nvPr/>
        </p:nvSpPr>
        <p:spPr>
          <a:xfrm>
            <a:off x="573024" y="2499360"/>
            <a:ext cx="3413760" cy="359664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Nationally representative household survey · Individual recode files · Survey weights applied (÷1,000,000) · Key indicators: ANC4+, SBA, PNC · District, wealth quintile, education, residence</a:t>
            </a:r>
            <a:endParaRPr lang="en-US" sz="1400" dirty="0"/>
          </a:p>
        </p:txBody>
      </p:sp>
      <p:sp>
        <p:nvSpPr>
          <p:cNvPr id="10" name="Shape 8"/>
          <p:cNvSpPr/>
          <p:nvPr/>
        </p:nvSpPr>
        <p:spPr>
          <a:xfrm>
            <a:off x="4352544" y="1767840"/>
            <a:ext cx="3718560" cy="4632960"/>
          </a:xfrm>
          <a:prstGeom prst="rect">
            <a:avLst/>
          </a:prstGeom>
          <a:solidFill>
            <a:srgbClr val="FFFFFF"/>
          </a:solidFill>
          <a:ln w="6350">
            <a:solidFill>
              <a:srgbClr val="DDE6EA"/>
            </a:solidFill>
            <a:prstDash val="solid"/>
          </a:ln>
          <a:effectLst>
            <a:outerShdw blurRad="76200" dist="25400" dir="8100000" algn="bl" rotWithShape="0">
              <a:srgbClr val="000000">
                <a:alpha val="8000"/>
              </a:srgbClr>
            </a:outerShdw>
          </a:effectLst>
        </p:spPr>
        <p:txBody>
          <a:bodyPr/>
          <a:lstStyle/>
          <a:p>
            <a:endParaRPr lang="en-US" sz="2400"/>
          </a:p>
        </p:txBody>
      </p:sp>
      <p:sp>
        <p:nvSpPr>
          <p:cNvPr id="11" name="Shape 9"/>
          <p:cNvSpPr/>
          <p:nvPr/>
        </p:nvSpPr>
        <p:spPr>
          <a:xfrm>
            <a:off x="4352544" y="1767840"/>
            <a:ext cx="3718560" cy="609600"/>
          </a:xfrm>
          <a:prstGeom prst="rect">
            <a:avLst/>
          </a:prstGeom>
          <a:solidFill>
            <a:srgbClr val="0A2342"/>
          </a:solidFill>
          <a:ln w="12700">
            <a:solidFill>
              <a:srgbClr val="0A2342"/>
            </a:solidFill>
            <a:prstDash val="solid"/>
          </a:ln>
        </p:spPr>
        <p:txBody>
          <a:bodyPr/>
          <a:lstStyle/>
          <a:p>
            <a:endParaRPr lang="en-US" sz="2400"/>
          </a:p>
        </p:txBody>
      </p:sp>
      <p:sp>
        <p:nvSpPr>
          <p:cNvPr id="12" name="Text 10"/>
          <p:cNvSpPr/>
          <p:nvPr/>
        </p:nvSpPr>
        <p:spPr>
          <a:xfrm>
            <a:off x="4498848" y="1767840"/>
            <a:ext cx="3413760" cy="60960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Malawi DHS 2024</a:t>
            </a:r>
            <a:endParaRPr lang="en-US" sz="1600" dirty="0"/>
          </a:p>
        </p:txBody>
      </p:sp>
      <p:sp>
        <p:nvSpPr>
          <p:cNvPr id="13" name="Text 11"/>
          <p:cNvSpPr/>
          <p:nvPr/>
        </p:nvSpPr>
        <p:spPr>
          <a:xfrm>
            <a:off x="4498848" y="2499360"/>
            <a:ext cx="3413760" cy="377952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Most recent survey for trend comparison · Variables harmonized across years · District names cleaned &amp; standardized · Spatial join with GADM administrative boundaries</a:t>
            </a:r>
            <a:endParaRPr lang="en-US" sz="1400" dirty="0"/>
          </a:p>
        </p:txBody>
      </p:sp>
      <p:sp>
        <p:nvSpPr>
          <p:cNvPr id="14" name="Shape 12"/>
          <p:cNvSpPr/>
          <p:nvPr/>
        </p:nvSpPr>
        <p:spPr>
          <a:xfrm>
            <a:off x="8278368" y="1767840"/>
            <a:ext cx="3718560" cy="4632960"/>
          </a:xfrm>
          <a:prstGeom prst="rect">
            <a:avLst/>
          </a:prstGeom>
          <a:solidFill>
            <a:srgbClr val="FFFFFF"/>
          </a:solidFill>
          <a:ln w="6350">
            <a:solidFill>
              <a:srgbClr val="DDE6EA"/>
            </a:solidFill>
            <a:prstDash val="solid"/>
          </a:ln>
          <a:effectLst>
            <a:outerShdw blurRad="76200" dist="25400" dir="8100000" algn="bl" rotWithShape="0">
              <a:srgbClr val="000000">
                <a:alpha val="8000"/>
              </a:srgbClr>
            </a:outerShdw>
          </a:effectLst>
        </p:spPr>
        <p:txBody>
          <a:bodyPr/>
          <a:lstStyle/>
          <a:p>
            <a:endParaRPr lang="en-US" sz="2400"/>
          </a:p>
        </p:txBody>
      </p:sp>
      <p:sp>
        <p:nvSpPr>
          <p:cNvPr id="15" name="Shape 13"/>
          <p:cNvSpPr/>
          <p:nvPr/>
        </p:nvSpPr>
        <p:spPr>
          <a:xfrm>
            <a:off x="8278368" y="1767840"/>
            <a:ext cx="3718560" cy="609600"/>
          </a:xfrm>
          <a:prstGeom prst="rect">
            <a:avLst/>
          </a:prstGeom>
          <a:solidFill>
            <a:srgbClr val="1C7293"/>
          </a:solidFill>
          <a:ln w="12700">
            <a:solidFill>
              <a:srgbClr val="1C7293"/>
            </a:solidFill>
            <a:prstDash val="solid"/>
          </a:ln>
        </p:spPr>
        <p:txBody>
          <a:bodyPr/>
          <a:lstStyle/>
          <a:p>
            <a:endParaRPr lang="en-US" sz="2400"/>
          </a:p>
        </p:txBody>
      </p:sp>
      <p:sp>
        <p:nvSpPr>
          <p:cNvPr id="16" name="Text 14"/>
          <p:cNvSpPr/>
          <p:nvPr/>
        </p:nvSpPr>
        <p:spPr>
          <a:xfrm>
            <a:off x="8424672" y="1767840"/>
            <a:ext cx="3413760" cy="60960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World Bank WDI</a:t>
            </a:r>
            <a:endParaRPr lang="en-US" sz="1600" dirty="0"/>
          </a:p>
        </p:txBody>
      </p:sp>
      <p:sp>
        <p:nvSpPr>
          <p:cNvPr id="17" name="Text 15"/>
          <p:cNvSpPr/>
          <p:nvPr/>
        </p:nvSpPr>
        <p:spPr>
          <a:xfrm>
            <a:off x="8424672" y="2499360"/>
            <a:ext cx="3413760" cy="377952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National-level maternal mortality context · Broader development trend indicators · Used for executive summary framing in dashboard</a:t>
            </a:r>
            <a:endParaRPr lang="en-US" sz="1400" dirty="0"/>
          </a:p>
        </p:txBody>
      </p:sp>
      <p:sp>
        <p:nvSpPr>
          <p:cNvPr id="18" name="Shape 16"/>
          <p:cNvSpPr/>
          <p:nvPr/>
        </p:nvSpPr>
        <p:spPr>
          <a:xfrm>
            <a:off x="426720" y="6096000"/>
            <a:ext cx="11338560" cy="548640"/>
          </a:xfrm>
          <a:prstGeom prst="rect">
            <a:avLst/>
          </a:prstGeom>
          <a:solidFill>
            <a:srgbClr val="D6F5F0"/>
          </a:solidFill>
          <a:ln w="12700">
            <a:solidFill>
              <a:srgbClr val="D6F5F0"/>
            </a:solidFill>
            <a:prstDash val="solid"/>
          </a:ln>
        </p:spPr>
        <p:txBody>
          <a:bodyPr/>
          <a:lstStyle/>
          <a:p>
            <a:endParaRPr lang="en-US" sz="2400"/>
          </a:p>
        </p:txBody>
      </p:sp>
      <p:sp>
        <p:nvSpPr>
          <p:cNvPr id="19" name="Text 17"/>
          <p:cNvSpPr/>
          <p:nvPr/>
        </p:nvSpPr>
        <p:spPr>
          <a:xfrm>
            <a:off x="609600" y="6096000"/>
            <a:ext cx="11094720" cy="548640"/>
          </a:xfrm>
          <a:prstGeom prst="rect">
            <a:avLst/>
          </a:prstGeom>
          <a:noFill/>
          <a:ln/>
        </p:spPr>
        <p:txBody>
          <a:bodyPr wrap="square" rtlCol="0" anchor="ctr"/>
          <a:lstStyle/>
          <a:p>
            <a:r>
              <a:rPr lang="en-US" sz="1400" b="1" dirty="0">
                <a:solidFill>
                  <a:srgbClr val="0A2342"/>
                </a:solidFill>
                <a:latin typeface="Calibri" pitchFamily="34" charset="0"/>
                <a:ea typeface="Calibri" pitchFamily="34" charset="-122"/>
                <a:cs typeface="Calibri" pitchFamily="34" charset="-120"/>
              </a:rPr>
              <a:t>Three binary outcomes created: ANC4+ (≥4 antenatal visits)  SBA (skilled birth attendance)  PNC (postnatal care received)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METHODS &amp; TOOLS</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latin typeface="Calibri" pitchFamily="34" charset="0"/>
                <a:ea typeface="Calibri" pitchFamily="34" charset="-122"/>
                <a:cs typeface="Calibri" pitchFamily="34" charset="-120"/>
              </a:rPr>
              <a:t>Analytical Approach</a:t>
            </a:r>
            <a:endParaRPr lang="en-US" sz="3200" dirty="0"/>
          </a:p>
        </p:txBody>
      </p:sp>
      <p:sp>
        <p:nvSpPr>
          <p:cNvPr id="5" name="Text 3"/>
          <p:cNvSpPr/>
          <p:nvPr/>
        </p:nvSpPr>
        <p:spPr>
          <a:xfrm>
            <a:off x="426720" y="1402080"/>
            <a:ext cx="11338560" cy="426720"/>
          </a:xfrm>
          <a:prstGeom prst="rect">
            <a:avLst/>
          </a:prstGeom>
          <a:noFill/>
          <a:ln/>
        </p:spPr>
        <p:txBody>
          <a:bodyPr wrap="square" lIns="0" tIns="0" rIns="0" bIns="0" rtlCol="0" anchor="ctr"/>
          <a:lstStyle/>
          <a:p>
            <a:r>
              <a:rPr lang="en-US" sz="1733" dirty="0">
                <a:latin typeface="Calibri" pitchFamily="34" charset="0"/>
                <a:ea typeface="Calibri" pitchFamily="34" charset="-122"/>
                <a:cs typeface="Calibri" pitchFamily="34" charset="-120"/>
              </a:rPr>
              <a:t>Multi-method pipeline: descriptive | equity | predictive | spatial | dashboard</a:t>
            </a:r>
            <a:endParaRPr lang="en-US" sz="1733" dirty="0"/>
          </a:p>
        </p:txBody>
      </p:sp>
      <p:sp>
        <p:nvSpPr>
          <p:cNvPr id="6" name="Shape 4"/>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sp>
        <p:nvSpPr>
          <p:cNvPr id="7" name="Shape 5"/>
          <p:cNvSpPr/>
          <p:nvPr/>
        </p:nvSpPr>
        <p:spPr>
          <a:xfrm>
            <a:off x="426720" y="1767840"/>
            <a:ext cx="5486400" cy="2072640"/>
          </a:xfrm>
          <a:prstGeom prst="rect">
            <a:avLst/>
          </a:prstGeom>
          <a:solidFill>
            <a:srgbClr val="FFFFFF"/>
          </a:solidFill>
          <a:ln w="6350">
            <a:solidFill>
              <a:srgbClr val="DDE6EA"/>
            </a:solidFill>
            <a:prstDash val="solid"/>
          </a:ln>
          <a:effectLst>
            <a:outerShdw blurRad="63500" dist="25400" dir="8100000" algn="bl" rotWithShape="0">
              <a:srgbClr val="000000">
                <a:alpha val="7000"/>
              </a:srgbClr>
            </a:outerShdw>
          </a:effectLst>
        </p:spPr>
        <p:txBody>
          <a:bodyPr/>
          <a:lstStyle/>
          <a:p>
            <a:endParaRPr lang="en-US" sz="2400"/>
          </a:p>
        </p:txBody>
      </p:sp>
      <p:sp>
        <p:nvSpPr>
          <p:cNvPr id="8" name="Shape 6"/>
          <p:cNvSpPr/>
          <p:nvPr/>
        </p:nvSpPr>
        <p:spPr>
          <a:xfrm>
            <a:off x="426720" y="1767840"/>
            <a:ext cx="121920" cy="2072640"/>
          </a:xfrm>
          <a:prstGeom prst="rect">
            <a:avLst/>
          </a:prstGeom>
          <a:solidFill>
            <a:srgbClr val="028090"/>
          </a:solidFill>
          <a:ln w="12700">
            <a:solidFill>
              <a:srgbClr val="028090"/>
            </a:solidFill>
            <a:prstDash val="solid"/>
          </a:ln>
        </p:spPr>
        <p:txBody>
          <a:bodyPr/>
          <a:lstStyle/>
          <a:p>
            <a:endParaRPr lang="en-US" sz="2400"/>
          </a:p>
        </p:txBody>
      </p:sp>
      <p:sp>
        <p:nvSpPr>
          <p:cNvPr id="9" name="Text 7"/>
          <p:cNvSpPr/>
          <p:nvPr/>
        </p:nvSpPr>
        <p:spPr>
          <a:xfrm>
            <a:off x="694944" y="1914144"/>
            <a:ext cx="4998720" cy="426720"/>
          </a:xfrm>
          <a:prstGeom prst="rect">
            <a:avLst/>
          </a:prstGeom>
          <a:noFill/>
          <a:ln/>
        </p:spPr>
        <p:txBody>
          <a:bodyPr wrap="square" lIns="0" tIns="0" rIns="0" bIns="0" rtlCol="0" anchor="ctr"/>
          <a:lstStyle/>
          <a:p>
            <a:r>
              <a:rPr lang="en-US" sz="1733" b="1" dirty="0">
                <a:solidFill>
                  <a:srgbClr val="0A2342"/>
                </a:solidFill>
                <a:latin typeface="Calibri" pitchFamily="34" charset="0"/>
                <a:ea typeface="Calibri" pitchFamily="34" charset="-122"/>
                <a:cs typeface="Calibri" pitchFamily="34" charset="-120"/>
              </a:rPr>
              <a:t>R / RStudio</a:t>
            </a:r>
            <a:endParaRPr lang="en-US" sz="1733" dirty="0"/>
          </a:p>
        </p:txBody>
      </p:sp>
      <p:sp>
        <p:nvSpPr>
          <p:cNvPr id="10" name="Text 8"/>
          <p:cNvSpPr/>
          <p:nvPr/>
        </p:nvSpPr>
        <p:spPr>
          <a:xfrm>
            <a:off x="694944" y="2377440"/>
            <a:ext cx="4998720" cy="1280160"/>
          </a:xfrm>
          <a:prstGeom prst="rect">
            <a:avLst/>
          </a:prstGeom>
          <a:noFill/>
          <a:ln/>
        </p:spPr>
        <p:txBody>
          <a:bodyPr wrap="square" rtlCol="0" anchor="ctr"/>
          <a:lstStyle/>
          <a:p>
            <a:r>
              <a:rPr lang="en-US" sz="1467" dirty="0">
                <a:solidFill>
                  <a:srgbClr val="475569"/>
                </a:solidFill>
                <a:latin typeface="Calibri" pitchFamily="34" charset="0"/>
                <a:ea typeface="Calibri" pitchFamily="34" charset="-122"/>
                <a:cs typeface="Calibri" pitchFamily="34" charset="-120"/>
              </a:rPr>
              <a:t>Survey-weighted statistics, equity analysis, spatial mapping (sf, ggplot2, geodata), Quarto reporting</a:t>
            </a:r>
            <a:endParaRPr lang="en-US" sz="1467" dirty="0"/>
          </a:p>
        </p:txBody>
      </p:sp>
      <p:sp>
        <p:nvSpPr>
          <p:cNvPr id="11" name="Shape 9"/>
          <p:cNvSpPr/>
          <p:nvPr/>
        </p:nvSpPr>
        <p:spPr>
          <a:xfrm>
            <a:off x="6339840" y="1767840"/>
            <a:ext cx="5486400" cy="2072640"/>
          </a:xfrm>
          <a:prstGeom prst="rect">
            <a:avLst/>
          </a:prstGeom>
          <a:solidFill>
            <a:srgbClr val="FFFFFF"/>
          </a:solidFill>
          <a:ln w="6350">
            <a:solidFill>
              <a:srgbClr val="DDE6EA"/>
            </a:solidFill>
            <a:prstDash val="solid"/>
          </a:ln>
          <a:effectLst>
            <a:outerShdw blurRad="63500" dist="25400" dir="8100000" algn="bl" rotWithShape="0">
              <a:srgbClr val="000000">
                <a:alpha val="7000"/>
              </a:srgbClr>
            </a:outerShdw>
          </a:effectLst>
        </p:spPr>
        <p:txBody>
          <a:bodyPr/>
          <a:lstStyle/>
          <a:p>
            <a:endParaRPr lang="en-US" sz="2400"/>
          </a:p>
        </p:txBody>
      </p:sp>
      <p:sp>
        <p:nvSpPr>
          <p:cNvPr id="12" name="Shape 10"/>
          <p:cNvSpPr/>
          <p:nvPr/>
        </p:nvSpPr>
        <p:spPr>
          <a:xfrm>
            <a:off x="6339840" y="1767840"/>
            <a:ext cx="121920" cy="2072640"/>
          </a:xfrm>
          <a:prstGeom prst="rect">
            <a:avLst/>
          </a:prstGeom>
          <a:solidFill>
            <a:srgbClr val="0A2342"/>
          </a:solidFill>
          <a:ln w="12700">
            <a:solidFill>
              <a:srgbClr val="0A2342"/>
            </a:solidFill>
            <a:prstDash val="solid"/>
          </a:ln>
        </p:spPr>
        <p:txBody>
          <a:bodyPr/>
          <a:lstStyle/>
          <a:p>
            <a:endParaRPr lang="en-US" sz="2400"/>
          </a:p>
        </p:txBody>
      </p:sp>
      <p:sp>
        <p:nvSpPr>
          <p:cNvPr id="13" name="Text 11"/>
          <p:cNvSpPr/>
          <p:nvPr/>
        </p:nvSpPr>
        <p:spPr>
          <a:xfrm>
            <a:off x="6608064" y="1914144"/>
            <a:ext cx="4998720" cy="426720"/>
          </a:xfrm>
          <a:prstGeom prst="rect">
            <a:avLst/>
          </a:prstGeom>
          <a:noFill/>
          <a:ln/>
        </p:spPr>
        <p:txBody>
          <a:bodyPr wrap="square" lIns="0" tIns="0" rIns="0" bIns="0" rtlCol="0" anchor="ctr"/>
          <a:lstStyle/>
          <a:p>
            <a:r>
              <a:rPr lang="en-US" sz="1733" b="1" dirty="0">
                <a:solidFill>
                  <a:srgbClr val="0A2342"/>
                </a:solidFill>
                <a:latin typeface="Calibri" pitchFamily="34" charset="0"/>
                <a:ea typeface="Calibri" pitchFamily="34" charset="-122"/>
                <a:cs typeface="Calibri" pitchFamily="34" charset="-120"/>
              </a:rPr>
              <a:t>Python / scikit-learn</a:t>
            </a:r>
            <a:endParaRPr lang="en-US" sz="1733" dirty="0"/>
          </a:p>
        </p:txBody>
      </p:sp>
      <p:sp>
        <p:nvSpPr>
          <p:cNvPr id="14" name="Text 12"/>
          <p:cNvSpPr/>
          <p:nvPr/>
        </p:nvSpPr>
        <p:spPr>
          <a:xfrm>
            <a:off x="6608064" y="2377440"/>
            <a:ext cx="4998720" cy="1280160"/>
          </a:xfrm>
          <a:prstGeom prst="rect">
            <a:avLst/>
          </a:prstGeom>
          <a:noFill/>
          <a:ln/>
        </p:spPr>
        <p:txBody>
          <a:bodyPr wrap="square" rtlCol="0" anchor="ctr"/>
          <a:lstStyle/>
          <a:p>
            <a:r>
              <a:rPr lang="en-US" sz="1467" dirty="0">
                <a:solidFill>
                  <a:srgbClr val="475569"/>
                </a:solidFill>
                <a:latin typeface="Calibri" pitchFamily="34" charset="0"/>
                <a:ea typeface="Calibri" pitchFamily="34" charset="-122"/>
                <a:cs typeface="Calibri" pitchFamily="34" charset="-120"/>
              </a:rPr>
              <a:t>Logistic regression modeling, class balancing, ROC-AUC evaluation, confusion matrices</a:t>
            </a:r>
            <a:endParaRPr lang="en-US" sz="1467" dirty="0"/>
          </a:p>
        </p:txBody>
      </p:sp>
      <p:sp>
        <p:nvSpPr>
          <p:cNvPr id="15" name="Shape 13"/>
          <p:cNvSpPr/>
          <p:nvPr/>
        </p:nvSpPr>
        <p:spPr>
          <a:xfrm>
            <a:off x="426720" y="4206240"/>
            <a:ext cx="5486400" cy="2072640"/>
          </a:xfrm>
          <a:prstGeom prst="rect">
            <a:avLst/>
          </a:prstGeom>
          <a:solidFill>
            <a:srgbClr val="FFFFFF"/>
          </a:solidFill>
          <a:ln w="6350">
            <a:solidFill>
              <a:srgbClr val="DDE6EA"/>
            </a:solidFill>
            <a:prstDash val="solid"/>
          </a:ln>
          <a:effectLst>
            <a:outerShdw blurRad="63500" dist="25400" dir="8100000" algn="bl" rotWithShape="0">
              <a:srgbClr val="000000">
                <a:alpha val="7000"/>
              </a:srgbClr>
            </a:outerShdw>
          </a:effectLst>
        </p:spPr>
        <p:txBody>
          <a:bodyPr/>
          <a:lstStyle/>
          <a:p>
            <a:endParaRPr lang="en-US" sz="2400"/>
          </a:p>
        </p:txBody>
      </p:sp>
      <p:sp>
        <p:nvSpPr>
          <p:cNvPr id="16" name="Shape 14"/>
          <p:cNvSpPr/>
          <p:nvPr/>
        </p:nvSpPr>
        <p:spPr>
          <a:xfrm>
            <a:off x="426720" y="4206240"/>
            <a:ext cx="121920" cy="2072640"/>
          </a:xfrm>
          <a:prstGeom prst="rect">
            <a:avLst/>
          </a:prstGeom>
          <a:solidFill>
            <a:srgbClr val="1C7293"/>
          </a:solidFill>
          <a:ln w="12700">
            <a:solidFill>
              <a:srgbClr val="1C7293"/>
            </a:solidFill>
            <a:prstDash val="solid"/>
          </a:ln>
        </p:spPr>
        <p:txBody>
          <a:bodyPr/>
          <a:lstStyle/>
          <a:p>
            <a:endParaRPr lang="en-US" sz="2400"/>
          </a:p>
        </p:txBody>
      </p:sp>
      <p:sp>
        <p:nvSpPr>
          <p:cNvPr id="17" name="Text 15"/>
          <p:cNvSpPr/>
          <p:nvPr/>
        </p:nvSpPr>
        <p:spPr>
          <a:xfrm>
            <a:off x="694944" y="4352544"/>
            <a:ext cx="4998720" cy="426720"/>
          </a:xfrm>
          <a:prstGeom prst="rect">
            <a:avLst/>
          </a:prstGeom>
          <a:noFill/>
          <a:ln/>
        </p:spPr>
        <p:txBody>
          <a:bodyPr wrap="square" lIns="0" tIns="0" rIns="0" bIns="0" rtlCol="0" anchor="ctr"/>
          <a:lstStyle/>
          <a:p>
            <a:r>
              <a:rPr lang="en-US" sz="1733" b="1" dirty="0">
                <a:solidFill>
                  <a:srgbClr val="0A2342"/>
                </a:solidFill>
                <a:latin typeface="Calibri" pitchFamily="34" charset="0"/>
                <a:ea typeface="Calibri" pitchFamily="34" charset="-122"/>
                <a:cs typeface="Calibri" pitchFamily="34" charset="-120"/>
              </a:rPr>
              <a:t>Power BI</a:t>
            </a:r>
            <a:endParaRPr lang="en-US" sz="1733" dirty="0"/>
          </a:p>
        </p:txBody>
      </p:sp>
      <p:sp>
        <p:nvSpPr>
          <p:cNvPr id="18" name="Text 16"/>
          <p:cNvSpPr/>
          <p:nvPr/>
        </p:nvSpPr>
        <p:spPr>
          <a:xfrm>
            <a:off x="694944" y="4815840"/>
            <a:ext cx="4998720" cy="1280160"/>
          </a:xfrm>
          <a:prstGeom prst="rect">
            <a:avLst/>
          </a:prstGeom>
          <a:noFill/>
          <a:ln/>
        </p:spPr>
        <p:txBody>
          <a:bodyPr wrap="square" rtlCol="0" anchor="ctr"/>
          <a:lstStyle/>
          <a:p>
            <a:r>
              <a:rPr lang="en-US" sz="1467" dirty="0">
                <a:solidFill>
                  <a:srgbClr val="475569"/>
                </a:solidFill>
                <a:latin typeface="Calibri" pitchFamily="34" charset="0"/>
                <a:ea typeface="Calibri" pitchFamily="34" charset="-122"/>
                <a:cs typeface="Calibri" pitchFamily="34" charset="-120"/>
              </a:rPr>
              <a:t>Interactive dashboard: executive page, spatial page, indicator comparison : decision-support storytelling</a:t>
            </a:r>
            <a:endParaRPr lang="en-US" sz="1467" dirty="0"/>
          </a:p>
        </p:txBody>
      </p:sp>
      <p:sp>
        <p:nvSpPr>
          <p:cNvPr id="19" name="Shape 17"/>
          <p:cNvSpPr/>
          <p:nvPr/>
        </p:nvSpPr>
        <p:spPr>
          <a:xfrm>
            <a:off x="6339840" y="4206240"/>
            <a:ext cx="5486400" cy="2072640"/>
          </a:xfrm>
          <a:prstGeom prst="rect">
            <a:avLst/>
          </a:prstGeom>
          <a:solidFill>
            <a:srgbClr val="FFFFFF"/>
          </a:solidFill>
          <a:ln w="6350">
            <a:solidFill>
              <a:srgbClr val="DDE6EA"/>
            </a:solidFill>
            <a:prstDash val="solid"/>
          </a:ln>
          <a:effectLst>
            <a:outerShdw blurRad="63500" dist="25400" dir="8100000" algn="bl" rotWithShape="0">
              <a:srgbClr val="000000">
                <a:alpha val="7000"/>
              </a:srgbClr>
            </a:outerShdw>
          </a:effectLst>
        </p:spPr>
        <p:txBody>
          <a:bodyPr/>
          <a:lstStyle/>
          <a:p>
            <a:endParaRPr lang="en-US" sz="2400"/>
          </a:p>
        </p:txBody>
      </p:sp>
      <p:sp>
        <p:nvSpPr>
          <p:cNvPr id="20" name="Shape 18"/>
          <p:cNvSpPr/>
          <p:nvPr/>
        </p:nvSpPr>
        <p:spPr>
          <a:xfrm>
            <a:off x="6339840" y="4206240"/>
            <a:ext cx="121920" cy="2072640"/>
          </a:xfrm>
          <a:prstGeom prst="rect">
            <a:avLst/>
          </a:prstGeom>
          <a:solidFill>
            <a:srgbClr val="0D7377"/>
          </a:solidFill>
          <a:ln w="12700">
            <a:solidFill>
              <a:srgbClr val="0D7377"/>
            </a:solidFill>
            <a:prstDash val="solid"/>
          </a:ln>
        </p:spPr>
        <p:txBody>
          <a:bodyPr/>
          <a:lstStyle/>
          <a:p>
            <a:endParaRPr lang="en-US" sz="2400"/>
          </a:p>
        </p:txBody>
      </p:sp>
      <p:sp>
        <p:nvSpPr>
          <p:cNvPr id="21" name="Text 19"/>
          <p:cNvSpPr/>
          <p:nvPr/>
        </p:nvSpPr>
        <p:spPr>
          <a:xfrm>
            <a:off x="6608064" y="4352544"/>
            <a:ext cx="4998720" cy="426720"/>
          </a:xfrm>
          <a:prstGeom prst="rect">
            <a:avLst/>
          </a:prstGeom>
          <a:noFill/>
          <a:ln/>
        </p:spPr>
        <p:txBody>
          <a:bodyPr wrap="square" lIns="0" tIns="0" rIns="0" bIns="0" rtlCol="0" anchor="ctr"/>
          <a:lstStyle/>
          <a:p>
            <a:r>
              <a:rPr lang="en-US" sz="1733" b="1" dirty="0">
                <a:solidFill>
                  <a:srgbClr val="0A2342"/>
                </a:solidFill>
                <a:latin typeface="Calibri" pitchFamily="34" charset="0"/>
                <a:ea typeface="Calibri" pitchFamily="34" charset="-122"/>
                <a:cs typeface="Calibri" pitchFamily="34" charset="-120"/>
              </a:rPr>
              <a:t>GADM + sf</a:t>
            </a:r>
            <a:endParaRPr lang="en-US" sz="1733" dirty="0"/>
          </a:p>
        </p:txBody>
      </p:sp>
      <p:sp>
        <p:nvSpPr>
          <p:cNvPr id="22" name="Text 20"/>
          <p:cNvSpPr/>
          <p:nvPr/>
        </p:nvSpPr>
        <p:spPr>
          <a:xfrm>
            <a:off x="6608064" y="4815840"/>
            <a:ext cx="4998720" cy="1280160"/>
          </a:xfrm>
          <a:prstGeom prst="rect">
            <a:avLst/>
          </a:prstGeom>
          <a:noFill/>
          <a:ln/>
        </p:spPr>
        <p:txBody>
          <a:bodyPr wrap="square" rtlCol="0" anchor="ctr"/>
          <a:lstStyle/>
          <a:p>
            <a:r>
              <a:rPr lang="en-US" sz="1467" dirty="0">
                <a:solidFill>
                  <a:srgbClr val="475569"/>
                </a:solidFill>
                <a:latin typeface="Calibri" pitchFamily="34" charset="0"/>
                <a:ea typeface="Calibri" pitchFamily="34" charset="-122"/>
                <a:cs typeface="Calibri" pitchFamily="34" charset="-120"/>
              </a:rPr>
              <a:t>District boundary harmonization, spatial joins, choropleth maps for 2015, 2024 &amp; change analysis</a:t>
            </a:r>
            <a:endParaRPr lang="en-US" sz="146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DATA PREPARATION</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latin typeface="Calibri" pitchFamily="34" charset="0"/>
                <a:ea typeface="Calibri" pitchFamily="34" charset="-122"/>
                <a:cs typeface="Calibri" pitchFamily="34" charset="-120"/>
              </a:rPr>
              <a:t>Data Cleaning &amp; Pre-Processing Highlights</a:t>
            </a:r>
            <a:endParaRPr lang="en-US" sz="3200" dirty="0"/>
          </a:p>
        </p:txBody>
      </p:sp>
      <p:sp>
        <p:nvSpPr>
          <p:cNvPr id="5" name="Shape 3"/>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sp>
        <p:nvSpPr>
          <p:cNvPr id="6" name="Shape 4"/>
          <p:cNvSpPr/>
          <p:nvPr/>
        </p:nvSpPr>
        <p:spPr>
          <a:xfrm>
            <a:off x="426720" y="1767840"/>
            <a:ext cx="5486400" cy="1463040"/>
          </a:xfrm>
          <a:prstGeom prst="rect">
            <a:avLst/>
          </a:prstGeom>
          <a:solidFill>
            <a:srgbClr val="FFFFFF"/>
          </a:solidFill>
          <a:ln w="6350">
            <a:solidFill>
              <a:srgbClr val="DDE6EA"/>
            </a:solidFill>
            <a:prstDash val="solid"/>
          </a:ln>
          <a:effectLst>
            <a:outerShdw blurRad="50800" dist="12700" dir="8100000" algn="bl" rotWithShape="0">
              <a:srgbClr val="000000">
                <a:alpha val="6000"/>
              </a:srgbClr>
            </a:outerShdw>
          </a:effectLst>
        </p:spPr>
        <p:txBody>
          <a:bodyPr/>
          <a:lstStyle/>
          <a:p>
            <a:endParaRPr lang="en-US" sz="2400"/>
          </a:p>
        </p:txBody>
      </p:sp>
      <p:sp>
        <p:nvSpPr>
          <p:cNvPr id="7" name="Shape 5"/>
          <p:cNvSpPr/>
          <p:nvPr/>
        </p:nvSpPr>
        <p:spPr>
          <a:xfrm>
            <a:off x="573024" y="2194560"/>
            <a:ext cx="512064" cy="512064"/>
          </a:xfrm>
          <a:prstGeom prst="ellipse">
            <a:avLst/>
          </a:prstGeom>
          <a:solidFill>
            <a:srgbClr val="028090"/>
          </a:solidFill>
          <a:ln w="12700">
            <a:solidFill>
              <a:srgbClr val="028090"/>
            </a:solidFill>
            <a:prstDash val="solid"/>
          </a:ln>
        </p:spPr>
        <p:txBody>
          <a:bodyPr/>
          <a:lstStyle/>
          <a:p>
            <a:endParaRPr lang="en-US" sz="2400"/>
          </a:p>
        </p:txBody>
      </p:sp>
      <p:sp>
        <p:nvSpPr>
          <p:cNvPr id="8" name="Text 6"/>
          <p:cNvSpPr/>
          <p:nvPr/>
        </p:nvSpPr>
        <p:spPr>
          <a:xfrm>
            <a:off x="573024" y="2194560"/>
            <a:ext cx="512064" cy="512064"/>
          </a:xfrm>
          <a:prstGeom prst="rect">
            <a:avLst/>
          </a:prstGeom>
          <a:noFill/>
          <a:ln/>
        </p:spPr>
        <p:txBody>
          <a:bodyPr wrap="square" lIns="0" tIns="0" rIns="0" bIns="0" rtlCol="0" anchor="ctr"/>
          <a:lstStyle/>
          <a:p>
            <a:pPr algn="ctr"/>
            <a:r>
              <a:rPr lang="en-US" sz="1200" b="1" dirty="0">
                <a:solidFill>
                  <a:srgbClr val="FFFFFF"/>
                </a:solidFill>
              </a:rPr>
              <a:t>01</a:t>
            </a:r>
            <a:endParaRPr lang="en-US" sz="1200" dirty="0"/>
          </a:p>
        </p:txBody>
      </p:sp>
      <p:sp>
        <p:nvSpPr>
          <p:cNvPr id="9" name="Text 7"/>
          <p:cNvSpPr/>
          <p:nvPr/>
        </p:nvSpPr>
        <p:spPr>
          <a:xfrm>
            <a:off x="1219200" y="1889760"/>
            <a:ext cx="4572000" cy="365760"/>
          </a:xfrm>
          <a:prstGeom prst="rect">
            <a:avLst/>
          </a:prstGeom>
          <a:noFill/>
          <a:ln/>
        </p:spPr>
        <p:txBody>
          <a:bodyPr wrap="square" lIns="0" tIns="0" rIns="0" bIns="0" rtlCol="0" anchor="ctr"/>
          <a:lstStyle/>
          <a:p>
            <a:r>
              <a:rPr lang="en-US" sz="1533" b="1" dirty="0">
                <a:solidFill>
                  <a:srgbClr val="0A2342"/>
                </a:solidFill>
                <a:latin typeface="Calibri" pitchFamily="34" charset="0"/>
                <a:ea typeface="Calibri" pitchFamily="34" charset="-122"/>
                <a:cs typeface="Calibri" pitchFamily="34" charset="-120"/>
              </a:rPr>
              <a:t>DHS Weights Applied</a:t>
            </a:r>
            <a:endParaRPr lang="en-US" sz="1533" dirty="0"/>
          </a:p>
        </p:txBody>
      </p:sp>
      <p:sp>
        <p:nvSpPr>
          <p:cNvPr id="10" name="Text 8"/>
          <p:cNvSpPr/>
          <p:nvPr/>
        </p:nvSpPr>
        <p:spPr>
          <a:xfrm>
            <a:off x="1219200" y="2279904"/>
            <a:ext cx="4572000" cy="85344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Weight variable divided by 1,000,000 to generate nationally representative estimates for all three indicators.</a:t>
            </a:r>
            <a:endParaRPr lang="en-US" sz="1400" dirty="0"/>
          </a:p>
        </p:txBody>
      </p:sp>
      <p:sp>
        <p:nvSpPr>
          <p:cNvPr id="11" name="Shape 9"/>
          <p:cNvSpPr/>
          <p:nvPr/>
        </p:nvSpPr>
        <p:spPr>
          <a:xfrm>
            <a:off x="6339840" y="1767840"/>
            <a:ext cx="5486400" cy="1463040"/>
          </a:xfrm>
          <a:prstGeom prst="rect">
            <a:avLst/>
          </a:prstGeom>
          <a:solidFill>
            <a:srgbClr val="FFFFFF"/>
          </a:solidFill>
          <a:ln w="6350">
            <a:solidFill>
              <a:srgbClr val="DDE6EA"/>
            </a:solidFill>
            <a:prstDash val="solid"/>
          </a:ln>
          <a:effectLst>
            <a:outerShdw blurRad="50800" dist="12700" dir="8100000" algn="bl" rotWithShape="0">
              <a:srgbClr val="000000">
                <a:alpha val="6000"/>
              </a:srgbClr>
            </a:outerShdw>
          </a:effectLst>
        </p:spPr>
        <p:txBody>
          <a:bodyPr/>
          <a:lstStyle/>
          <a:p>
            <a:endParaRPr lang="en-US" sz="2400"/>
          </a:p>
        </p:txBody>
      </p:sp>
      <p:sp>
        <p:nvSpPr>
          <p:cNvPr id="12" name="Shape 10"/>
          <p:cNvSpPr/>
          <p:nvPr/>
        </p:nvSpPr>
        <p:spPr>
          <a:xfrm>
            <a:off x="6486144" y="2194560"/>
            <a:ext cx="512064" cy="512064"/>
          </a:xfrm>
          <a:prstGeom prst="ellipse">
            <a:avLst/>
          </a:prstGeom>
          <a:solidFill>
            <a:srgbClr val="028090"/>
          </a:solidFill>
          <a:ln w="12700">
            <a:solidFill>
              <a:srgbClr val="028090"/>
            </a:solidFill>
            <a:prstDash val="solid"/>
          </a:ln>
        </p:spPr>
        <p:txBody>
          <a:bodyPr/>
          <a:lstStyle/>
          <a:p>
            <a:endParaRPr lang="en-US" sz="2400"/>
          </a:p>
        </p:txBody>
      </p:sp>
      <p:sp>
        <p:nvSpPr>
          <p:cNvPr id="13" name="Text 11"/>
          <p:cNvSpPr/>
          <p:nvPr/>
        </p:nvSpPr>
        <p:spPr>
          <a:xfrm>
            <a:off x="6486144" y="2194560"/>
            <a:ext cx="512064" cy="512064"/>
          </a:xfrm>
          <a:prstGeom prst="rect">
            <a:avLst/>
          </a:prstGeom>
          <a:noFill/>
          <a:ln/>
        </p:spPr>
        <p:txBody>
          <a:bodyPr wrap="square" lIns="0" tIns="0" rIns="0" bIns="0" rtlCol="0" anchor="ctr"/>
          <a:lstStyle/>
          <a:p>
            <a:pPr algn="ctr"/>
            <a:r>
              <a:rPr lang="en-US" sz="1200" b="1" dirty="0">
                <a:solidFill>
                  <a:srgbClr val="FFFFFF"/>
                </a:solidFill>
              </a:rPr>
              <a:t>02</a:t>
            </a:r>
            <a:endParaRPr lang="en-US" sz="1200" dirty="0"/>
          </a:p>
        </p:txBody>
      </p:sp>
      <p:sp>
        <p:nvSpPr>
          <p:cNvPr id="14" name="Text 12"/>
          <p:cNvSpPr/>
          <p:nvPr/>
        </p:nvSpPr>
        <p:spPr>
          <a:xfrm>
            <a:off x="7132320" y="1889760"/>
            <a:ext cx="4572000" cy="365760"/>
          </a:xfrm>
          <a:prstGeom prst="rect">
            <a:avLst/>
          </a:prstGeom>
          <a:noFill/>
          <a:ln/>
        </p:spPr>
        <p:txBody>
          <a:bodyPr wrap="square" lIns="0" tIns="0" rIns="0" bIns="0" rtlCol="0" anchor="ctr"/>
          <a:lstStyle/>
          <a:p>
            <a:r>
              <a:rPr lang="en-US" sz="1533" b="1" dirty="0">
                <a:solidFill>
                  <a:srgbClr val="0A2342"/>
                </a:solidFill>
                <a:latin typeface="Calibri" pitchFamily="34" charset="0"/>
                <a:ea typeface="Calibri" pitchFamily="34" charset="-122"/>
                <a:cs typeface="Calibri" pitchFamily="34" charset="-120"/>
              </a:rPr>
              <a:t>Variable Harmonization</a:t>
            </a:r>
            <a:endParaRPr lang="en-US" sz="1533" dirty="0"/>
          </a:p>
        </p:txBody>
      </p:sp>
      <p:sp>
        <p:nvSpPr>
          <p:cNvPr id="15" name="Text 13"/>
          <p:cNvSpPr/>
          <p:nvPr/>
        </p:nvSpPr>
        <p:spPr>
          <a:xfrm>
            <a:off x="7132320" y="2279904"/>
            <a:ext cx="4572000" cy="85344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District names, wealth quintiles, education levels, and outcome variables aligned across DHS 2015–16 and DHS 2024 files.</a:t>
            </a:r>
            <a:endParaRPr lang="en-US" sz="1400" dirty="0"/>
          </a:p>
        </p:txBody>
      </p:sp>
      <p:sp>
        <p:nvSpPr>
          <p:cNvPr id="16" name="Shape 14"/>
          <p:cNvSpPr/>
          <p:nvPr/>
        </p:nvSpPr>
        <p:spPr>
          <a:xfrm>
            <a:off x="426720" y="3450336"/>
            <a:ext cx="5486400" cy="1463040"/>
          </a:xfrm>
          <a:prstGeom prst="rect">
            <a:avLst/>
          </a:prstGeom>
          <a:solidFill>
            <a:srgbClr val="FFFFFF"/>
          </a:solidFill>
          <a:ln w="6350">
            <a:solidFill>
              <a:srgbClr val="DDE6EA"/>
            </a:solidFill>
            <a:prstDash val="solid"/>
          </a:ln>
          <a:effectLst>
            <a:outerShdw blurRad="50800" dist="12700" dir="8100000" algn="bl" rotWithShape="0">
              <a:srgbClr val="000000">
                <a:alpha val="6000"/>
              </a:srgbClr>
            </a:outerShdw>
          </a:effectLst>
        </p:spPr>
        <p:txBody>
          <a:bodyPr/>
          <a:lstStyle/>
          <a:p>
            <a:endParaRPr lang="en-US" sz="2400"/>
          </a:p>
        </p:txBody>
      </p:sp>
      <p:sp>
        <p:nvSpPr>
          <p:cNvPr id="17" name="Shape 15"/>
          <p:cNvSpPr/>
          <p:nvPr/>
        </p:nvSpPr>
        <p:spPr>
          <a:xfrm>
            <a:off x="573024" y="3877056"/>
            <a:ext cx="512064" cy="512064"/>
          </a:xfrm>
          <a:prstGeom prst="ellipse">
            <a:avLst/>
          </a:prstGeom>
          <a:solidFill>
            <a:srgbClr val="028090"/>
          </a:solidFill>
          <a:ln w="12700">
            <a:solidFill>
              <a:srgbClr val="028090"/>
            </a:solidFill>
            <a:prstDash val="solid"/>
          </a:ln>
        </p:spPr>
        <p:txBody>
          <a:bodyPr/>
          <a:lstStyle/>
          <a:p>
            <a:endParaRPr lang="en-US" sz="2400"/>
          </a:p>
        </p:txBody>
      </p:sp>
      <p:sp>
        <p:nvSpPr>
          <p:cNvPr id="18" name="Text 16"/>
          <p:cNvSpPr/>
          <p:nvPr/>
        </p:nvSpPr>
        <p:spPr>
          <a:xfrm>
            <a:off x="573024" y="3877056"/>
            <a:ext cx="512064" cy="512064"/>
          </a:xfrm>
          <a:prstGeom prst="rect">
            <a:avLst/>
          </a:prstGeom>
          <a:noFill/>
          <a:ln/>
        </p:spPr>
        <p:txBody>
          <a:bodyPr wrap="square" lIns="0" tIns="0" rIns="0" bIns="0" rtlCol="0" anchor="ctr"/>
          <a:lstStyle/>
          <a:p>
            <a:pPr algn="ctr"/>
            <a:r>
              <a:rPr lang="en-US" sz="1200" b="1" dirty="0">
                <a:solidFill>
                  <a:srgbClr val="FFFFFF"/>
                </a:solidFill>
              </a:rPr>
              <a:t>03</a:t>
            </a:r>
            <a:endParaRPr lang="en-US" sz="1200" dirty="0"/>
          </a:p>
        </p:txBody>
      </p:sp>
      <p:sp>
        <p:nvSpPr>
          <p:cNvPr id="19" name="Text 17"/>
          <p:cNvSpPr/>
          <p:nvPr/>
        </p:nvSpPr>
        <p:spPr>
          <a:xfrm>
            <a:off x="1219200" y="3572256"/>
            <a:ext cx="4572000" cy="365760"/>
          </a:xfrm>
          <a:prstGeom prst="rect">
            <a:avLst/>
          </a:prstGeom>
          <a:noFill/>
          <a:ln/>
        </p:spPr>
        <p:txBody>
          <a:bodyPr wrap="square" lIns="0" tIns="0" rIns="0" bIns="0" rtlCol="0" anchor="ctr"/>
          <a:lstStyle/>
          <a:p>
            <a:r>
              <a:rPr lang="en-US" sz="1533" b="1" dirty="0">
                <a:solidFill>
                  <a:srgbClr val="0A2342"/>
                </a:solidFill>
                <a:latin typeface="Calibri" pitchFamily="34" charset="0"/>
                <a:ea typeface="Calibri" pitchFamily="34" charset="-122"/>
                <a:cs typeface="Calibri" pitchFamily="34" charset="-120"/>
              </a:rPr>
              <a:t>Missing Value Handling</a:t>
            </a:r>
            <a:endParaRPr lang="en-US" sz="1533" dirty="0"/>
          </a:p>
        </p:txBody>
      </p:sp>
      <p:sp>
        <p:nvSpPr>
          <p:cNvPr id="20" name="Text 18"/>
          <p:cNvSpPr/>
          <p:nvPr/>
        </p:nvSpPr>
        <p:spPr>
          <a:xfrm>
            <a:off x="1219200" y="3962400"/>
            <a:ext cx="4572000" cy="85344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Missing entries in ANC and PNC variables identified; cases with incomplete outcome data excluded from relevant models.</a:t>
            </a:r>
            <a:endParaRPr lang="en-US" sz="1400" dirty="0"/>
          </a:p>
        </p:txBody>
      </p:sp>
      <p:sp>
        <p:nvSpPr>
          <p:cNvPr id="21" name="Shape 19"/>
          <p:cNvSpPr/>
          <p:nvPr/>
        </p:nvSpPr>
        <p:spPr>
          <a:xfrm>
            <a:off x="6339840" y="3450336"/>
            <a:ext cx="5486400" cy="1463040"/>
          </a:xfrm>
          <a:prstGeom prst="rect">
            <a:avLst/>
          </a:prstGeom>
          <a:solidFill>
            <a:srgbClr val="FFFFFF"/>
          </a:solidFill>
          <a:ln w="6350">
            <a:solidFill>
              <a:srgbClr val="DDE6EA"/>
            </a:solidFill>
            <a:prstDash val="solid"/>
          </a:ln>
          <a:effectLst>
            <a:outerShdw blurRad="50800" dist="12700" dir="8100000" algn="bl" rotWithShape="0">
              <a:srgbClr val="000000">
                <a:alpha val="6000"/>
              </a:srgbClr>
            </a:outerShdw>
          </a:effectLst>
        </p:spPr>
        <p:txBody>
          <a:bodyPr/>
          <a:lstStyle/>
          <a:p>
            <a:endParaRPr lang="en-US" sz="2400"/>
          </a:p>
        </p:txBody>
      </p:sp>
      <p:sp>
        <p:nvSpPr>
          <p:cNvPr id="22" name="Shape 20"/>
          <p:cNvSpPr/>
          <p:nvPr/>
        </p:nvSpPr>
        <p:spPr>
          <a:xfrm>
            <a:off x="6486144" y="3877056"/>
            <a:ext cx="512064" cy="512064"/>
          </a:xfrm>
          <a:prstGeom prst="ellipse">
            <a:avLst/>
          </a:prstGeom>
          <a:solidFill>
            <a:srgbClr val="028090"/>
          </a:solidFill>
          <a:ln w="12700">
            <a:solidFill>
              <a:srgbClr val="028090"/>
            </a:solidFill>
            <a:prstDash val="solid"/>
          </a:ln>
        </p:spPr>
        <p:txBody>
          <a:bodyPr/>
          <a:lstStyle/>
          <a:p>
            <a:endParaRPr lang="en-US" sz="2400"/>
          </a:p>
        </p:txBody>
      </p:sp>
      <p:sp>
        <p:nvSpPr>
          <p:cNvPr id="23" name="Text 21"/>
          <p:cNvSpPr/>
          <p:nvPr/>
        </p:nvSpPr>
        <p:spPr>
          <a:xfrm>
            <a:off x="6486144" y="3877056"/>
            <a:ext cx="512064" cy="512064"/>
          </a:xfrm>
          <a:prstGeom prst="rect">
            <a:avLst/>
          </a:prstGeom>
          <a:noFill/>
          <a:ln/>
        </p:spPr>
        <p:txBody>
          <a:bodyPr wrap="square" lIns="0" tIns="0" rIns="0" bIns="0" rtlCol="0" anchor="ctr"/>
          <a:lstStyle/>
          <a:p>
            <a:pPr algn="ctr"/>
            <a:r>
              <a:rPr lang="en-US" sz="1200" b="1" dirty="0">
                <a:solidFill>
                  <a:srgbClr val="FFFFFF"/>
                </a:solidFill>
              </a:rPr>
              <a:t>04</a:t>
            </a:r>
            <a:endParaRPr lang="en-US" sz="1200" dirty="0"/>
          </a:p>
        </p:txBody>
      </p:sp>
      <p:sp>
        <p:nvSpPr>
          <p:cNvPr id="24" name="Text 22"/>
          <p:cNvSpPr/>
          <p:nvPr/>
        </p:nvSpPr>
        <p:spPr>
          <a:xfrm>
            <a:off x="7132320" y="3572256"/>
            <a:ext cx="4572000" cy="365760"/>
          </a:xfrm>
          <a:prstGeom prst="rect">
            <a:avLst/>
          </a:prstGeom>
          <a:noFill/>
          <a:ln/>
        </p:spPr>
        <p:txBody>
          <a:bodyPr wrap="square" lIns="0" tIns="0" rIns="0" bIns="0" rtlCol="0" anchor="ctr"/>
          <a:lstStyle/>
          <a:p>
            <a:r>
              <a:rPr lang="en-US" sz="1533" b="1" dirty="0">
                <a:solidFill>
                  <a:srgbClr val="0A2342"/>
                </a:solidFill>
                <a:latin typeface="Calibri" pitchFamily="34" charset="0"/>
                <a:ea typeface="Calibri" pitchFamily="34" charset="-122"/>
                <a:cs typeface="Calibri" pitchFamily="34" charset="-120"/>
              </a:rPr>
              <a:t>Binary Outcome Creation</a:t>
            </a:r>
            <a:endParaRPr lang="en-US" sz="1533" dirty="0"/>
          </a:p>
        </p:txBody>
      </p:sp>
      <p:sp>
        <p:nvSpPr>
          <p:cNvPr id="25" name="Text 23"/>
          <p:cNvSpPr/>
          <p:nvPr/>
        </p:nvSpPr>
        <p:spPr>
          <a:xfrm>
            <a:off x="7132320" y="3962400"/>
            <a:ext cx="4572000" cy="85344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ANC4+ (≥4 visits = 1), SBA (skilled provider at delivery = 1), PNC (postnatal care received = 1).</a:t>
            </a:r>
            <a:endParaRPr lang="en-US" sz="1400" dirty="0"/>
          </a:p>
        </p:txBody>
      </p:sp>
      <p:sp>
        <p:nvSpPr>
          <p:cNvPr id="26" name="Shape 24"/>
          <p:cNvSpPr/>
          <p:nvPr/>
        </p:nvSpPr>
        <p:spPr>
          <a:xfrm>
            <a:off x="426720" y="5132832"/>
            <a:ext cx="5486400" cy="1463040"/>
          </a:xfrm>
          <a:prstGeom prst="rect">
            <a:avLst/>
          </a:prstGeom>
          <a:solidFill>
            <a:srgbClr val="FFFFFF"/>
          </a:solidFill>
          <a:ln w="6350">
            <a:solidFill>
              <a:srgbClr val="DDE6EA"/>
            </a:solidFill>
            <a:prstDash val="solid"/>
          </a:ln>
          <a:effectLst>
            <a:outerShdw blurRad="50800" dist="12700" dir="8100000" algn="bl" rotWithShape="0">
              <a:srgbClr val="000000">
                <a:alpha val="6000"/>
              </a:srgbClr>
            </a:outerShdw>
          </a:effectLst>
        </p:spPr>
        <p:txBody>
          <a:bodyPr/>
          <a:lstStyle/>
          <a:p>
            <a:endParaRPr lang="en-US" sz="2400"/>
          </a:p>
        </p:txBody>
      </p:sp>
      <p:sp>
        <p:nvSpPr>
          <p:cNvPr id="27" name="Shape 25"/>
          <p:cNvSpPr/>
          <p:nvPr/>
        </p:nvSpPr>
        <p:spPr>
          <a:xfrm>
            <a:off x="573024" y="5559552"/>
            <a:ext cx="512064" cy="512064"/>
          </a:xfrm>
          <a:prstGeom prst="ellipse">
            <a:avLst/>
          </a:prstGeom>
          <a:solidFill>
            <a:srgbClr val="028090"/>
          </a:solidFill>
          <a:ln w="12700">
            <a:solidFill>
              <a:srgbClr val="028090"/>
            </a:solidFill>
            <a:prstDash val="solid"/>
          </a:ln>
        </p:spPr>
        <p:txBody>
          <a:bodyPr/>
          <a:lstStyle/>
          <a:p>
            <a:endParaRPr lang="en-US" sz="2400"/>
          </a:p>
        </p:txBody>
      </p:sp>
      <p:sp>
        <p:nvSpPr>
          <p:cNvPr id="28" name="Text 26"/>
          <p:cNvSpPr/>
          <p:nvPr/>
        </p:nvSpPr>
        <p:spPr>
          <a:xfrm>
            <a:off x="573024" y="5559552"/>
            <a:ext cx="512064" cy="512064"/>
          </a:xfrm>
          <a:prstGeom prst="rect">
            <a:avLst/>
          </a:prstGeom>
          <a:noFill/>
          <a:ln/>
        </p:spPr>
        <p:txBody>
          <a:bodyPr wrap="square" lIns="0" tIns="0" rIns="0" bIns="0" rtlCol="0" anchor="ctr"/>
          <a:lstStyle/>
          <a:p>
            <a:pPr algn="ctr"/>
            <a:r>
              <a:rPr lang="en-US" sz="1200" b="1" dirty="0">
                <a:solidFill>
                  <a:srgbClr val="FFFFFF"/>
                </a:solidFill>
              </a:rPr>
              <a:t>05</a:t>
            </a:r>
            <a:endParaRPr lang="en-US" sz="1200" dirty="0"/>
          </a:p>
        </p:txBody>
      </p:sp>
      <p:sp>
        <p:nvSpPr>
          <p:cNvPr id="29" name="Text 27"/>
          <p:cNvSpPr/>
          <p:nvPr/>
        </p:nvSpPr>
        <p:spPr>
          <a:xfrm>
            <a:off x="1219200" y="5254752"/>
            <a:ext cx="4572000" cy="365760"/>
          </a:xfrm>
          <a:prstGeom prst="rect">
            <a:avLst/>
          </a:prstGeom>
          <a:noFill/>
          <a:ln/>
        </p:spPr>
        <p:txBody>
          <a:bodyPr wrap="square" lIns="0" tIns="0" rIns="0" bIns="0" rtlCol="0" anchor="ctr"/>
          <a:lstStyle/>
          <a:p>
            <a:r>
              <a:rPr lang="en-US" sz="1533" b="1" dirty="0">
                <a:solidFill>
                  <a:srgbClr val="0A2342"/>
                </a:solidFill>
                <a:latin typeface="Calibri" pitchFamily="34" charset="0"/>
                <a:ea typeface="Calibri" pitchFamily="34" charset="-122"/>
                <a:cs typeface="Calibri" pitchFamily="34" charset="-120"/>
              </a:rPr>
              <a:t>Spatial Boundary Join</a:t>
            </a:r>
            <a:endParaRPr lang="en-US" sz="1533" dirty="0"/>
          </a:p>
        </p:txBody>
      </p:sp>
      <p:sp>
        <p:nvSpPr>
          <p:cNvPr id="30" name="Text 28"/>
          <p:cNvSpPr/>
          <p:nvPr/>
        </p:nvSpPr>
        <p:spPr>
          <a:xfrm>
            <a:off x="1219200" y="5644896"/>
            <a:ext cx="4572000" cy="85344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District centroids from GADM merged with DHS district-level summaries; district name discrepancies manually resolved.</a:t>
            </a:r>
            <a:endParaRPr lang="en-US" sz="1400" dirty="0"/>
          </a:p>
        </p:txBody>
      </p:sp>
      <p:sp>
        <p:nvSpPr>
          <p:cNvPr id="31" name="Shape 29"/>
          <p:cNvSpPr/>
          <p:nvPr/>
        </p:nvSpPr>
        <p:spPr>
          <a:xfrm>
            <a:off x="6339840" y="5132832"/>
            <a:ext cx="5486400" cy="1463040"/>
          </a:xfrm>
          <a:prstGeom prst="rect">
            <a:avLst/>
          </a:prstGeom>
          <a:solidFill>
            <a:srgbClr val="FFFFFF"/>
          </a:solidFill>
          <a:ln w="6350">
            <a:solidFill>
              <a:srgbClr val="DDE6EA"/>
            </a:solidFill>
            <a:prstDash val="solid"/>
          </a:ln>
          <a:effectLst>
            <a:outerShdw blurRad="50800" dist="12700" dir="8100000" algn="bl" rotWithShape="0">
              <a:srgbClr val="000000">
                <a:alpha val="6000"/>
              </a:srgbClr>
            </a:outerShdw>
          </a:effectLst>
        </p:spPr>
        <p:txBody>
          <a:bodyPr/>
          <a:lstStyle/>
          <a:p>
            <a:endParaRPr lang="en-US" sz="2400"/>
          </a:p>
        </p:txBody>
      </p:sp>
      <p:sp>
        <p:nvSpPr>
          <p:cNvPr id="32" name="Shape 30"/>
          <p:cNvSpPr/>
          <p:nvPr/>
        </p:nvSpPr>
        <p:spPr>
          <a:xfrm>
            <a:off x="6486144" y="5559552"/>
            <a:ext cx="512064" cy="512064"/>
          </a:xfrm>
          <a:prstGeom prst="ellipse">
            <a:avLst/>
          </a:prstGeom>
          <a:solidFill>
            <a:srgbClr val="028090"/>
          </a:solidFill>
          <a:ln w="12700">
            <a:solidFill>
              <a:srgbClr val="028090"/>
            </a:solidFill>
            <a:prstDash val="solid"/>
          </a:ln>
        </p:spPr>
        <p:txBody>
          <a:bodyPr/>
          <a:lstStyle/>
          <a:p>
            <a:endParaRPr lang="en-US" sz="2400"/>
          </a:p>
        </p:txBody>
      </p:sp>
      <p:sp>
        <p:nvSpPr>
          <p:cNvPr id="33" name="Text 31"/>
          <p:cNvSpPr/>
          <p:nvPr/>
        </p:nvSpPr>
        <p:spPr>
          <a:xfrm>
            <a:off x="6486144" y="5559552"/>
            <a:ext cx="512064" cy="512064"/>
          </a:xfrm>
          <a:prstGeom prst="rect">
            <a:avLst/>
          </a:prstGeom>
          <a:noFill/>
          <a:ln/>
        </p:spPr>
        <p:txBody>
          <a:bodyPr wrap="square" lIns="0" tIns="0" rIns="0" bIns="0" rtlCol="0" anchor="ctr"/>
          <a:lstStyle/>
          <a:p>
            <a:pPr algn="ctr"/>
            <a:r>
              <a:rPr lang="en-US" sz="1200" b="1" dirty="0">
                <a:solidFill>
                  <a:srgbClr val="FFFFFF"/>
                </a:solidFill>
              </a:rPr>
              <a:t>06</a:t>
            </a:r>
            <a:endParaRPr lang="en-US" sz="1200" dirty="0"/>
          </a:p>
        </p:txBody>
      </p:sp>
      <p:sp>
        <p:nvSpPr>
          <p:cNvPr id="34" name="Text 32"/>
          <p:cNvSpPr/>
          <p:nvPr/>
        </p:nvSpPr>
        <p:spPr>
          <a:xfrm>
            <a:off x="7132320" y="5254752"/>
            <a:ext cx="4572000" cy="365760"/>
          </a:xfrm>
          <a:prstGeom prst="rect">
            <a:avLst/>
          </a:prstGeom>
          <a:noFill/>
          <a:ln/>
        </p:spPr>
        <p:txBody>
          <a:bodyPr wrap="square" lIns="0" tIns="0" rIns="0" bIns="0" rtlCol="0" anchor="ctr"/>
          <a:lstStyle/>
          <a:p>
            <a:r>
              <a:rPr lang="en-US" sz="1533" b="1" dirty="0">
                <a:solidFill>
                  <a:srgbClr val="0A2342"/>
                </a:solidFill>
                <a:latin typeface="Calibri" pitchFamily="34" charset="0"/>
                <a:ea typeface="Calibri" pitchFamily="34" charset="-122"/>
                <a:cs typeface="Calibri" pitchFamily="34" charset="-120"/>
              </a:rPr>
              <a:t>Class Imbalance — SBA Model</a:t>
            </a:r>
            <a:endParaRPr lang="en-US" sz="1533" dirty="0"/>
          </a:p>
        </p:txBody>
      </p:sp>
      <p:sp>
        <p:nvSpPr>
          <p:cNvPr id="35" name="Text 33"/>
          <p:cNvSpPr/>
          <p:nvPr/>
        </p:nvSpPr>
        <p:spPr>
          <a:xfrm>
            <a:off x="7132320" y="5644896"/>
            <a:ext cx="4572000" cy="85344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Severe class imbalance corrected using class_weight='balanced' in scikit-learn logistic regression.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92608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926080" cy="341376"/>
          </a:xfrm>
          <a:prstGeom prst="rect">
            <a:avLst/>
          </a:prstGeom>
          <a:noFill/>
          <a:ln/>
        </p:spPr>
        <p:txBody>
          <a:bodyPr wrap="square" lIns="0" tIns="0" rIns="0" bIns="0" rtlCol="0" anchor="ctr"/>
          <a:lstStyle/>
          <a:p>
            <a:pPr algn="ctr"/>
            <a:r>
              <a:rPr lang="en-US" sz="1067" b="1" dirty="0">
                <a:solidFill>
                  <a:srgbClr val="FFFFFF"/>
                </a:solidFill>
              </a:rPr>
              <a:t>DESCRIPTIVE STATISTICS</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solidFill>
                  <a:srgbClr val="0A2342"/>
                </a:solidFill>
                <a:latin typeface="Calibri" pitchFamily="34" charset="0"/>
                <a:ea typeface="Calibri" pitchFamily="34" charset="-122"/>
                <a:cs typeface="Calibri" pitchFamily="34" charset="-120"/>
              </a:rPr>
              <a:t>National Coverage Trends: 2015–2024</a:t>
            </a:r>
            <a:endParaRPr lang="en-US" sz="3200" dirty="0"/>
          </a:p>
        </p:txBody>
      </p:sp>
      <p:sp>
        <p:nvSpPr>
          <p:cNvPr id="5" name="Shape 3"/>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sp>
        <p:nvSpPr>
          <p:cNvPr id="6" name="Text 4"/>
          <p:cNvSpPr/>
          <p:nvPr/>
        </p:nvSpPr>
        <p:spPr>
          <a:xfrm>
            <a:off x="426720" y="1402080"/>
            <a:ext cx="11338560" cy="365760"/>
          </a:xfrm>
          <a:prstGeom prst="rect">
            <a:avLst/>
          </a:prstGeom>
          <a:noFill/>
          <a:ln/>
        </p:spPr>
        <p:txBody>
          <a:bodyPr wrap="square" lIns="0" tIns="0" rIns="0" bIns="0" rtlCol="0" anchor="ctr"/>
          <a:lstStyle/>
          <a:p>
            <a:r>
              <a:rPr lang="en-US" sz="1733" dirty="0">
                <a:solidFill>
                  <a:srgbClr val="475569"/>
                </a:solidFill>
                <a:latin typeface="Calibri" pitchFamily="34" charset="0"/>
                <a:ea typeface="Calibri" pitchFamily="34" charset="-122"/>
                <a:cs typeface="Calibri" pitchFamily="34" charset="-120"/>
              </a:rPr>
              <a:t>Three key maternal health indicators compared across DHS survey rounds</a:t>
            </a:r>
            <a:endParaRPr lang="en-US" sz="1733" dirty="0"/>
          </a:p>
        </p:txBody>
      </p:sp>
      <p:graphicFrame>
        <p:nvGraphicFramePr>
          <p:cNvPr id="7" name="Chart 0"/>
          <p:cNvGraphicFramePr/>
          <p:nvPr/>
        </p:nvGraphicFramePr>
        <p:xfrm>
          <a:off x="426720" y="1804416"/>
          <a:ext cx="7071360" cy="43281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741920" y="1804416"/>
            <a:ext cx="4023360" cy="1341120"/>
          </a:xfrm>
          <a:prstGeom prst="rect">
            <a:avLst/>
          </a:prstGeom>
          <a:solidFill>
            <a:srgbClr val="FFFFFF"/>
          </a:solidFill>
          <a:ln w="6350">
            <a:solidFill>
              <a:srgbClr val="DDE6EA"/>
            </a:solidFill>
            <a:prstDash val="solid"/>
          </a:ln>
          <a:effectLst>
            <a:outerShdw blurRad="63500" dist="25400" dir="8100000" algn="bl" rotWithShape="0">
              <a:srgbClr val="000000">
                <a:alpha val="7000"/>
              </a:srgbClr>
            </a:outerShdw>
          </a:effectLst>
        </p:spPr>
        <p:txBody>
          <a:bodyPr/>
          <a:lstStyle/>
          <a:p>
            <a:endParaRPr lang="en-US" sz="2400"/>
          </a:p>
        </p:txBody>
      </p:sp>
      <p:sp>
        <p:nvSpPr>
          <p:cNvPr id="9" name="Shape 6"/>
          <p:cNvSpPr/>
          <p:nvPr/>
        </p:nvSpPr>
        <p:spPr>
          <a:xfrm>
            <a:off x="7741920" y="1804416"/>
            <a:ext cx="109728" cy="1341120"/>
          </a:xfrm>
          <a:prstGeom prst="rect">
            <a:avLst/>
          </a:prstGeom>
          <a:solidFill>
            <a:srgbClr val="028090"/>
          </a:solidFill>
          <a:ln w="12700">
            <a:solidFill>
              <a:srgbClr val="028090"/>
            </a:solidFill>
            <a:prstDash val="solid"/>
          </a:ln>
        </p:spPr>
        <p:txBody>
          <a:bodyPr/>
          <a:lstStyle/>
          <a:p>
            <a:endParaRPr lang="en-US" sz="2400"/>
          </a:p>
        </p:txBody>
      </p:sp>
      <p:sp>
        <p:nvSpPr>
          <p:cNvPr id="10" name="Text 7"/>
          <p:cNvSpPr/>
          <p:nvPr/>
        </p:nvSpPr>
        <p:spPr>
          <a:xfrm>
            <a:off x="7985760" y="1901952"/>
            <a:ext cx="3657600" cy="316992"/>
          </a:xfrm>
          <a:prstGeom prst="rect">
            <a:avLst/>
          </a:prstGeom>
          <a:noFill/>
          <a:ln/>
        </p:spPr>
        <p:txBody>
          <a:bodyPr wrap="square" lIns="0" tIns="0" rIns="0" bIns="0" rtlCol="0" anchor="ctr"/>
          <a:lstStyle/>
          <a:p>
            <a:r>
              <a:rPr lang="en-US" sz="1467" b="1" dirty="0">
                <a:solidFill>
                  <a:srgbClr val="0A2342"/>
                </a:solidFill>
                <a:latin typeface="Calibri" pitchFamily="34" charset="0"/>
                <a:ea typeface="Calibri" pitchFamily="34" charset="-122"/>
                <a:cs typeface="Calibri" pitchFamily="34" charset="-120"/>
              </a:rPr>
              <a:t>ANC4+</a:t>
            </a:r>
            <a:endParaRPr lang="en-US" sz="1467" dirty="0"/>
          </a:p>
        </p:txBody>
      </p:sp>
      <p:sp>
        <p:nvSpPr>
          <p:cNvPr id="11" name="Text 8"/>
          <p:cNvSpPr/>
          <p:nvPr/>
        </p:nvSpPr>
        <p:spPr>
          <a:xfrm>
            <a:off x="7985760" y="2218944"/>
            <a:ext cx="3657600" cy="512064"/>
          </a:xfrm>
          <a:prstGeom prst="rect">
            <a:avLst/>
          </a:prstGeom>
          <a:noFill/>
          <a:ln/>
        </p:spPr>
        <p:txBody>
          <a:bodyPr wrap="square" lIns="0" tIns="0" rIns="0" bIns="0" rtlCol="0" anchor="ctr"/>
          <a:lstStyle/>
          <a:p>
            <a:r>
              <a:rPr lang="en-US" sz="2933" b="1" dirty="0">
                <a:solidFill>
                  <a:srgbClr val="028090"/>
                </a:solidFill>
                <a:latin typeface="Calibri" pitchFamily="34" charset="0"/>
                <a:ea typeface="Calibri" pitchFamily="34" charset="-122"/>
                <a:cs typeface="Calibri" pitchFamily="34" charset="-120"/>
              </a:rPr>
              <a:t>+12.1 pp</a:t>
            </a:r>
            <a:endParaRPr lang="en-US" sz="2933" dirty="0"/>
          </a:p>
        </p:txBody>
      </p:sp>
      <p:sp>
        <p:nvSpPr>
          <p:cNvPr id="12" name="Text 9"/>
          <p:cNvSpPr/>
          <p:nvPr/>
        </p:nvSpPr>
        <p:spPr>
          <a:xfrm>
            <a:off x="7985760" y="2731008"/>
            <a:ext cx="3657600" cy="316992"/>
          </a:xfrm>
          <a:prstGeom prst="rect">
            <a:avLst/>
          </a:prstGeom>
          <a:noFill/>
          <a:ln/>
        </p:spPr>
        <p:txBody>
          <a:bodyPr wrap="square" lIns="0" tIns="0" rIns="0" bIns="0" rtlCol="0" anchor="ctr"/>
          <a:lstStyle/>
          <a:p>
            <a:r>
              <a:rPr lang="en-US" sz="1333" dirty="0">
                <a:solidFill>
                  <a:srgbClr val="94A3B8"/>
                </a:solidFill>
                <a:latin typeface="Calibri" pitchFamily="34" charset="0"/>
                <a:ea typeface="Calibri" pitchFamily="34" charset="-122"/>
                <a:cs typeface="Calibri" pitchFamily="34" charset="-120"/>
              </a:rPr>
              <a:t>51.0% → 63.1%</a:t>
            </a:r>
            <a:endParaRPr lang="en-US" sz="1333" dirty="0"/>
          </a:p>
        </p:txBody>
      </p:sp>
      <p:sp>
        <p:nvSpPr>
          <p:cNvPr id="13" name="Shape 10"/>
          <p:cNvSpPr/>
          <p:nvPr/>
        </p:nvSpPr>
        <p:spPr>
          <a:xfrm>
            <a:off x="7741920" y="3243072"/>
            <a:ext cx="4023360" cy="1341120"/>
          </a:xfrm>
          <a:prstGeom prst="rect">
            <a:avLst/>
          </a:prstGeom>
          <a:solidFill>
            <a:srgbClr val="FFFFFF"/>
          </a:solidFill>
          <a:ln w="6350">
            <a:solidFill>
              <a:srgbClr val="DDE6EA"/>
            </a:solidFill>
            <a:prstDash val="solid"/>
          </a:ln>
          <a:effectLst>
            <a:outerShdw blurRad="63500" dist="25400" dir="8100000" algn="bl" rotWithShape="0">
              <a:srgbClr val="000000">
                <a:alpha val="7000"/>
              </a:srgbClr>
            </a:outerShdw>
          </a:effectLst>
        </p:spPr>
        <p:txBody>
          <a:bodyPr/>
          <a:lstStyle/>
          <a:p>
            <a:endParaRPr lang="en-US" sz="2400"/>
          </a:p>
        </p:txBody>
      </p:sp>
      <p:sp>
        <p:nvSpPr>
          <p:cNvPr id="14" name="Shape 11"/>
          <p:cNvSpPr/>
          <p:nvPr/>
        </p:nvSpPr>
        <p:spPr>
          <a:xfrm>
            <a:off x="7741920" y="3243072"/>
            <a:ext cx="109728" cy="1341120"/>
          </a:xfrm>
          <a:prstGeom prst="rect">
            <a:avLst/>
          </a:prstGeom>
          <a:solidFill>
            <a:srgbClr val="E63946"/>
          </a:solidFill>
          <a:ln w="12700">
            <a:solidFill>
              <a:srgbClr val="E63946"/>
            </a:solidFill>
            <a:prstDash val="solid"/>
          </a:ln>
        </p:spPr>
        <p:txBody>
          <a:bodyPr/>
          <a:lstStyle/>
          <a:p>
            <a:endParaRPr lang="en-US" sz="2400"/>
          </a:p>
        </p:txBody>
      </p:sp>
      <p:sp>
        <p:nvSpPr>
          <p:cNvPr id="15" name="Text 12"/>
          <p:cNvSpPr/>
          <p:nvPr/>
        </p:nvSpPr>
        <p:spPr>
          <a:xfrm>
            <a:off x="7985760" y="3340608"/>
            <a:ext cx="3657600" cy="316992"/>
          </a:xfrm>
          <a:prstGeom prst="rect">
            <a:avLst/>
          </a:prstGeom>
          <a:noFill/>
          <a:ln/>
        </p:spPr>
        <p:txBody>
          <a:bodyPr wrap="square" lIns="0" tIns="0" rIns="0" bIns="0" rtlCol="0" anchor="ctr"/>
          <a:lstStyle/>
          <a:p>
            <a:r>
              <a:rPr lang="en-US" sz="1467" b="1" dirty="0">
                <a:solidFill>
                  <a:srgbClr val="0A2342"/>
                </a:solidFill>
                <a:latin typeface="Calibri" pitchFamily="34" charset="0"/>
                <a:ea typeface="Calibri" pitchFamily="34" charset="-122"/>
                <a:cs typeface="Calibri" pitchFamily="34" charset="-120"/>
              </a:rPr>
              <a:t>SBA </a:t>
            </a:r>
            <a:endParaRPr lang="en-US" sz="1467" dirty="0"/>
          </a:p>
        </p:txBody>
      </p:sp>
      <p:sp>
        <p:nvSpPr>
          <p:cNvPr id="16" name="Text 13"/>
          <p:cNvSpPr/>
          <p:nvPr/>
        </p:nvSpPr>
        <p:spPr>
          <a:xfrm>
            <a:off x="7985760" y="3657600"/>
            <a:ext cx="3657600" cy="512064"/>
          </a:xfrm>
          <a:prstGeom prst="rect">
            <a:avLst/>
          </a:prstGeom>
          <a:noFill/>
          <a:ln/>
        </p:spPr>
        <p:txBody>
          <a:bodyPr wrap="square" lIns="0" tIns="0" rIns="0" bIns="0" rtlCol="0" anchor="ctr"/>
          <a:lstStyle/>
          <a:p>
            <a:r>
              <a:rPr lang="en-US" sz="2933" b="1" dirty="0">
                <a:solidFill>
                  <a:srgbClr val="E63946"/>
                </a:solidFill>
                <a:latin typeface="Calibri" pitchFamily="34" charset="0"/>
                <a:ea typeface="Calibri" pitchFamily="34" charset="-122"/>
                <a:cs typeface="Calibri" pitchFamily="34" charset="-120"/>
              </a:rPr>
              <a:t>−16.7 pp</a:t>
            </a:r>
            <a:endParaRPr lang="en-US" sz="2933" dirty="0"/>
          </a:p>
        </p:txBody>
      </p:sp>
      <p:sp>
        <p:nvSpPr>
          <p:cNvPr id="17" name="Text 14"/>
          <p:cNvSpPr/>
          <p:nvPr/>
        </p:nvSpPr>
        <p:spPr>
          <a:xfrm>
            <a:off x="7985760" y="4169664"/>
            <a:ext cx="3657600" cy="316992"/>
          </a:xfrm>
          <a:prstGeom prst="rect">
            <a:avLst/>
          </a:prstGeom>
          <a:noFill/>
          <a:ln/>
        </p:spPr>
        <p:txBody>
          <a:bodyPr wrap="square" lIns="0" tIns="0" rIns="0" bIns="0" rtlCol="0" anchor="ctr"/>
          <a:lstStyle/>
          <a:p>
            <a:r>
              <a:rPr lang="en-US" sz="1333" dirty="0">
                <a:solidFill>
                  <a:srgbClr val="94A3B8"/>
                </a:solidFill>
                <a:latin typeface="Calibri" pitchFamily="34" charset="0"/>
                <a:ea typeface="Calibri" pitchFamily="34" charset="-122"/>
                <a:cs typeface="Calibri" pitchFamily="34" charset="-120"/>
              </a:rPr>
              <a:t>49.7% → 33.0%</a:t>
            </a:r>
            <a:endParaRPr lang="en-US" sz="1333" dirty="0"/>
          </a:p>
        </p:txBody>
      </p:sp>
      <p:sp>
        <p:nvSpPr>
          <p:cNvPr id="18" name="Shape 15"/>
          <p:cNvSpPr/>
          <p:nvPr/>
        </p:nvSpPr>
        <p:spPr>
          <a:xfrm>
            <a:off x="7741920" y="4681728"/>
            <a:ext cx="4023360" cy="1341120"/>
          </a:xfrm>
          <a:prstGeom prst="rect">
            <a:avLst/>
          </a:prstGeom>
          <a:solidFill>
            <a:srgbClr val="FFFFFF"/>
          </a:solidFill>
          <a:ln w="6350">
            <a:solidFill>
              <a:srgbClr val="DDE6EA"/>
            </a:solidFill>
            <a:prstDash val="solid"/>
          </a:ln>
          <a:effectLst>
            <a:outerShdw blurRad="63500" dist="25400" dir="8100000" algn="bl" rotWithShape="0">
              <a:srgbClr val="000000">
                <a:alpha val="7000"/>
              </a:srgbClr>
            </a:outerShdw>
          </a:effectLst>
        </p:spPr>
        <p:txBody>
          <a:bodyPr/>
          <a:lstStyle/>
          <a:p>
            <a:endParaRPr lang="en-US" sz="2400"/>
          </a:p>
        </p:txBody>
      </p:sp>
      <p:sp>
        <p:nvSpPr>
          <p:cNvPr id="19" name="Shape 16"/>
          <p:cNvSpPr/>
          <p:nvPr/>
        </p:nvSpPr>
        <p:spPr>
          <a:xfrm>
            <a:off x="7741920" y="4681728"/>
            <a:ext cx="109728" cy="1341120"/>
          </a:xfrm>
          <a:prstGeom prst="rect">
            <a:avLst/>
          </a:prstGeom>
          <a:solidFill>
            <a:srgbClr val="1C7293"/>
          </a:solidFill>
          <a:ln w="12700">
            <a:solidFill>
              <a:srgbClr val="1C7293"/>
            </a:solidFill>
            <a:prstDash val="solid"/>
          </a:ln>
        </p:spPr>
        <p:txBody>
          <a:bodyPr/>
          <a:lstStyle/>
          <a:p>
            <a:endParaRPr lang="en-US" sz="2400"/>
          </a:p>
        </p:txBody>
      </p:sp>
      <p:sp>
        <p:nvSpPr>
          <p:cNvPr id="20" name="Text 17"/>
          <p:cNvSpPr/>
          <p:nvPr/>
        </p:nvSpPr>
        <p:spPr>
          <a:xfrm>
            <a:off x="7985760" y="4779264"/>
            <a:ext cx="3657600" cy="316992"/>
          </a:xfrm>
          <a:prstGeom prst="rect">
            <a:avLst/>
          </a:prstGeom>
          <a:noFill/>
          <a:ln/>
        </p:spPr>
        <p:txBody>
          <a:bodyPr wrap="square" lIns="0" tIns="0" rIns="0" bIns="0" rtlCol="0" anchor="ctr"/>
          <a:lstStyle/>
          <a:p>
            <a:r>
              <a:rPr lang="en-US" sz="1467" b="1" dirty="0">
                <a:solidFill>
                  <a:srgbClr val="0A2342"/>
                </a:solidFill>
                <a:latin typeface="Calibri" pitchFamily="34" charset="0"/>
                <a:ea typeface="Calibri" pitchFamily="34" charset="-122"/>
                <a:cs typeface="Calibri" pitchFamily="34" charset="-120"/>
              </a:rPr>
              <a:t>PNC</a:t>
            </a:r>
            <a:endParaRPr lang="en-US" sz="1467" dirty="0"/>
          </a:p>
        </p:txBody>
      </p:sp>
      <p:sp>
        <p:nvSpPr>
          <p:cNvPr id="21" name="Text 18"/>
          <p:cNvSpPr/>
          <p:nvPr/>
        </p:nvSpPr>
        <p:spPr>
          <a:xfrm>
            <a:off x="7985760" y="5096256"/>
            <a:ext cx="3657600" cy="512064"/>
          </a:xfrm>
          <a:prstGeom prst="rect">
            <a:avLst/>
          </a:prstGeom>
          <a:noFill/>
          <a:ln/>
        </p:spPr>
        <p:txBody>
          <a:bodyPr wrap="square" lIns="0" tIns="0" rIns="0" bIns="0" rtlCol="0" anchor="ctr"/>
          <a:lstStyle/>
          <a:p>
            <a:r>
              <a:rPr lang="en-US" sz="2933" b="1" dirty="0">
                <a:solidFill>
                  <a:srgbClr val="1C7293"/>
                </a:solidFill>
                <a:latin typeface="Calibri" pitchFamily="34" charset="0"/>
                <a:ea typeface="Calibri" pitchFamily="34" charset="-122"/>
                <a:cs typeface="Calibri" pitchFamily="34" charset="-120"/>
              </a:rPr>
              <a:t>≈ stable</a:t>
            </a:r>
            <a:endParaRPr lang="en-US" sz="2933" dirty="0"/>
          </a:p>
        </p:txBody>
      </p:sp>
      <p:sp>
        <p:nvSpPr>
          <p:cNvPr id="22" name="Text 19"/>
          <p:cNvSpPr/>
          <p:nvPr/>
        </p:nvSpPr>
        <p:spPr>
          <a:xfrm>
            <a:off x="7985760" y="5608320"/>
            <a:ext cx="3657600" cy="316992"/>
          </a:xfrm>
          <a:prstGeom prst="rect">
            <a:avLst/>
          </a:prstGeom>
          <a:noFill/>
          <a:ln/>
        </p:spPr>
        <p:txBody>
          <a:bodyPr wrap="square" lIns="0" tIns="0" rIns="0" bIns="0" rtlCol="0" anchor="ctr"/>
          <a:lstStyle/>
          <a:p>
            <a:r>
              <a:rPr lang="en-US" sz="1333" dirty="0">
                <a:solidFill>
                  <a:srgbClr val="94A3B8"/>
                </a:solidFill>
                <a:latin typeface="Calibri" pitchFamily="34" charset="0"/>
                <a:ea typeface="Calibri" pitchFamily="34" charset="-122"/>
                <a:cs typeface="Calibri" pitchFamily="34" charset="-120"/>
              </a:rPr>
              <a:t>99.5% → 99.3%</a:t>
            </a:r>
            <a:endParaRPr lang="en-US" sz="133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EQUITY ANALYSIS</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solidFill>
                  <a:srgbClr val="0A2342"/>
                </a:solidFill>
                <a:latin typeface="Calibri" pitchFamily="34" charset="0"/>
                <a:ea typeface="Calibri" pitchFamily="34" charset="-122"/>
                <a:cs typeface="Calibri" pitchFamily="34" charset="-120"/>
              </a:rPr>
              <a:t>Persistent Disparities: Who Is Being Left Behind?</a:t>
            </a:r>
            <a:endParaRPr lang="en-US" sz="3200" dirty="0"/>
          </a:p>
        </p:txBody>
      </p:sp>
      <p:sp>
        <p:nvSpPr>
          <p:cNvPr id="5" name="Text 3"/>
          <p:cNvSpPr/>
          <p:nvPr/>
        </p:nvSpPr>
        <p:spPr>
          <a:xfrm>
            <a:off x="426720" y="1402080"/>
            <a:ext cx="11338560" cy="426720"/>
          </a:xfrm>
          <a:prstGeom prst="rect">
            <a:avLst/>
          </a:prstGeom>
          <a:noFill/>
          <a:ln/>
        </p:spPr>
        <p:txBody>
          <a:bodyPr wrap="square" lIns="0" tIns="0" rIns="0" bIns="0" rtlCol="0" anchor="ctr"/>
          <a:lstStyle/>
          <a:p>
            <a:r>
              <a:rPr lang="en-US" sz="1733" dirty="0">
                <a:solidFill>
                  <a:srgbClr val="475569"/>
                </a:solidFill>
                <a:latin typeface="Calibri" pitchFamily="34" charset="0"/>
                <a:ea typeface="Calibri" pitchFamily="34" charset="-122"/>
                <a:cs typeface="Calibri" pitchFamily="34" charset="-120"/>
              </a:rPr>
              <a:t>ANC4+ and SBA coverage by wealth quintile, education, and residence (DHS 2024)</a:t>
            </a:r>
            <a:endParaRPr lang="en-US" sz="1733" dirty="0"/>
          </a:p>
        </p:txBody>
      </p:sp>
      <p:sp>
        <p:nvSpPr>
          <p:cNvPr id="6" name="Shape 4"/>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graphicFrame>
        <p:nvGraphicFramePr>
          <p:cNvPr id="7" name="Chart 0"/>
          <p:cNvGraphicFramePr/>
          <p:nvPr/>
        </p:nvGraphicFramePr>
        <p:xfrm>
          <a:off x="426720" y="1767840"/>
          <a:ext cx="548640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nvGraphicFramePr>
        <p:xfrm>
          <a:off x="6339840" y="1767840"/>
          <a:ext cx="54864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426720" y="5023104"/>
            <a:ext cx="3718560" cy="1524000"/>
          </a:xfrm>
          <a:prstGeom prst="rect">
            <a:avLst/>
          </a:prstGeom>
          <a:solidFill>
            <a:srgbClr val="0A2342"/>
          </a:solidFill>
          <a:ln w="12700">
            <a:solidFill>
              <a:srgbClr val="0A2342"/>
            </a:solidFill>
            <a:prstDash val="solid"/>
          </a:ln>
          <a:effectLst>
            <a:outerShdw blurRad="63500" dist="25400" dir="8100000" algn="bl" rotWithShape="0">
              <a:srgbClr val="000000">
                <a:alpha val="10000"/>
              </a:srgbClr>
            </a:outerShdw>
          </a:effectLst>
        </p:spPr>
        <p:txBody>
          <a:bodyPr/>
          <a:lstStyle/>
          <a:p>
            <a:endParaRPr lang="en-US" sz="2400"/>
          </a:p>
        </p:txBody>
      </p:sp>
      <p:sp>
        <p:nvSpPr>
          <p:cNvPr id="10" name="Text 6"/>
          <p:cNvSpPr/>
          <p:nvPr/>
        </p:nvSpPr>
        <p:spPr>
          <a:xfrm>
            <a:off x="609600" y="5120640"/>
            <a:ext cx="3413760" cy="426720"/>
          </a:xfrm>
          <a:prstGeom prst="rect">
            <a:avLst/>
          </a:prstGeom>
          <a:noFill/>
          <a:ln/>
        </p:spPr>
        <p:txBody>
          <a:bodyPr wrap="square" lIns="0" tIns="0" rIns="0" bIns="0" rtlCol="0" anchor="ctr"/>
          <a:lstStyle/>
          <a:p>
            <a:r>
              <a:rPr lang="en-US" sz="1467" b="1" dirty="0">
                <a:solidFill>
                  <a:srgbClr val="02C39A"/>
                </a:solidFill>
                <a:latin typeface="Calibri" pitchFamily="34" charset="0"/>
                <a:ea typeface="Calibri" pitchFamily="34" charset="-122"/>
                <a:cs typeface="Calibri" pitchFamily="34" charset="-120"/>
              </a:rPr>
              <a:t>Wealth gap in SBA</a:t>
            </a:r>
            <a:endParaRPr lang="en-US" sz="1467" dirty="0"/>
          </a:p>
        </p:txBody>
      </p:sp>
      <p:sp>
        <p:nvSpPr>
          <p:cNvPr id="11" name="Text 7"/>
          <p:cNvSpPr/>
          <p:nvPr/>
        </p:nvSpPr>
        <p:spPr>
          <a:xfrm>
            <a:off x="609600" y="5547360"/>
            <a:ext cx="3413760" cy="79248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Richest 58% vs Poorest 20% — 38 pp gap</a:t>
            </a:r>
            <a:endParaRPr lang="en-US" sz="1400" dirty="0"/>
          </a:p>
        </p:txBody>
      </p:sp>
      <p:sp>
        <p:nvSpPr>
          <p:cNvPr id="12" name="Shape 8"/>
          <p:cNvSpPr/>
          <p:nvPr/>
        </p:nvSpPr>
        <p:spPr>
          <a:xfrm>
            <a:off x="4352544" y="5023104"/>
            <a:ext cx="3718560" cy="1524000"/>
          </a:xfrm>
          <a:prstGeom prst="rect">
            <a:avLst/>
          </a:prstGeom>
          <a:solidFill>
            <a:srgbClr val="0A2342"/>
          </a:solidFill>
          <a:ln w="12700">
            <a:solidFill>
              <a:srgbClr val="0A2342"/>
            </a:solidFill>
            <a:prstDash val="solid"/>
          </a:ln>
          <a:effectLst>
            <a:outerShdw blurRad="63500" dist="25400" dir="8100000" algn="bl" rotWithShape="0">
              <a:srgbClr val="000000">
                <a:alpha val="10000"/>
              </a:srgbClr>
            </a:outerShdw>
          </a:effectLst>
        </p:spPr>
        <p:txBody>
          <a:bodyPr/>
          <a:lstStyle/>
          <a:p>
            <a:endParaRPr lang="en-US" sz="2400"/>
          </a:p>
        </p:txBody>
      </p:sp>
      <p:sp>
        <p:nvSpPr>
          <p:cNvPr id="13" name="Text 9"/>
          <p:cNvSpPr/>
          <p:nvPr/>
        </p:nvSpPr>
        <p:spPr>
          <a:xfrm>
            <a:off x="4535424" y="5120640"/>
            <a:ext cx="3413760" cy="426720"/>
          </a:xfrm>
          <a:prstGeom prst="rect">
            <a:avLst/>
          </a:prstGeom>
          <a:noFill/>
          <a:ln/>
        </p:spPr>
        <p:txBody>
          <a:bodyPr wrap="square" lIns="0" tIns="0" rIns="0" bIns="0" rtlCol="0" anchor="ctr"/>
          <a:lstStyle/>
          <a:p>
            <a:r>
              <a:rPr lang="en-US" sz="1467" b="1" dirty="0">
                <a:solidFill>
                  <a:srgbClr val="02C39A"/>
                </a:solidFill>
                <a:latin typeface="Calibri" pitchFamily="34" charset="0"/>
                <a:ea typeface="Calibri" pitchFamily="34" charset="-122"/>
                <a:cs typeface="Calibri" pitchFamily="34" charset="-120"/>
              </a:rPr>
              <a:t>Education matters</a:t>
            </a:r>
            <a:endParaRPr lang="en-US" sz="1467" dirty="0"/>
          </a:p>
        </p:txBody>
      </p:sp>
      <p:sp>
        <p:nvSpPr>
          <p:cNvPr id="14" name="Text 10"/>
          <p:cNvSpPr/>
          <p:nvPr/>
        </p:nvSpPr>
        <p:spPr>
          <a:xfrm>
            <a:off x="4535424" y="5547360"/>
            <a:ext cx="3413760" cy="79248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Higher education → better coverage across all indicators</a:t>
            </a:r>
            <a:endParaRPr lang="en-US" sz="1400" dirty="0"/>
          </a:p>
        </p:txBody>
      </p:sp>
      <p:sp>
        <p:nvSpPr>
          <p:cNvPr id="15" name="Shape 11"/>
          <p:cNvSpPr/>
          <p:nvPr/>
        </p:nvSpPr>
        <p:spPr>
          <a:xfrm>
            <a:off x="8278368" y="5023104"/>
            <a:ext cx="3718560" cy="1524000"/>
          </a:xfrm>
          <a:prstGeom prst="rect">
            <a:avLst/>
          </a:prstGeom>
          <a:solidFill>
            <a:srgbClr val="0A2342"/>
          </a:solidFill>
          <a:ln w="12700">
            <a:solidFill>
              <a:srgbClr val="0A2342"/>
            </a:solidFill>
            <a:prstDash val="solid"/>
          </a:ln>
          <a:effectLst>
            <a:outerShdw blurRad="63500" dist="25400" dir="8100000" algn="bl" rotWithShape="0">
              <a:srgbClr val="000000">
                <a:alpha val="10000"/>
              </a:srgbClr>
            </a:outerShdw>
          </a:effectLst>
        </p:spPr>
        <p:txBody>
          <a:bodyPr/>
          <a:lstStyle/>
          <a:p>
            <a:endParaRPr lang="en-US" sz="2400"/>
          </a:p>
        </p:txBody>
      </p:sp>
      <p:sp>
        <p:nvSpPr>
          <p:cNvPr id="16" name="Text 12"/>
          <p:cNvSpPr/>
          <p:nvPr/>
        </p:nvSpPr>
        <p:spPr>
          <a:xfrm>
            <a:off x="8461248" y="5120640"/>
            <a:ext cx="3413760" cy="426720"/>
          </a:xfrm>
          <a:prstGeom prst="rect">
            <a:avLst/>
          </a:prstGeom>
          <a:noFill/>
          <a:ln/>
        </p:spPr>
        <p:txBody>
          <a:bodyPr wrap="square" lIns="0" tIns="0" rIns="0" bIns="0" rtlCol="0" anchor="ctr"/>
          <a:lstStyle/>
          <a:p>
            <a:r>
              <a:rPr lang="en-US" sz="1467" b="1" dirty="0">
                <a:solidFill>
                  <a:srgbClr val="02C39A"/>
                </a:solidFill>
                <a:latin typeface="Calibri" pitchFamily="34" charset="0"/>
                <a:ea typeface="Calibri" pitchFamily="34" charset="-122"/>
                <a:cs typeface="Calibri" pitchFamily="34" charset="-120"/>
              </a:rPr>
              <a:t>Urban advantage</a:t>
            </a:r>
            <a:endParaRPr lang="en-US" sz="1467" dirty="0"/>
          </a:p>
        </p:txBody>
      </p:sp>
      <p:sp>
        <p:nvSpPr>
          <p:cNvPr id="17" name="Text 13"/>
          <p:cNvSpPr/>
          <p:nvPr/>
        </p:nvSpPr>
        <p:spPr>
          <a:xfrm>
            <a:off x="8461248" y="5547360"/>
            <a:ext cx="3413760" cy="79248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Urban women consistently outperform rural counterparts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PREDICTIVE MODELING</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solidFill>
                  <a:srgbClr val="0A2342"/>
                </a:solidFill>
                <a:latin typeface="Calibri" pitchFamily="34" charset="0"/>
                <a:ea typeface="Calibri" pitchFamily="34" charset="-122"/>
                <a:cs typeface="Calibri" pitchFamily="34" charset="-120"/>
              </a:rPr>
              <a:t>Logistic Regression: Predicting Service Non-Use</a:t>
            </a:r>
            <a:endParaRPr lang="en-US" sz="3200" dirty="0"/>
          </a:p>
        </p:txBody>
      </p:sp>
      <p:sp>
        <p:nvSpPr>
          <p:cNvPr id="5" name="Text 3"/>
          <p:cNvSpPr/>
          <p:nvPr/>
        </p:nvSpPr>
        <p:spPr>
          <a:xfrm>
            <a:off x="426720" y="1402080"/>
            <a:ext cx="11338560" cy="426720"/>
          </a:xfrm>
          <a:prstGeom prst="rect">
            <a:avLst/>
          </a:prstGeom>
          <a:noFill/>
          <a:ln/>
        </p:spPr>
        <p:txBody>
          <a:bodyPr wrap="square" lIns="0" tIns="0" rIns="0" bIns="0" rtlCol="0" anchor="ctr"/>
          <a:lstStyle/>
          <a:p>
            <a:r>
              <a:rPr lang="en-US" sz="1733" dirty="0">
                <a:solidFill>
                  <a:srgbClr val="475569"/>
                </a:solidFill>
                <a:latin typeface="Calibri" pitchFamily="34" charset="0"/>
                <a:ea typeface="Calibri" pitchFamily="34" charset="-122"/>
                <a:cs typeface="Calibri" pitchFamily="34" charset="-120"/>
              </a:rPr>
              <a:t>Balanced models to address class imbalance; evaluated by accuracy, ROC-AUC, and recall</a:t>
            </a:r>
            <a:endParaRPr lang="en-US" sz="1733" dirty="0"/>
          </a:p>
        </p:txBody>
      </p:sp>
      <p:sp>
        <p:nvSpPr>
          <p:cNvPr id="6" name="Shape 4"/>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sp>
        <p:nvSpPr>
          <p:cNvPr id="7" name="Shape 5"/>
          <p:cNvSpPr/>
          <p:nvPr/>
        </p:nvSpPr>
        <p:spPr>
          <a:xfrm>
            <a:off x="426720" y="1767840"/>
            <a:ext cx="5486400" cy="4876800"/>
          </a:xfrm>
          <a:prstGeom prst="rect">
            <a:avLst/>
          </a:prstGeom>
          <a:solidFill>
            <a:srgbClr val="FFFFFF"/>
          </a:solidFill>
          <a:ln w="6350">
            <a:solidFill>
              <a:srgbClr val="DDE6EA"/>
            </a:solidFill>
            <a:prstDash val="solid"/>
          </a:ln>
          <a:effectLst>
            <a:outerShdw blurRad="76200" dist="25400" dir="8100000" algn="bl" rotWithShape="0">
              <a:srgbClr val="000000">
                <a:alpha val="8000"/>
              </a:srgbClr>
            </a:outerShdw>
          </a:effectLst>
        </p:spPr>
        <p:txBody>
          <a:bodyPr/>
          <a:lstStyle/>
          <a:p>
            <a:endParaRPr lang="en-US" sz="2400"/>
          </a:p>
        </p:txBody>
      </p:sp>
      <p:sp>
        <p:nvSpPr>
          <p:cNvPr id="8" name="Shape 6"/>
          <p:cNvSpPr/>
          <p:nvPr/>
        </p:nvSpPr>
        <p:spPr>
          <a:xfrm>
            <a:off x="426720" y="1767840"/>
            <a:ext cx="5486400" cy="670560"/>
          </a:xfrm>
          <a:prstGeom prst="rect">
            <a:avLst/>
          </a:prstGeom>
          <a:solidFill>
            <a:srgbClr val="028090"/>
          </a:solidFill>
          <a:ln w="12700">
            <a:solidFill>
              <a:srgbClr val="028090"/>
            </a:solidFill>
            <a:prstDash val="solid"/>
          </a:ln>
        </p:spPr>
        <p:txBody>
          <a:bodyPr/>
          <a:lstStyle/>
          <a:p>
            <a:endParaRPr lang="en-US" sz="2400"/>
          </a:p>
        </p:txBody>
      </p:sp>
      <p:sp>
        <p:nvSpPr>
          <p:cNvPr id="9" name="Text 7"/>
          <p:cNvSpPr/>
          <p:nvPr/>
        </p:nvSpPr>
        <p:spPr>
          <a:xfrm>
            <a:off x="609600" y="1767840"/>
            <a:ext cx="5120640" cy="426720"/>
          </a:xfrm>
          <a:prstGeom prst="rect">
            <a:avLst/>
          </a:prstGeom>
          <a:noFill/>
          <a:ln/>
        </p:spPr>
        <p:txBody>
          <a:bodyPr wrap="square" lIns="0" tIns="0" rIns="0" bIns="0" rtlCol="0" anchor="ctr"/>
          <a:lstStyle/>
          <a:p>
            <a:r>
              <a:rPr lang="en-US" sz="1667" b="1" dirty="0">
                <a:solidFill>
                  <a:srgbClr val="FFFFFF"/>
                </a:solidFill>
                <a:latin typeface="Calibri" pitchFamily="34" charset="0"/>
                <a:ea typeface="Calibri" pitchFamily="34" charset="-122"/>
                <a:cs typeface="Calibri" pitchFamily="34" charset="-120"/>
              </a:rPr>
              <a:t>SBA Non-Use Model</a:t>
            </a:r>
            <a:endParaRPr lang="en-US" sz="1667" dirty="0"/>
          </a:p>
        </p:txBody>
      </p:sp>
      <p:sp>
        <p:nvSpPr>
          <p:cNvPr id="10" name="Text 8"/>
          <p:cNvSpPr/>
          <p:nvPr/>
        </p:nvSpPr>
        <p:spPr>
          <a:xfrm>
            <a:off x="609600" y="2194560"/>
            <a:ext cx="5120640" cy="243840"/>
          </a:xfrm>
          <a:prstGeom prst="rect">
            <a:avLst/>
          </a:prstGeom>
          <a:noFill/>
          <a:ln/>
        </p:spPr>
        <p:txBody>
          <a:bodyPr wrap="square" lIns="0" tIns="0" rIns="0" bIns="0" rtlCol="0" anchor="ctr"/>
          <a:lstStyle/>
          <a:p>
            <a:r>
              <a:rPr lang="en-US" sz="1133" i="1" dirty="0">
                <a:solidFill>
                  <a:srgbClr val="FFFFFF"/>
                </a:solidFill>
                <a:latin typeface="Calibri" pitchFamily="34" charset="0"/>
                <a:ea typeface="Calibri" pitchFamily="34" charset="-122"/>
                <a:cs typeface="Calibri" pitchFamily="34" charset="-120"/>
              </a:rPr>
              <a:t>Balanced logistic regression · Python/scikit-learn</a:t>
            </a:r>
            <a:endParaRPr lang="en-US" sz="1133" dirty="0"/>
          </a:p>
        </p:txBody>
      </p:sp>
      <p:sp>
        <p:nvSpPr>
          <p:cNvPr id="11" name="Shape 9"/>
          <p:cNvSpPr/>
          <p:nvPr/>
        </p:nvSpPr>
        <p:spPr>
          <a:xfrm>
            <a:off x="609600" y="2621280"/>
            <a:ext cx="5120640" cy="585216"/>
          </a:xfrm>
          <a:prstGeom prst="rect">
            <a:avLst/>
          </a:prstGeom>
          <a:solidFill>
            <a:srgbClr val="F4F9FA"/>
          </a:solidFill>
          <a:ln w="3810">
            <a:solidFill>
              <a:srgbClr val="E8EEF0"/>
            </a:solidFill>
            <a:prstDash val="solid"/>
          </a:ln>
        </p:spPr>
        <p:txBody>
          <a:bodyPr/>
          <a:lstStyle/>
          <a:p>
            <a:endParaRPr lang="en-US" sz="2400"/>
          </a:p>
        </p:txBody>
      </p:sp>
      <p:sp>
        <p:nvSpPr>
          <p:cNvPr id="12" name="Text 10"/>
          <p:cNvSpPr/>
          <p:nvPr/>
        </p:nvSpPr>
        <p:spPr>
          <a:xfrm>
            <a:off x="731520" y="2718816"/>
            <a:ext cx="3048000" cy="390144"/>
          </a:xfrm>
          <a:prstGeom prst="rect">
            <a:avLst/>
          </a:prstGeom>
          <a:noFill/>
          <a:ln/>
        </p:spPr>
        <p:txBody>
          <a:bodyPr wrap="square" lIns="0" tIns="0" rIns="0" bIns="0" rtlCol="0" anchor="ctr"/>
          <a:lstStyle/>
          <a:p>
            <a:r>
              <a:rPr lang="en-US" sz="1467" dirty="0">
                <a:solidFill>
                  <a:srgbClr val="475569"/>
                </a:solidFill>
                <a:latin typeface="Calibri" pitchFamily="34" charset="0"/>
                <a:ea typeface="Calibri" pitchFamily="34" charset="-122"/>
                <a:cs typeface="Calibri" pitchFamily="34" charset="-120"/>
              </a:rPr>
              <a:t>Accuracy</a:t>
            </a:r>
            <a:endParaRPr lang="en-US" sz="1467" dirty="0"/>
          </a:p>
        </p:txBody>
      </p:sp>
      <p:sp>
        <p:nvSpPr>
          <p:cNvPr id="13" name="Text 11"/>
          <p:cNvSpPr/>
          <p:nvPr/>
        </p:nvSpPr>
        <p:spPr>
          <a:xfrm>
            <a:off x="3962400" y="2718816"/>
            <a:ext cx="1584960" cy="390144"/>
          </a:xfrm>
          <a:prstGeom prst="rect">
            <a:avLst/>
          </a:prstGeom>
          <a:noFill/>
          <a:ln/>
        </p:spPr>
        <p:txBody>
          <a:bodyPr wrap="square" lIns="0" tIns="0" rIns="0" bIns="0" rtlCol="0" anchor="ctr"/>
          <a:lstStyle/>
          <a:p>
            <a:pPr algn="r"/>
            <a:r>
              <a:rPr lang="en-US" sz="1600" b="1" dirty="0">
                <a:solidFill>
                  <a:srgbClr val="028090"/>
                </a:solidFill>
                <a:latin typeface="Calibri" pitchFamily="34" charset="0"/>
                <a:ea typeface="Calibri" pitchFamily="34" charset="-122"/>
                <a:cs typeface="Calibri" pitchFamily="34" charset="-120"/>
              </a:rPr>
              <a:t>68%</a:t>
            </a:r>
            <a:endParaRPr lang="en-US" sz="1600" dirty="0"/>
          </a:p>
        </p:txBody>
      </p:sp>
      <p:sp>
        <p:nvSpPr>
          <p:cNvPr id="14" name="Shape 12"/>
          <p:cNvSpPr/>
          <p:nvPr/>
        </p:nvSpPr>
        <p:spPr>
          <a:xfrm>
            <a:off x="609600" y="3304032"/>
            <a:ext cx="5120640" cy="585216"/>
          </a:xfrm>
          <a:prstGeom prst="rect">
            <a:avLst/>
          </a:prstGeom>
          <a:solidFill>
            <a:srgbClr val="FFFFFF"/>
          </a:solidFill>
          <a:ln w="3810">
            <a:solidFill>
              <a:srgbClr val="E8EEF0"/>
            </a:solidFill>
            <a:prstDash val="solid"/>
          </a:ln>
        </p:spPr>
        <p:txBody>
          <a:bodyPr/>
          <a:lstStyle/>
          <a:p>
            <a:endParaRPr lang="en-US" sz="2400"/>
          </a:p>
        </p:txBody>
      </p:sp>
      <p:sp>
        <p:nvSpPr>
          <p:cNvPr id="15" name="Text 13"/>
          <p:cNvSpPr/>
          <p:nvPr/>
        </p:nvSpPr>
        <p:spPr>
          <a:xfrm>
            <a:off x="731520" y="3401568"/>
            <a:ext cx="3048000" cy="390144"/>
          </a:xfrm>
          <a:prstGeom prst="rect">
            <a:avLst/>
          </a:prstGeom>
          <a:noFill/>
          <a:ln/>
        </p:spPr>
        <p:txBody>
          <a:bodyPr wrap="square" lIns="0" tIns="0" rIns="0" bIns="0" rtlCol="0" anchor="ctr"/>
          <a:lstStyle/>
          <a:p>
            <a:r>
              <a:rPr lang="en-US" sz="1467" dirty="0">
                <a:solidFill>
                  <a:srgbClr val="475569"/>
                </a:solidFill>
                <a:latin typeface="Calibri" pitchFamily="34" charset="0"/>
                <a:ea typeface="Calibri" pitchFamily="34" charset="-122"/>
                <a:cs typeface="Calibri" pitchFamily="34" charset="-120"/>
              </a:rPr>
              <a:t>ROC-AUC</a:t>
            </a:r>
            <a:endParaRPr lang="en-US" sz="1467" dirty="0"/>
          </a:p>
        </p:txBody>
      </p:sp>
      <p:sp>
        <p:nvSpPr>
          <p:cNvPr id="16" name="Text 14"/>
          <p:cNvSpPr/>
          <p:nvPr/>
        </p:nvSpPr>
        <p:spPr>
          <a:xfrm>
            <a:off x="3962400" y="3401568"/>
            <a:ext cx="1584960" cy="390144"/>
          </a:xfrm>
          <a:prstGeom prst="rect">
            <a:avLst/>
          </a:prstGeom>
          <a:noFill/>
          <a:ln/>
        </p:spPr>
        <p:txBody>
          <a:bodyPr wrap="square" lIns="0" tIns="0" rIns="0" bIns="0" rtlCol="0" anchor="ctr"/>
          <a:lstStyle/>
          <a:p>
            <a:pPr algn="r"/>
            <a:r>
              <a:rPr lang="en-US" sz="1600" b="1" dirty="0">
                <a:solidFill>
                  <a:srgbClr val="028090"/>
                </a:solidFill>
                <a:latin typeface="Calibri" pitchFamily="34" charset="0"/>
                <a:ea typeface="Calibri" pitchFamily="34" charset="-122"/>
                <a:cs typeface="Calibri" pitchFamily="34" charset="-120"/>
              </a:rPr>
              <a:t>0.685</a:t>
            </a:r>
            <a:endParaRPr lang="en-US" sz="1600" dirty="0"/>
          </a:p>
        </p:txBody>
      </p:sp>
      <p:sp>
        <p:nvSpPr>
          <p:cNvPr id="17" name="Shape 15"/>
          <p:cNvSpPr/>
          <p:nvPr/>
        </p:nvSpPr>
        <p:spPr>
          <a:xfrm>
            <a:off x="609600" y="3986784"/>
            <a:ext cx="5120640" cy="585216"/>
          </a:xfrm>
          <a:prstGeom prst="rect">
            <a:avLst/>
          </a:prstGeom>
          <a:solidFill>
            <a:srgbClr val="F4F9FA"/>
          </a:solidFill>
          <a:ln w="3810">
            <a:solidFill>
              <a:srgbClr val="E8EEF0"/>
            </a:solidFill>
            <a:prstDash val="solid"/>
          </a:ln>
        </p:spPr>
        <p:txBody>
          <a:bodyPr/>
          <a:lstStyle/>
          <a:p>
            <a:endParaRPr lang="en-US" sz="2400"/>
          </a:p>
        </p:txBody>
      </p:sp>
      <p:sp>
        <p:nvSpPr>
          <p:cNvPr id="18" name="Text 16"/>
          <p:cNvSpPr/>
          <p:nvPr/>
        </p:nvSpPr>
        <p:spPr>
          <a:xfrm>
            <a:off x="731520" y="4084320"/>
            <a:ext cx="3048000" cy="390144"/>
          </a:xfrm>
          <a:prstGeom prst="rect">
            <a:avLst/>
          </a:prstGeom>
          <a:noFill/>
          <a:ln/>
        </p:spPr>
        <p:txBody>
          <a:bodyPr wrap="square" lIns="0" tIns="0" rIns="0" bIns="0" rtlCol="0" anchor="ctr"/>
          <a:lstStyle/>
          <a:p>
            <a:r>
              <a:rPr lang="en-US" sz="1467" dirty="0">
                <a:solidFill>
                  <a:srgbClr val="475569"/>
                </a:solidFill>
                <a:latin typeface="Calibri" pitchFamily="34" charset="0"/>
                <a:ea typeface="Calibri" pitchFamily="34" charset="-122"/>
                <a:cs typeface="Calibri" pitchFamily="34" charset="-120"/>
              </a:rPr>
              <a:t>Recall (non-use)</a:t>
            </a:r>
            <a:endParaRPr lang="en-US" sz="1467" dirty="0"/>
          </a:p>
        </p:txBody>
      </p:sp>
      <p:sp>
        <p:nvSpPr>
          <p:cNvPr id="19" name="Text 17"/>
          <p:cNvSpPr/>
          <p:nvPr/>
        </p:nvSpPr>
        <p:spPr>
          <a:xfrm>
            <a:off x="3962400" y="4084320"/>
            <a:ext cx="1584960" cy="390144"/>
          </a:xfrm>
          <a:prstGeom prst="rect">
            <a:avLst/>
          </a:prstGeom>
          <a:noFill/>
          <a:ln/>
        </p:spPr>
        <p:txBody>
          <a:bodyPr wrap="square" lIns="0" tIns="0" rIns="0" bIns="0" rtlCol="0" anchor="ctr"/>
          <a:lstStyle/>
          <a:p>
            <a:pPr algn="r"/>
            <a:r>
              <a:rPr lang="en-US" sz="1600" b="1" dirty="0">
                <a:solidFill>
                  <a:srgbClr val="028090"/>
                </a:solidFill>
                <a:latin typeface="Calibri" pitchFamily="34" charset="0"/>
                <a:ea typeface="Calibri" pitchFamily="34" charset="-122"/>
                <a:cs typeface="Calibri" pitchFamily="34" charset="-120"/>
              </a:rPr>
              <a:t>57%</a:t>
            </a:r>
            <a:endParaRPr lang="en-US" sz="1600" dirty="0"/>
          </a:p>
        </p:txBody>
      </p:sp>
      <p:sp>
        <p:nvSpPr>
          <p:cNvPr id="20" name="Shape 18"/>
          <p:cNvSpPr/>
          <p:nvPr/>
        </p:nvSpPr>
        <p:spPr>
          <a:xfrm>
            <a:off x="609600" y="4669536"/>
            <a:ext cx="5120640" cy="585216"/>
          </a:xfrm>
          <a:prstGeom prst="rect">
            <a:avLst/>
          </a:prstGeom>
          <a:solidFill>
            <a:srgbClr val="FFFFFF"/>
          </a:solidFill>
          <a:ln w="3810">
            <a:solidFill>
              <a:srgbClr val="E8EEF0"/>
            </a:solidFill>
            <a:prstDash val="solid"/>
          </a:ln>
        </p:spPr>
        <p:txBody>
          <a:bodyPr/>
          <a:lstStyle/>
          <a:p>
            <a:endParaRPr lang="en-US" sz="2400"/>
          </a:p>
        </p:txBody>
      </p:sp>
      <p:sp>
        <p:nvSpPr>
          <p:cNvPr id="21" name="Text 19"/>
          <p:cNvSpPr/>
          <p:nvPr/>
        </p:nvSpPr>
        <p:spPr>
          <a:xfrm>
            <a:off x="731520" y="4767072"/>
            <a:ext cx="3048000" cy="390144"/>
          </a:xfrm>
          <a:prstGeom prst="rect">
            <a:avLst/>
          </a:prstGeom>
          <a:noFill/>
          <a:ln/>
        </p:spPr>
        <p:txBody>
          <a:bodyPr wrap="square" lIns="0" tIns="0" rIns="0" bIns="0" rtlCol="0" anchor="ctr"/>
          <a:lstStyle/>
          <a:p>
            <a:r>
              <a:rPr lang="en-US" sz="1467" dirty="0">
                <a:solidFill>
                  <a:srgbClr val="475569"/>
                </a:solidFill>
                <a:latin typeface="Calibri" pitchFamily="34" charset="0"/>
                <a:ea typeface="Calibri" pitchFamily="34" charset="-122"/>
                <a:cs typeface="Calibri" pitchFamily="34" charset="-120"/>
              </a:rPr>
              <a:t>Precision (non-use)</a:t>
            </a:r>
            <a:endParaRPr lang="en-US" sz="1467" dirty="0"/>
          </a:p>
        </p:txBody>
      </p:sp>
      <p:sp>
        <p:nvSpPr>
          <p:cNvPr id="22" name="Text 20"/>
          <p:cNvSpPr/>
          <p:nvPr/>
        </p:nvSpPr>
        <p:spPr>
          <a:xfrm>
            <a:off x="3962400" y="4767072"/>
            <a:ext cx="1584960" cy="390144"/>
          </a:xfrm>
          <a:prstGeom prst="rect">
            <a:avLst/>
          </a:prstGeom>
          <a:noFill/>
          <a:ln/>
        </p:spPr>
        <p:txBody>
          <a:bodyPr wrap="square" lIns="0" tIns="0" rIns="0" bIns="0" rtlCol="0" anchor="ctr"/>
          <a:lstStyle/>
          <a:p>
            <a:pPr algn="r"/>
            <a:r>
              <a:rPr lang="en-US" sz="1600" b="1" dirty="0">
                <a:solidFill>
                  <a:srgbClr val="E63946"/>
                </a:solidFill>
                <a:latin typeface="Calibri" pitchFamily="34" charset="0"/>
                <a:ea typeface="Calibri" pitchFamily="34" charset="-122"/>
                <a:cs typeface="Calibri" pitchFamily="34" charset="-120"/>
              </a:rPr>
              <a:t>~5%</a:t>
            </a:r>
            <a:endParaRPr lang="en-US" sz="1600" dirty="0"/>
          </a:p>
        </p:txBody>
      </p:sp>
      <p:sp>
        <p:nvSpPr>
          <p:cNvPr id="23" name="Shape 21"/>
          <p:cNvSpPr/>
          <p:nvPr/>
        </p:nvSpPr>
        <p:spPr>
          <a:xfrm>
            <a:off x="609600" y="5388864"/>
            <a:ext cx="5120640" cy="1072896"/>
          </a:xfrm>
          <a:prstGeom prst="rect">
            <a:avLst/>
          </a:prstGeom>
          <a:solidFill>
            <a:srgbClr val="D6F5F0"/>
          </a:solidFill>
          <a:ln w="12700">
            <a:solidFill>
              <a:srgbClr val="D6F5F0"/>
            </a:solidFill>
            <a:prstDash val="solid"/>
          </a:ln>
        </p:spPr>
        <p:txBody>
          <a:bodyPr/>
          <a:lstStyle/>
          <a:p>
            <a:endParaRPr lang="en-US" sz="2400"/>
          </a:p>
        </p:txBody>
      </p:sp>
      <p:sp>
        <p:nvSpPr>
          <p:cNvPr id="24" name="Text 22"/>
          <p:cNvSpPr/>
          <p:nvPr/>
        </p:nvSpPr>
        <p:spPr>
          <a:xfrm>
            <a:off x="731520" y="5437632"/>
            <a:ext cx="4876800" cy="975360"/>
          </a:xfrm>
          <a:prstGeom prst="rect">
            <a:avLst/>
          </a:prstGeom>
          <a:noFill/>
          <a:ln/>
        </p:spPr>
        <p:txBody>
          <a:bodyPr wrap="square" rtlCol="0" anchor="ctr"/>
          <a:lstStyle/>
          <a:p>
            <a:r>
              <a:rPr lang="en-US" sz="1333" i="1" dirty="0">
                <a:solidFill>
                  <a:srgbClr val="0A2342"/>
                </a:solidFill>
                <a:latin typeface="Calibri" pitchFamily="34" charset="0"/>
                <a:ea typeface="Calibri" pitchFamily="34" charset="-122"/>
                <a:cs typeface="Calibri" pitchFamily="34" charset="-120"/>
              </a:rPr>
              <a:t>Moderate ability to identify women at risk of SBA non-use. Class weighting essential — imbalanced model missed almost all non-users.</a:t>
            </a:r>
            <a:endParaRPr lang="en-US" sz="1333" dirty="0"/>
          </a:p>
        </p:txBody>
      </p:sp>
      <p:sp>
        <p:nvSpPr>
          <p:cNvPr id="25" name="Shape 23"/>
          <p:cNvSpPr/>
          <p:nvPr/>
        </p:nvSpPr>
        <p:spPr>
          <a:xfrm>
            <a:off x="6339840" y="1767840"/>
            <a:ext cx="5486400" cy="4876800"/>
          </a:xfrm>
          <a:prstGeom prst="rect">
            <a:avLst/>
          </a:prstGeom>
          <a:solidFill>
            <a:srgbClr val="FFFFFF"/>
          </a:solidFill>
          <a:ln w="6350">
            <a:solidFill>
              <a:srgbClr val="DDE6EA"/>
            </a:solidFill>
            <a:prstDash val="solid"/>
          </a:ln>
          <a:effectLst>
            <a:outerShdw blurRad="76200" dist="25400" dir="8100000" algn="bl" rotWithShape="0">
              <a:srgbClr val="000000">
                <a:alpha val="8000"/>
              </a:srgbClr>
            </a:outerShdw>
          </a:effectLst>
        </p:spPr>
        <p:txBody>
          <a:bodyPr/>
          <a:lstStyle/>
          <a:p>
            <a:endParaRPr lang="en-US" sz="2400"/>
          </a:p>
        </p:txBody>
      </p:sp>
      <p:sp>
        <p:nvSpPr>
          <p:cNvPr id="26" name="Shape 24"/>
          <p:cNvSpPr/>
          <p:nvPr/>
        </p:nvSpPr>
        <p:spPr>
          <a:xfrm>
            <a:off x="6339840" y="1767840"/>
            <a:ext cx="5486400" cy="670560"/>
          </a:xfrm>
          <a:prstGeom prst="rect">
            <a:avLst/>
          </a:prstGeom>
          <a:solidFill>
            <a:srgbClr val="0A2342"/>
          </a:solidFill>
          <a:ln w="12700">
            <a:solidFill>
              <a:srgbClr val="0A2342"/>
            </a:solidFill>
            <a:prstDash val="solid"/>
          </a:ln>
        </p:spPr>
        <p:txBody>
          <a:bodyPr/>
          <a:lstStyle/>
          <a:p>
            <a:endParaRPr lang="en-US" sz="2400"/>
          </a:p>
        </p:txBody>
      </p:sp>
      <p:sp>
        <p:nvSpPr>
          <p:cNvPr id="27" name="Text 25"/>
          <p:cNvSpPr/>
          <p:nvPr/>
        </p:nvSpPr>
        <p:spPr>
          <a:xfrm>
            <a:off x="6522720" y="1767840"/>
            <a:ext cx="5120640" cy="426720"/>
          </a:xfrm>
          <a:prstGeom prst="rect">
            <a:avLst/>
          </a:prstGeom>
          <a:noFill/>
          <a:ln/>
        </p:spPr>
        <p:txBody>
          <a:bodyPr wrap="square" lIns="0" tIns="0" rIns="0" bIns="0" rtlCol="0" anchor="ctr"/>
          <a:lstStyle/>
          <a:p>
            <a:r>
              <a:rPr lang="en-US" sz="1667" b="1" dirty="0">
                <a:solidFill>
                  <a:srgbClr val="FFFFFF"/>
                </a:solidFill>
                <a:latin typeface="Calibri" pitchFamily="34" charset="0"/>
                <a:ea typeface="Calibri" pitchFamily="34" charset="-122"/>
                <a:cs typeface="Calibri" pitchFamily="34" charset="-120"/>
              </a:rPr>
              <a:t>ANC4+ Utilization Model</a:t>
            </a:r>
            <a:endParaRPr lang="en-US" sz="1667" dirty="0"/>
          </a:p>
        </p:txBody>
      </p:sp>
      <p:sp>
        <p:nvSpPr>
          <p:cNvPr id="28" name="Text 26"/>
          <p:cNvSpPr/>
          <p:nvPr/>
        </p:nvSpPr>
        <p:spPr>
          <a:xfrm>
            <a:off x="6522720" y="2194560"/>
            <a:ext cx="5120640" cy="243840"/>
          </a:xfrm>
          <a:prstGeom prst="rect">
            <a:avLst/>
          </a:prstGeom>
          <a:noFill/>
          <a:ln/>
        </p:spPr>
        <p:txBody>
          <a:bodyPr wrap="square" lIns="0" tIns="0" rIns="0" bIns="0" rtlCol="0" anchor="ctr"/>
          <a:lstStyle/>
          <a:p>
            <a:r>
              <a:rPr lang="en-US" sz="1133" i="1" dirty="0">
                <a:solidFill>
                  <a:srgbClr val="FFFFFF"/>
                </a:solidFill>
                <a:latin typeface="Calibri" pitchFamily="34" charset="0"/>
                <a:ea typeface="Calibri" pitchFamily="34" charset="-122"/>
                <a:cs typeface="Calibri" pitchFamily="34" charset="-120"/>
              </a:rPr>
              <a:t>Balanced logistic regression · Python/scikit-learn</a:t>
            </a:r>
            <a:endParaRPr lang="en-US" sz="1133" dirty="0"/>
          </a:p>
        </p:txBody>
      </p:sp>
      <p:sp>
        <p:nvSpPr>
          <p:cNvPr id="29" name="Shape 27"/>
          <p:cNvSpPr/>
          <p:nvPr/>
        </p:nvSpPr>
        <p:spPr>
          <a:xfrm>
            <a:off x="6522720" y="2621280"/>
            <a:ext cx="5120640" cy="585216"/>
          </a:xfrm>
          <a:prstGeom prst="rect">
            <a:avLst/>
          </a:prstGeom>
          <a:solidFill>
            <a:srgbClr val="F4F9FA"/>
          </a:solidFill>
          <a:ln w="3810">
            <a:solidFill>
              <a:srgbClr val="E8EEF0"/>
            </a:solidFill>
            <a:prstDash val="solid"/>
          </a:ln>
        </p:spPr>
        <p:txBody>
          <a:bodyPr/>
          <a:lstStyle/>
          <a:p>
            <a:endParaRPr lang="en-US" sz="2400"/>
          </a:p>
        </p:txBody>
      </p:sp>
      <p:sp>
        <p:nvSpPr>
          <p:cNvPr id="30" name="Text 28"/>
          <p:cNvSpPr/>
          <p:nvPr/>
        </p:nvSpPr>
        <p:spPr>
          <a:xfrm>
            <a:off x="6644640" y="2718816"/>
            <a:ext cx="3048000" cy="390144"/>
          </a:xfrm>
          <a:prstGeom prst="rect">
            <a:avLst/>
          </a:prstGeom>
          <a:noFill/>
          <a:ln/>
        </p:spPr>
        <p:txBody>
          <a:bodyPr wrap="square" lIns="0" tIns="0" rIns="0" bIns="0" rtlCol="0" anchor="ctr"/>
          <a:lstStyle/>
          <a:p>
            <a:r>
              <a:rPr lang="en-US" sz="1467" dirty="0">
                <a:solidFill>
                  <a:srgbClr val="475569"/>
                </a:solidFill>
                <a:latin typeface="Calibri" pitchFamily="34" charset="0"/>
                <a:ea typeface="Calibri" pitchFamily="34" charset="-122"/>
                <a:cs typeface="Calibri" pitchFamily="34" charset="-120"/>
              </a:rPr>
              <a:t>Accuracy</a:t>
            </a:r>
            <a:endParaRPr lang="en-US" sz="1467" dirty="0"/>
          </a:p>
        </p:txBody>
      </p:sp>
      <p:sp>
        <p:nvSpPr>
          <p:cNvPr id="31" name="Text 29"/>
          <p:cNvSpPr/>
          <p:nvPr/>
        </p:nvSpPr>
        <p:spPr>
          <a:xfrm>
            <a:off x="9875520" y="2718816"/>
            <a:ext cx="1584960" cy="390144"/>
          </a:xfrm>
          <a:prstGeom prst="rect">
            <a:avLst/>
          </a:prstGeom>
          <a:noFill/>
          <a:ln/>
        </p:spPr>
        <p:txBody>
          <a:bodyPr wrap="square" lIns="0" tIns="0" rIns="0" bIns="0" rtlCol="0" anchor="ctr"/>
          <a:lstStyle/>
          <a:p>
            <a:pPr algn="r"/>
            <a:r>
              <a:rPr lang="en-US" sz="1600" b="1" dirty="0">
                <a:solidFill>
                  <a:srgbClr val="E63946"/>
                </a:solidFill>
                <a:latin typeface="Calibri" pitchFamily="34" charset="0"/>
                <a:ea typeface="Calibri" pitchFamily="34" charset="-122"/>
                <a:cs typeface="Calibri" pitchFamily="34" charset="-120"/>
              </a:rPr>
              <a:t>53%</a:t>
            </a:r>
            <a:endParaRPr lang="en-US" sz="1600" dirty="0"/>
          </a:p>
        </p:txBody>
      </p:sp>
      <p:sp>
        <p:nvSpPr>
          <p:cNvPr id="32" name="Shape 30"/>
          <p:cNvSpPr/>
          <p:nvPr/>
        </p:nvSpPr>
        <p:spPr>
          <a:xfrm>
            <a:off x="6522720" y="3304032"/>
            <a:ext cx="5120640" cy="585216"/>
          </a:xfrm>
          <a:prstGeom prst="rect">
            <a:avLst/>
          </a:prstGeom>
          <a:solidFill>
            <a:srgbClr val="FFFFFF"/>
          </a:solidFill>
          <a:ln w="3810">
            <a:solidFill>
              <a:srgbClr val="E8EEF0"/>
            </a:solidFill>
            <a:prstDash val="solid"/>
          </a:ln>
        </p:spPr>
        <p:txBody>
          <a:bodyPr/>
          <a:lstStyle/>
          <a:p>
            <a:endParaRPr lang="en-US" sz="2400"/>
          </a:p>
        </p:txBody>
      </p:sp>
      <p:sp>
        <p:nvSpPr>
          <p:cNvPr id="33" name="Text 31"/>
          <p:cNvSpPr/>
          <p:nvPr/>
        </p:nvSpPr>
        <p:spPr>
          <a:xfrm>
            <a:off x="6644640" y="3401568"/>
            <a:ext cx="3048000" cy="390144"/>
          </a:xfrm>
          <a:prstGeom prst="rect">
            <a:avLst/>
          </a:prstGeom>
          <a:noFill/>
          <a:ln/>
        </p:spPr>
        <p:txBody>
          <a:bodyPr wrap="square" lIns="0" tIns="0" rIns="0" bIns="0" rtlCol="0" anchor="ctr"/>
          <a:lstStyle/>
          <a:p>
            <a:r>
              <a:rPr lang="en-US" sz="1467" dirty="0">
                <a:solidFill>
                  <a:srgbClr val="475569"/>
                </a:solidFill>
                <a:latin typeface="Calibri" pitchFamily="34" charset="0"/>
                <a:ea typeface="Calibri" pitchFamily="34" charset="-122"/>
                <a:cs typeface="Calibri" pitchFamily="34" charset="-120"/>
              </a:rPr>
              <a:t>ROC-AUC</a:t>
            </a:r>
            <a:endParaRPr lang="en-US" sz="1467" dirty="0"/>
          </a:p>
        </p:txBody>
      </p:sp>
      <p:sp>
        <p:nvSpPr>
          <p:cNvPr id="34" name="Text 32"/>
          <p:cNvSpPr/>
          <p:nvPr/>
        </p:nvSpPr>
        <p:spPr>
          <a:xfrm>
            <a:off x="9875520" y="3401568"/>
            <a:ext cx="1584960" cy="390144"/>
          </a:xfrm>
          <a:prstGeom prst="rect">
            <a:avLst/>
          </a:prstGeom>
          <a:noFill/>
          <a:ln/>
        </p:spPr>
        <p:txBody>
          <a:bodyPr wrap="square" lIns="0" tIns="0" rIns="0" bIns="0" rtlCol="0" anchor="ctr"/>
          <a:lstStyle/>
          <a:p>
            <a:pPr algn="r"/>
            <a:r>
              <a:rPr lang="en-US" sz="1600" b="1" dirty="0">
                <a:solidFill>
                  <a:srgbClr val="E63946"/>
                </a:solidFill>
                <a:latin typeface="Calibri" pitchFamily="34" charset="0"/>
                <a:ea typeface="Calibri" pitchFamily="34" charset="-122"/>
                <a:cs typeface="Calibri" pitchFamily="34" charset="-120"/>
              </a:rPr>
              <a:t>0.556</a:t>
            </a:r>
            <a:endParaRPr lang="en-US" sz="1600" dirty="0"/>
          </a:p>
        </p:txBody>
      </p:sp>
      <p:sp>
        <p:nvSpPr>
          <p:cNvPr id="35" name="Shape 33"/>
          <p:cNvSpPr/>
          <p:nvPr/>
        </p:nvSpPr>
        <p:spPr>
          <a:xfrm>
            <a:off x="6522720" y="3986784"/>
            <a:ext cx="5120640" cy="585216"/>
          </a:xfrm>
          <a:prstGeom prst="rect">
            <a:avLst/>
          </a:prstGeom>
          <a:solidFill>
            <a:srgbClr val="F4F9FA"/>
          </a:solidFill>
          <a:ln w="3810">
            <a:solidFill>
              <a:srgbClr val="E8EEF0"/>
            </a:solidFill>
            <a:prstDash val="solid"/>
          </a:ln>
        </p:spPr>
        <p:txBody>
          <a:bodyPr/>
          <a:lstStyle/>
          <a:p>
            <a:endParaRPr lang="en-US" sz="2400"/>
          </a:p>
        </p:txBody>
      </p:sp>
      <p:sp>
        <p:nvSpPr>
          <p:cNvPr id="36" name="Text 34"/>
          <p:cNvSpPr/>
          <p:nvPr/>
        </p:nvSpPr>
        <p:spPr>
          <a:xfrm>
            <a:off x="6644640" y="4084320"/>
            <a:ext cx="3048000" cy="390144"/>
          </a:xfrm>
          <a:prstGeom prst="rect">
            <a:avLst/>
          </a:prstGeom>
          <a:noFill/>
          <a:ln/>
        </p:spPr>
        <p:txBody>
          <a:bodyPr wrap="square" lIns="0" tIns="0" rIns="0" bIns="0" rtlCol="0" anchor="ctr"/>
          <a:lstStyle/>
          <a:p>
            <a:r>
              <a:rPr lang="en-US" sz="1467" dirty="0">
                <a:solidFill>
                  <a:srgbClr val="475569"/>
                </a:solidFill>
                <a:latin typeface="Calibri" pitchFamily="34" charset="0"/>
                <a:ea typeface="Calibri" pitchFamily="34" charset="-122"/>
                <a:cs typeface="Calibri" pitchFamily="34" charset="-120"/>
              </a:rPr>
              <a:t>Recall</a:t>
            </a:r>
            <a:endParaRPr lang="en-US" sz="1467" dirty="0"/>
          </a:p>
        </p:txBody>
      </p:sp>
      <p:sp>
        <p:nvSpPr>
          <p:cNvPr id="37" name="Text 35"/>
          <p:cNvSpPr/>
          <p:nvPr/>
        </p:nvSpPr>
        <p:spPr>
          <a:xfrm>
            <a:off x="9875520" y="4084320"/>
            <a:ext cx="1584960" cy="390144"/>
          </a:xfrm>
          <a:prstGeom prst="rect">
            <a:avLst/>
          </a:prstGeom>
          <a:noFill/>
          <a:ln/>
        </p:spPr>
        <p:txBody>
          <a:bodyPr wrap="square" lIns="0" tIns="0" rIns="0" bIns="0" rtlCol="0" anchor="ctr"/>
          <a:lstStyle/>
          <a:p>
            <a:pPr algn="r"/>
            <a:r>
              <a:rPr lang="en-US" sz="1600" b="1" dirty="0">
                <a:solidFill>
                  <a:srgbClr val="E63946"/>
                </a:solidFill>
                <a:latin typeface="Calibri" pitchFamily="34" charset="0"/>
                <a:ea typeface="Calibri" pitchFamily="34" charset="-122"/>
                <a:cs typeface="Calibri" pitchFamily="34" charset="-120"/>
              </a:rPr>
              <a:t>Limited</a:t>
            </a:r>
            <a:endParaRPr lang="en-US" sz="1600" dirty="0"/>
          </a:p>
        </p:txBody>
      </p:sp>
      <p:sp>
        <p:nvSpPr>
          <p:cNvPr id="38" name="Shape 36"/>
          <p:cNvSpPr/>
          <p:nvPr/>
        </p:nvSpPr>
        <p:spPr>
          <a:xfrm>
            <a:off x="6522720" y="4669536"/>
            <a:ext cx="5120640" cy="585216"/>
          </a:xfrm>
          <a:prstGeom prst="rect">
            <a:avLst/>
          </a:prstGeom>
          <a:solidFill>
            <a:srgbClr val="FFFFFF"/>
          </a:solidFill>
          <a:ln w="3810">
            <a:solidFill>
              <a:srgbClr val="E8EEF0"/>
            </a:solidFill>
            <a:prstDash val="solid"/>
          </a:ln>
        </p:spPr>
        <p:txBody>
          <a:bodyPr/>
          <a:lstStyle/>
          <a:p>
            <a:endParaRPr lang="en-US" sz="2400"/>
          </a:p>
        </p:txBody>
      </p:sp>
      <p:sp>
        <p:nvSpPr>
          <p:cNvPr id="39" name="Text 37"/>
          <p:cNvSpPr/>
          <p:nvPr/>
        </p:nvSpPr>
        <p:spPr>
          <a:xfrm>
            <a:off x="6644640" y="4767072"/>
            <a:ext cx="3048000" cy="390144"/>
          </a:xfrm>
          <a:prstGeom prst="rect">
            <a:avLst/>
          </a:prstGeom>
          <a:noFill/>
          <a:ln/>
        </p:spPr>
        <p:txBody>
          <a:bodyPr wrap="square" lIns="0" tIns="0" rIns="0" bIns="0" rtlCol="0" anchor="ctr"/>
          <a:lstStyle/>
          <a:p>
            <a:r>
              <a:rPr lang="en-US" sz="1467" dirty="0">
                <a:solidFill>
                  <a:srgbClr val="475569"/>
                </a:solidFill>
                <a:latin typeface="Calibri" pitchFamily="34" charset="0"/>
                <a:ea typeface="Calibri" pitchFamily="34" charset="-122"/>
                <a:cs typeface="Calibri" pitchFamily="34" charset="-120"/>
              </a:rPr>
              <a:t>Precision</a:t>
            </a:r>
            <a:endParaRPr lang="en-US" sz="1467" dirty="0"/>
          </a:p>
        </p:txBody>
      </p:sp>
      <p:sp>
        <p:nvSpPr>
          <p:cNvPr id="40" name="Text 38"/>
          <p:cNvSpPr/>
          <p:nvPr/>
        </p:nvSpPr>
        <p:spPr>
          <a:xfrm>
            <a:off x="9875520" y="4767072"/>
            <a:ext cx="1584960" cy="390144"/>
          </a:xfrm>
          <a:prstGeom prst="rect">
            <a:avLst/>
          </a:prstGeom>
          <a:noFill/>
          <a:ln/>
        </p:spPr>
        <p:txBody>
          <a:bodyPr wrap="square" lIns="0" tIns="0" rIns="0" bIns="0" rtlCol="0" anchor="ctr"/>
          <a:lstStyle/>
          <a:p>
            <a:pPr algn="r"/>
            <a:r>
              <a:rPr lang="en-US" sz="1600" b="1" dirty="0">
                <a:solidFill>
                  <a:srgbClr val="E63946"/>
                </a:solidFill>
                <a:latin typeface="Calibri" pitchFamily="34" charset="0"/>
                <a:ea typeface="Calibri" pitchFamily="34" charset="-122"/>
                <a:cs typeface="Calibri" pitchFamily="34" charset="-120"/>
              </a:rPr>
              <a:t>Limited</a:t>
            </a:r>
            <a:endParaRPr lang="en-US" sz="1600" dirty="0"/>
          </a:p>
        </p:txBody>
      </p:sp>
      <p:sp>
        <p:nvSpPr>
          <p:cNvPr id="41" name="Shape 39"/>
          <p:cNvSpPr/>
          <p:nvPr/>
        </p:nvSpPr>
        <p:spPr>
          <a:xfrm>
            <a:off x="6522720" y="5388864"/>
            <a:ext cx="5120640" cy="1072896"/>
          </a:xfrm>
          <a:prstGeom prst="rect">
            <a:avLst/>
          </a:prstGeom>
          <a:solidFill>
            <a:srgbClr val="D6F5F0"/>
          </a:solidFill>
          <a:ln w="12700">
            <a:solidFill>
              <a:srgbClr val="D6F5F0"/>
            </a:solidFill>
            <a:prstDash val="solid"/>
          </a:ln>
        </p:spPr>
        <p:txBody>
          <a:bodyPr/>
          <a:lstStyle/>
          <a:p>
            <a:endParaRPr lang="en-US" sz="2400"/>
          </a:p>
        </p:txBody>
      </p:sp>
      <p:sp>
        <p:nvSpPr>
          <p:cNvPr id="42" name="Text 40"/>
          <p:cNvSpPr/>
          <p:nvPr/>
        </p:nvSpPr>
        <p:spPr>
          <a:xfrm>
            <a:off x="6644640" y="5437632"/>
            <a:ext cx="4876800" cy="975360"/>
          </a:xfrm>
          <a:prstGeom prst="rect">
            <a:avLst/>
          </a:prstGeom>
          <a:noFill/>
          <a:ln/>
        </p:spPr>
        <p:txBody>
          <a:bodyPr wrap="square" rtlCol="0" anchor="ctr"/>
          <a:lstStyle/>
          <a:p>
            <a:r>
              <a:rPr lang="en-US" sz="1333" i="1" dirty="0">
                <a:solidFill>
                  <a:srgbClr val="0A2342"/>
                </a:solidFill>
                <a:latin typeface="Calibri" pitchFamily="34" charset="0"/>
                <a:ea typeface="Calibri" pitchFamily="34" charset="-122"/>
                <a:cs typeface="Calibri" pitchFamily="34" charset="-120"/>
              </a:rPr>
              <a:t>Weak predictive performance. Demographic &amp; socioeconomic predictors alone insufficient — facility access, quality of care, transport, and cultural norms missing.</a:t>
            </a:r>
            <a:endParaRPr lang="en-US" sz="133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SPATIAL ANALYSIS</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solidFill>
                  <a:srgbClr val="0A2342"/>
                </a:solidFill>
                <a:latin typeface="Calibri" pitchFamily="34" charset="0"/>
                <a:ea typeface="Calibri" pitchFamily="34" charset="-122"/>
                <a:cs typeface="Calibri" pitchFamily="34" charset="-120"/>
              </a:rPr>
              <a:t>District-Level Maternal Health Coverage Index</a:t>
            </a:r>
            <a:endParaRPr lang="en-US" sz="3200" dirty="0"/>
          </a:p>
        </p:txBody>
      </p:sp>
      <p:sp>
        <p:nvSpPr>
          <p:cNvPr id="5" name="Text 3"/>
          <p:cNvSpPr/>
          <p:nvPr/>
        </p:nvSpPr>
        <p:spPr>
          <a:xfrm>
            <a:off x="426720" y="1402080"/>
            <a:ext cx="11338560" cy="426720"/>
          </a:xfrm>
          <a:prstGeom prst="rect">
            <a:avLst/>
          </a:prstGeom>
          <a:noFill/>
          <a:ln/>
        </p:spPr>
        <p:txBody>
          <a:bodyPr wrap="square" lIns="0" tIns="0" rIns="0" bIns="0" rtlCol="0" anchor="ctr"/>
          <a:lstStyle/>
          <a:p>
            <a:r>
              <a:rPr lang="en-US" sz="1733" dirty="0">
                <a:solidFill>
                  <a:srgbClr val="475569"/>
                </a:solidFill>
                <a:latin typeface="Calibri" pitchFamily="34" charset="0"/>
                <a:ea typeface="Calibri" pitchFamily="34" charset="-122"/>
                <a:cs typeface="Calibri" pitchFamily="34" charset="-120"/>
              </a:rPr>
              <a:t>Composite SBA + ANC4+ + PNC average — 2015, 2024, and the change between survey rounds</a:t>
            </a:r>
            <a:endParaRPr lang="en-US" sz="1733" dirty="0"/>
          </a:p>
        </p:txBody>
      </p:sp>
      <p:sp>
        <p:nvSpPr>
          <p:cNvPr id="6" name="Shape 4"/>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pic>
        <p:nvPicPr>
          <p:cNvPr id="7" name="Image 0" descr="/home/claude/map_2015.png"/>
          <p:cNvPicPr>
            <a:picLocks noChangeAspect="1"/>
          </p:cNvPicPr>
          <p:nvPr/>
        </p:nvPicPr>
        <p:blipFill>
          <a:blip r:embed="rId3"/>
          <a:srcRect/>
          <a:stretch/>
        </p:blipFill>
        <p:spPr>
          <a:xfrm>
            <a:off x="426720" y="1584960"/>
            <a:ext cx="3657600" cy="4632960"/>
          </a:xfrm>
          <a:prstGeom prst="rect">
            <a:avLst/>
          </a:prstGeom>
        </p:spPr>
      </p:pic>
      <p:sp>
        <p:nvSpPr>
          <p:cNvPr id="8" name="Shape 5"/>
          <p:cNvSpPr/>
          <p:nvPr/>
        </p:nvSpPr>
        <p:spPr>
          <a:xfrm>
            <a:off x="426720" y="6242304"/>
            <a:ext cx="3657600" cy="402336"/>
          </a:xfrm>
          <a:prstGeom prst="rect">
            <a:avLst/>
          </a:prstGeom>
          <a:solidFill>
            <a:srgbClr val="0A2342"/>
          </a:solidFill>
          <a:ln w="12700">
            <a:solidFill>
              <a:srgbClr val="0A2342"/>
            </a:solidFill>
            <a:prstDash val="solid"/>
          </a:ln>
        </p:spPr>
        <p:txBody>
          <a:bodyPr/>
          <a:lstStyle/>
          <a:p>
            <a:endParaRPr lang="en-US" sz="2400"/>
          </a:p>
        </p:txBody>
      </p:sp>
      <p:sp>
        <p:nvSpPr>
          <p:cNvPr id="9" name="Text 6"/>
          <p:cNvSpPr/>
          <p:nvPr/>
        </p:nvSpPr>
        <p:spPr>
          <a:xfrm>
            <a:off x="426720" y="6242304"/>
            <a:ext cx="3657600" cy="40233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2015 Baseline</a:t>
            </a:r>
            <a:endParaRPr lang="en-US" sz="1333" dirty="0"/>
          </a:p>
        </p:txBody>
      </p:sp>
      <p:pic>
        <p:nvPicPr>
          <p:cNvPr id="10" name="Image 1" descr="/home/claude/map_2024.png"/>
          <p:cNvPicPr>
            <a:picLocks noChangeAspect="1"/>
          </p:cNvPicPr>
          <p:nvPr/>
        </p:nvPicPr>
        <p:blipFill>
          <a:blip r:embed="rId4"/>
          <a:srcRect/>
          <a:stretch/>
        </p:blipFill>
        <p:spPr>
          <a:xfrm>
            <a:off x="4328160" y="1584960"/>
            <a:ext cx="3657600" cy="4632960"/>
          </a:xfrm>
          <a:prstGeom prst="rect">
            <a:avLst/>
          </a:prstGeom>
        </p:spPr>
      </p:pic>
      <p:sp>
        <p:nvSpPr>
          <p:cNvPr id="11" name="Shape 7"/>
          <p:cNvSpPr/>
          <p:nvPr/>
        </p:nvSpPr>
        <p:spPr>
          <a:xfrm>
            <a:off x="4328160" y="6242304"/>
            <a:ext cx="3657600" cy="402336"/>
          </a:xfrm>
          <a:prstGeom prst="rect">
            <a:avLst/>
          </a:prstGeom>
          <a:solidFill>
            <a:srgbClr val="0A2342"/>
          </a:solidFill>
          <a:ln w="12700">
            <a:solidFill>
              <a:srgbClr val="0A2342"/>
            </a:solidFill>
            <a:prstDash val="solid"/>
          </a:ln>
        </p:spPr>
        <p:txBody>
          <a:bodyPr/>
          <a:lstStyle/>
          <a:p>
            <a:endParaRPr lang="en-US" sz="2400"/>
          </a:p>
        </p:txBody>
      </p:sp>
      <p:sp>
        <p:nvSpPr>
          <p:cNvPr id="12" name="Text 8"/>
          <p:cNvSpPr/>
          <p:nvPr/>
        </p:nvSpPr>
        <p:spPr>
          <a:xfrm>
            <a:off x="4328160" y="6242304"/>
            <a:ext cx="3657600" cy="40233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2024 Current</a:t>
            </a:r>
            <a:endParaRPr lang="en-US" sz="1333" dirty="0"/>
          </a:p>
        </p:txBody>
      </p:sp>
      <p:pic>
        <p:nvPicPr>
          <p:cNvPr id="13" name="Image 2" descr="/home/claude/map_change.png"/>
          <p:cNvPicPr>
            <a:picLocks noChangeAspect="1"/>
          </p:cNvPicPr>
          <p:nvPr/>
        </p:nvPicPr>
        <p:blipFill>
          <a:blip r:embed="rId5"/>
          <a:srcRect/>
          <a:stretch/>
        </p:blipFill>
        <p:spPr>
          <a:xfrm>
            <a:off x="8229600" y="1584960"/>
            <a:ext cx="3657600" cy="4632960"/>
          </a:xfrm>
          <a:prstGeom prst="rect">
            <a:avLst/>
          </a:prstGeom>
        </p:spPr>
      </p:pic>
      <p:sp>
        <p:nvSpPr>
          <p:cNvPr id="14" name="Shape 9"/>
          <p:cNvSpPr/>
          <p:nvPr/>
        </p:nvSpPr>
        <p:spPr>
          <a:xfrm>
            <a:off x="8229600" y="6242304"/>
            <a:ext cx="3657600" cy="402336"/>
          </a:xfrm>
          <a:prstGeom prst="rect">
            <a:avLst/>
          </a:prstGeom>
          <a:solidFill>
            <a:srgbClr val="0A2342"/>
          </a:solidFill>
          <a:ln w="12700">
            <a:solidFill>
              <a:srgbClr val="0A2342"/>
            </a:solidFill>
            <a:prstDash val="solid"/>
          </a:ln>
        </p:spPr>
        <p:txBody>
          <a:bodyPr/>
          <a:lstStyle/>
          <a:p>
            <a:endParaRPr lang="en-US" sz="2400"/>
          </a:p>
        </p:txBody>
      </p:sp>
      <p:sp>
        <p:nvSpPr>
          <p:cNvPr id="15" name="Text 10"/>
          <p:cNvSpPr/>
          <p:nvPr/>
        </p:nvSpPr>
        <p:spPr>
          <a:xfrm>
            <a:off x="8229600" y="6242304"/>
            <a:ext cx="3657600" cy="40233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Change 2015→2024</a:t>
            </a:r>
            <a:endParaRPr lang="en-US" sz="1333" dirty="0"/>
          </a:p>
        </p:txBody>
      </p:sp>
      <p:sp>
        <p:nvSpPr>
          <p:cNvPr id="16" name="Shape 11"/>
          <p:cNvSpPr/>
          <p:nvPr/>
        </p:nvSpPr>
        <p:spPr>
          <a:xfrm>
            <a:off x="426720" y="1560576"/>
            <a:ext cx="11338560" cy="60960"/>
          </a:xfrm>
          <a:prstGeom prst="rect">
            <a:avLst/>
          </a:prstGeom>
          <a:solidFill>
            <a:srgbClr val="028090"/>
          </a:solidFill>
          <a:ln w="12700">
            <a:solidFill>
              <a:srgbClr val="028090"/>
            </a:solidFill>
            <a:prstDash val="solid"/>
          </a:ln>
        </p:spPr>
        <p:txBody>
          <a:bodyPr/>
          <a:lstStyle/>
          <a:p>
            <a:endParaRPr 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FINAL DATA PRODUCT</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solidFill>
                  <a:srgbClr val="0A2342"/>
                </a:solidFill>
                <a:latin typeface="Calibri" pitchFamily="34" charset="0"/>
                <a:ea typeface="Calibri" pitchFamily="34" charset="-122"/>
                <a:cs typeface="Calibri" pitchFamily="34" charset="-120"/>
              </a:rPr>
              <a:t>Power BI Dashboard: Decision-Support Storytelling</a:t>
            </a:r>
            <a:endParaRPr lang="en-US" sz="3200" dirty="0"/>
          </a:p>
        </p:txBody>
      </p:sp>
      <p:sp>
        <p:nvSpPr>
          <p:cNvPr id="5" name="Shape 3"/>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sp>
        <p:nvSpPr>
          <p:cNvPr id="6" name="Shape 4"/>
          <p:cNvSpPr/>
          <p:nvPr/>
        </p:nvSpPr>
        <p:spPr>
          <a:xfrm>
            <a:off x="426720" y="1731264"/>
            <a:ext cx="5608320" cy="4815840"/>
          </a:xfrm>
          <a:prstGeom prst="rect">
            <a:avLst/>
          </a:prstGeom>
          <a:solidFill>
            <a:srgbClr val="FFFFFF"/>
          </a:solidFill>
          <a:ln w="6350">
            <a:solidFill>
              <a:srgbClr val="DDE6EA"/>
            </a:solidFill>
            <a:prstDash val="solid"/>
          </a:ln>
          <a:effectLst>
            <a:outerShdw blurRad="76200" dist="25400" dir="8100000" algn="bl" rotWithShape="0">
              <a:srgbClr val="000000">
                <a:alpha val="7000"/>
              </a:srgbClr>
            </a:outerShdw>
          </a:effectLst>
        </p:spPr>
        <p:txBody>
          <a:bodyPr/>
          <a:lstStyle/>
          <a:p>
            <a:endParaRPr lang="en-US" sz="2400"/>
          </a:p>
        </p:txBody>
      </p:sp>
      <p:sp>
        <p:nvSpPr>
          <p:cNvPr id="7" name="Shape 5"/>
          <p:cNvSpPr/>
          <p:nvPr/>
        </p:nvSpPr>
        <p:spPr>
          <a:xfrm>
            <a:off x="609600" y="1926336"/>
            <a:ext cx="731520" cy="341376"/>
          </a:xfrm>
          <a:prstGeom prst="rect">
            <a:avLst/>
          </a:prstGeom>
          <a:solidFill>
            <a:srgbClr val="028090"/>
          </a:solidFill>
          <a:ln w="12700">
            <a:solidFill>
              <a:srgbClr val="028090"/>
            </a:solidFill>
            <a:prstDash val="solid"/>
          </a:ln>
        </p:spPr>
        <p:txBody>
          <a:bodyPr/>
          <a:lstStyle/>
          <a:p>
            <a:endParaRPr lang="en-US" sz="2400"/>
          </a:p>
        </p:txBody>
      </p:sp>
      <p:sp>
        <p:nvSpPr>
          <p:cNvPr id="8" name="Text 6"/>
          <p:cNvSpPr/>
          <p:nvPr/>
        </p:nvSpPr>
        <p:spPr>
          <a:xfrm>
            <a:off x="609600" y="1926336"/>
            <a:ext cx="731520" cy="341376"/>
          </a:xfrm>
          <a:prstGeom prst="rect">
            <a:avLst/>
          </a:prstGeom>
          <a:noFill/>
          <a:ln/>
        </p:spPr>
        <p:txBody>
          <a:bodyPr wrap="square" lIns="0" tIns="0" rIns="0" bIns="0" rtlCol="0" anchor="ctr"/>
          <a:lstStyle/>
          <a:p>
            <a:pPr algn="ctr"/>
            <a:r>
              <a:rPr lang="en-US" sz="1067" b="1" dirty="0">
                <a:solidFill>
                  <a:srgbClr val="FFFFFF"/>
                </a:solidFill>
              </a:rPr>
              <a:t>Page 1</a:t>
            </a:r>
            <a:endParaRPr lang="en-US" sz="1067" dirty="0"/>
          </a:p>
        </p:txBody>
      </p:sp>
      <p:sp>
        <p:nvSpPr>
          <p:cNvPr id="9" name="Text 7"/>
          <p:cNvSpPr/>
          <p:nvPr/>
        </p:nvSpPr>
        <p:spPr>
          <a:xfrm>
            <a:off x="1487424" y="1889760"/>
            <a:ext cx="4267200" cy="390144"/>
          </a:xfrm>
          <a:prstGeom prst="rect">
            <a:avLst/>
          </a:prstGeom>
          <a:noFill/>
          <a:ln/>
        </p:spPr>
        <p:txBody>
          <a:bodyPr wrap="square" lIns="0" tIns="0" rIns="0" bIns="0" rtlCol="0" anchor="ctr"/>
          <a:lstStyle/>
          <a:p>
            <a:r>
              <a:rPr lang="en-US" sz="1600" b="1" dirty="0">
                <a:solidFill>
                  <a:srgbClr val="0A2342"/>
                </a:solidFill>
                <a:latin typeface="Calibri" pitchFamily="34" charset="0"/>
                <a:ea typeface="Calibri" pitchFamily="34" charset="-122"/>
                <a:cs typeface="Calibri" pitchFamily="34" charset="-120"/>
              </a:rPr>
              <a:t>Executive Summary</a:t>
            </a:r>
            <a:endParaRPr lang="en-US" sz="1600" dirty="0"/>
          </a:p>
        </p:txBody>
      </p:sp>
      <p:sp>
        <p:nvSpPr>
          <p:cNvPr id="10" name="Text 8"/>
          <p:cNvSpPr/>
          <p:nvPr/>
        </p:nvSpPr>
        <p:spPr>
          <a:xfrm>
            <a:off x="1487424" y="2292096"/>
            <a:ext cx="4267200" cy="91440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National KPIs for ANC4+, SBA, PNC with trend comparison banners. High-level entry point for policymakers.</a:t>
            </a:r>
            <a:endParaRPr lang="en-US" sz="1400" dirty="0"/>
          </a:p>
        </p:txBody>
      </p:sp>
      <p:sp>
        <p:nvSpPr>
          <p:cNvPr id="11" name="Shape 9"/>
          <p:cNvSpPr/>
          <p:nvPr/>
        </p:nvSpPr>
        <p:spPr>
          <a:xfrm>
            <a:off x="609600" y="3364992"/>
            <a:ext cx="5242560" cy="24384"/>
          </a:xfrm>
          <a:prstGeom prst="rect">
            <a:avLst/>
          </a:prstGeom>
          <a:solidFill>
            <a:srgbClr val="DDE6EA"/>
          </a:solidFill>
          <a:ln w="12700">
            <a:solidFill>
              <a:srgbClr val="DDE6EA"/>
            </a:solidFill>
            <a:prstDash val="solid"/>
          </a:ln>
        </p:spPr>
        <p:txBody>
          <a:bodyPr/>
          <a:lstStyle/>
          <a:p>
            <a:endParaRPr lang="en-US" sz="2400"/>
          </a:p>
        </p:txBody>
      </p:sp>
      <p:sp>
        <p:nvSpPr>
          <p:cNvPr id="12" name="Shape 10"/>
          <p:cNvSpPr/>
          <p:nvPr/>
        </p:nvSpPr>
        <p:spPr>
          <a:xfrm>
            <a:off x="609600" y="3462528"/>
            <a:ext cx="731520" cy="341376"/>
          </a:xfrm>
          <a:prstGeom prst="rect">
            <a:avLst/>
          </a:prstGeom>
          <a:solidFill>
            <a:srgbClr val="028090"/>
          </a:solidFill>
          <a:ln w="12700">
            <a:solidFill>
              <a:srgbClr val="028090"/>
            </a:solidFill>
            <a:prstDash val="solid"/>
          </a:ln>
        </p:spPr>
        <p:txBody>
          <a:bodyPr/>
          <a:lstStyle/>
          <a:p>
            <a:endParaRPr lang="en-US" sz="2400"/>
          </a:p>
        </p:txBody>
      </p:sp>
      <p:sp>
        <p:nvSpPr>
          <p:cNvPr id="13" name="Text 11"/>
          <p:cNvSpPr/>
          <p:nvPr/>
        </p:nvSpPr>
        <p:spPr>
          <a:xfrm>
            <a:off x="609600" y="3462528"/>
            <a:ext cx="731520" cy="341376"/>
          </a:xfrm>
          <a:prstGeom prst="rect">
            <a:avLst/>
          </a:prstGeom>
          <a:noFill/>
          <a:ln/>
        </p:spPr>
        <p:txBody>
          <a:bodyPr wrap="square" lIns="0" tIns="0" rIns="0" bIns="0" rtlCol="0" anchor="ctr"/>
          <a:lstStyle/>
          <a:p>
            <a:pPr algn="ctr"/>
            <a:r>
              <a:rPr lang="en-US" sz="1067" b="1" dirty="0">
                <a:solidFill>
                  <a:srgbClr val="FFFFFF"/>
                </a:solidFill>
              </a:rPr>
              <a:t>Page 2</a:t>
            </a:r>
            <a:endParaRPr lang="en-US" sz="1067" dirty="0"/>
          </a:p>
        </p:txBody>
      </p:sp>
      <p:sp>
        <p:nvSpPr>
          <p:cNvPr id="14" name="Text 12"/>
          <p:cNvSpPr/>
          <p:nvPr/>
        </p:nvSpPr>
        <p:spPr>
          <a:xfrm>
            <a:off x="1487424" y="3425952"/>
            <a:ext cx="4267200" cy="390144"/>
          </a:xfrm>
          <a:prstGeom prst="rect">
            <a:avLst/>
          </a:prstGeom>
          <a:noFill/>
          <a:ln/>
        </p:spPr>
        <p:txBody>
          <a:bodyPr wrap="square" lIns="0" tIns="0" rIns="0" bIns="0" rtlCol="0" anchor="ctr"/>
          <a:lstStyle/>
          <a:p>
            <a:r>
              <a:rPr lang="en-US" sz="1600" b="1" dirty="0">
                <a:solidFill>
                  <a:srgbClr val="0A2342"/>
                </a:solidFill>
                <a:latin typeface="Calibri" pitchFamily="34" charset="0"/>
                <a:ea typeface="Calibri" pitchFamily="34" charset="-122"/>
                <a:cs typeface="Calibri" pitchFamily="34" charset="-120"/>
              </a:rPr>
              <a:t>Spatial Analysis</a:t>
            </a:r>
            <a:endParaRPr lang="en-US" sz="1600" dirty="0"/>
          </a:p>
        </p:txBody>
      </p:sp>
      <p:sp>
        <p:nvSpPr>
          <p:cNvPr id="15" name="Text 13"/>
          <p:cNvSpPr/>
          <p:nvPr/>
        </p:nvSpPr>
        <p:spPr>
          <a:xfrm>
            <a:off x="1487424" y="3828288"/>
            <a:ext cx="4267200" cy="91440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Interactive district-level maps for 2015, 2024, and coverage change. Filters by indicator and region.</a:t>
            </a:r>
            <a:endParaRPr lang="en-US" sz="1400" dirty="0"/>
          </a:p>
        </p:txBody>
      </p:sp>
      <p:sp>
        <p:nvSpPr>
          <p:cNvPr id="16" name="Shape 14"/>
          <p:cNvSpPr/>
          <p:nvPr/>
        </p:nvSpPr>
        <p:spPr>
          <a:xfrm>
            <a:off x="609600" y="4901184"/>
            <a:ext cx="5242560" cy="24384"/>
          </a:xfrm>
          <a:prstGeom prst="rect">
            <a:avLst/>
          </a:prstGeom>
          <a:solidFill>
            <a:srgbClr val="DDE6EA"/>
          </a:solidFill>
          <a:ln w="12700">
            <a:solidFill>
              <a:srgbClr val="DDE6EA"/>
            </a:solidFill>
            <a:prstDash val="solid"/>
          </a:ln>
        </p:spPr>
        <p:txBody>
          <a:bodyPr/>
          <a:lstStyle/>
          <a:p>
            <a:endParaRPr lang="en-US" sz="2400"/>
          </a:p>
        </p:txBody>
      </p:sp>
      <p:sp>
        <p:nvSpPr>
          <p:cNvPr id="17" name="Shape 15"/>
          <p:cNvSpPr/>
          <p:nvPr/>
        </p:nvSpPr>
        <p:spPr>
          <a:xfrm>
            <a:off x="609600" y="4998720"/>
            <a:ext cx="731520" cy="341376"/>
          </a:xfrm>
          <a:prstGeom prst="rect">
            <a:avLst/>
          </a:prstGeom>
          <a:solidFill>
            <a:srgbClr val="028090"/>
          </a:solidFill>
          <a:ln w="12700">
            <a:solidFill>
              <a:srgbClr val="028090"/>
            </a:solidFill>
            <a:prstDash val="solid"/>
          </a:ln>
        </p:spPr>
        <p:txBody>
          <a:bodyPr/>
          <a:lstStyle/>
          <a:p>
            <a:endParaRPr lang="en-US" sz="2400"/>
          </a:p>
        </p:txBody>
      </p:sp>
      <p:sp>
        <p:nvSpPr>
          <p:cNvPr id="18" name="Text 16"/>
          <p:cNvSpPr/>
          <p:nvPr/>
        </p:nvSpPr>
        <p:spPr>
          <a:xfrm>
            <a:off x="609600" y="4998720"/>
            <a:ext cx="731520" cy="341376"/>
          </a:xfrm>
          <a:prstGeom prst="rect">
            <a:avLst/>
          </a:prstGeom>
          <a:noFill/>
          <a:ln/>
        </p:spPr>
        <p:txBody>
          <a:bodyPr wrap="square" lIns="0" tIns="0" rIns="0" bIns="0" rtlCol="0" anchor="ctr"/>
          <a:lstStyle/>
          <a:p>
            <a:pPr algn="ctr"/>
            <a:r>
              <a:rPr lang="en-US" sz="1067" b="1" dirty="0">
                <a:solidFill>
                  <a:srgbClr val="FFFFFF"/>
                </a:solidFill>
              </a:rPr>
              <a:t>Page 3</a:t>
            </a:r>
            <a:endParaRPr lang="en-US" sz="1067" dirty="0"/>
          </a:p>
        </p:txBody>
      </p:sp>
      <p:sp>
        <p:nvSpPr>
          <p:cNvPr id="19" name="Text 17"/>
          <p:cNvSpPr/>
          <p:nvPr/>
        </p:nvSpPr>
        <p:spPr>
          <a:xfrm>
            <a:off x="1487424" y="4962144"/>
            <a:ext cx="4267200" cy="390144"/>
          </a:xfrm>
          <a:prstGeom prst="rect">
            <a:avLst/>
          </a:prstGeom>
          <a:noFill/>
          <a:ln/>
        </p:spPr>
        <p:txBody>
          <a:bodyPr wrap="square" lIns="0" tIns="0" rIns="0" bIns="0" rtlCol="0" anchor="ctr"/>
          <a:lstStyle/>
          <a:p>
            <a:r>
              <a:rPr lang="en-US" sz="1600" b="1" dirty="0">
                <a:solidFill>
                  <a:srgbClr val="0A2342"/>
                </a:solidFill>
                <a:latin typeface="Calibri" pitchFamily="34" charset="0"/>
                <a:ea typeface="Calibri" pitchFamily="34" charset="-122"/>
                <a:cs typeface="Calibri" pitchFamily="34" charset="-120"/>
              </a:rPr>
              <a:t>Indicator Comparison</a:t>
            </a:r>
            <a:endParaRPr lang="en-US" sz="1600" dirty="0"/>
          </a:p>
        </p:txBody>
      </p:sp>
      <p:sp>
        <p:nvSpPr>
          <p:cNvPr id="20" name="Text 18"/>
          <p:cNvSpPr/>
          <p:nvPr/>
        </p:nvSpPr>
        <p:spPr>
          <a:xfrm>
            <a:off x="1487424" y="5364480"/>
            <a:ext cx="4267200" cy="914400"/>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Side-by-side breakdown of ANC4+, SBA, PNC, and composite index — by wealth, education, and residence.</a:t>
            </a:r>
            <a:endParaRPr lang="en-US" sz="1400" dirty="0"/>
          </a:p>
        </p:txBody>
      </p:sp>
      <p:sp>
        <p:nvSpPr>
          <p:cNvPr id="21" name="Shape 19"/>
          <p:cNvSpPr/>
          <p:nvPr/>
        </p:nvSpPr>
        <p:spPr>
          <a:xfrm>
            <a:off x="6339840" y="1731264"/>
            <a:ext cx="5425440" cy="481584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US" sz="2400"/>
          </a:p>
        </p:txBody>
      </p:sp>
      <p:sp>
        <p:nvSpPr>
          <p:cNvPr id="22" name="Text 20"/>
          <p:cNvSpPr/>
          <p:nvPr/>
        </p:nvSpPr>
        <p:spPr>
          <a:xfrm>
            <a:off x="6583680" y="1889760"/>
            <a:ext cx="4876800" cy="426720"/>
          </a:xfrm>
          <a:prstGeom prst="rect">
            <a:avLst/>
          </a:prstGeom>
          <a:noFill/>
          <a:ln/>
        </p:spPr>
        <p:txBody>
          <a:bodyPr wrap="square" lIns="0" tIns="0" rIns="0" bIns="0" rtlCol="0" anchor="ctr"/>
          <a:lstStyle/>
          <a:p>
            <a:r>
              <a:rPr lang="en-US" sz="1600" b="1" dirty="0">
                <a:solidFill>
                  <a:srgbClr val="02C39A"/>
                </a:solidFill>
                <a:latin typeface="Calibri" pitchFamily="34" charset="0"/>
                <a:ea typeface="Calibri" pitchFamily="34" charset="-122"/>
                <a:cs typeface="Calibri" pitchFamily="34" charset="-120"/>
              </a:rPr>
              <a:t>Central Message</a:t>
            </a:r>
            <a:endParaRPr lang="en-US" sz="1600" dirty="0"/>
          </a:p>
        </p:txBody>
      </p:sp>
      <p:sp>
        <p:nvSpPr>
          <p:cNvPr id="23" name="Shape 21"/>
          <p:cNvSpPr/>
          <p:nvPr/>
        </p:nvSpPr>
        <p:spPr>
          <a:xfrm>
            <a:off x="6583680" y="2499360"/>
            <a:ext cx="268224" cy="268224"/>
          </a:xfrm>
          <a:prstGeom prst="ellipse">
            <a:avLst/>
          </a:prstGeom>
          <a:solidFill>
            <a:srgbClr val="028090"/>
          </a:solidFill>
          <a:ln w="12700">
            <a:solidFill>
              <a:srgbClr val="028090"/>
            </a:solidFill>
            <a:prstDash val="solid"/>
          </a:ln>
        </p:spPr>
        <p:txBody>
          <a:bodyPr/>
          <a:lstStyle/>
          <a:p>
            <a:endParaRPr lang="en-US" sz="2400"/>
          </a:p>
        </p:txBody>
      </p:sp>
      <p:sp>
        <p:nvSpPr>
          <p:cNvPr id="24" name="Text 22"/>
          <p:cNvSpPr/>
          <p:nvPr/>
        </p:nvSpPr>
        <p:spPr>
          <a:xfrm>
            <a:off x="7010400" y="2462784"/>
            <a:ext cx="457200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ANC4+ improved — more women engaging with antenatal care</a:t>
            </a:r>
            <a:endParaRPr lang="en-US" sz="1400" dirty="0"/>
          </a:p>
        </p:txBody>
      </p:sp>
      <p:sp>
        <p:nvSpPr>
          <p:cNvPr id="25" name="Shape 23"/>
          <p:cNvSpPr/>
          <p:nvPr/>
        </p:nvSpPr>
        <p:spPr>
          <a:xfrm>
            <a:off x="6583680" y="3255264"/>
            <a:ext cx="268224" cy="268224"/>
          </a:xfrm>
          <a:prstGeom prst="ellipse">
            <a:avLst/>
          </a:prstGeom>
          <a:solidFill>
            <a:srgbClr val="028090"/>
          </a:solidFill>
          <a:ln w="12700">
            <a:solidFill>
              <a:srgbClr val="028090"/>
            </a:solidFill>
            <a:prstDash val="solid"/>
          </a:ln>
        </p:spPr>
        <p:txBody>
          <a:bodyPr/>
          <a:lstStyle/>
          <a:p>
            <a:endParaRPr lang="en-US" sz="2400"/>
          </a:p>
        </p:txBody>
      </p:sp>
      <p:sp>
        <p:nvSpPr>
          <p:cNvPr id="26" name="Text 24"/>
          <p:cNvSpPr/>
          <p:nvPr/>
        </p:nvSpPr>
        <p:spPr>
          <a:xfrm>
            <a:off x="7010400" y="3218688"/>
            <a:ext cx="457200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PNC remained near-universal — consistent postnatal reach</a:t>
            </a:r>
            <a:endParaRPr lang="en-US" sz="1400" dirty="0"/>
          </a:p>
        </p:txBody>
      </p:sp>
      <p:sp>
        <p:nvSpPr>
          <p:cNvPr id="27" name="Shape 25"/>
          <p:cNvSpPr/>
          <p:nvPr/>
        </p:nvSpPr>
        <p:spPr>
          <a:xfrm>
            <a:off x="6583680" y="4011168"/>
            <a:ext cx="268224" cy="268224"/>
          </a:xfrm>
          <a:prstGeom prst="ellipse">
            <a:avLst/>
          </a:prstGeom>
          <a:solidFill>
            <a:srgbClr val="028090"/>
          </a:solidFill>
          <a:ln w="12700">
            <a:solidFill>
              <a:srgbClr val="028090"/>
            </a:solidFill>
            <a:prstDash val="solid"/>
          </a:ln>
        </p:spPr>
        <p:txBody>
          <a:bodyPr/>
          <a:lstStyle/>
          <a:p>
            <a:endParaRPr lang="en-US" sz="2400"/>
          </a:p>
        </p:txBody>
      </p:sp>
      <p:sp>
        <p:nvSpPr>
          <p:cNvPr id="28" name="Text 26"/>
          <p:cNvSpPr/>
          <p:nvPr/>
        </p:nvSpPr>
        <p:spPr>
          <a:xfrm>
            <a:off x="7010400" y="3974592"/>
            <a:ext cx="457200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SBA declined sharply — the most alarming gap in the continuum</a:t>
            </a:r>
            <a:endParaRPr lang="en-US" sz="1400" dirty="0"/>
          </a:p>
        </p:txBody>
      </p:sp>
      <p:sp>
        <p:nvSpPr>
          <p:cNvPr id="29" name="Shape 27"/>
          <p:cNvSpPr/>
          <p:nvPr/>
        </p:nvSpPr>
        <p:spPr>
          <a:xfrm>
            <a:off x="6583680" y="4767072"/>
            <a:ext cx="268224" cy="268224"/>
          </a:xfrm>
          <a:prstGeom prst="ellipse">
            <a:avLst/>
          </a:prstGeom>
          <a:solidFill>
            <a:srgbClr val="028090"/>
          </a:solidFill>
          <a:ln w="12700">
            <a:solidFill>
              <a:srgbClr val="028090"/>
            </a:solidFill>
            <a:prstDash val="solid"/>
          </a:ln>
        </p:spPr>
        <p:txBody>
          <a:bodyPr/>
          <a:lstStyle/>
          <a:p>
            <a:endParaRPr lang="en-US" sz="2400"/>
          </a:p>
        </p:txBody>
      </p:sp>
      <p:sp>
        <p:nvSpPr>
          <p:cNvPr id="30" name="Text 28"/>
          <p:cNvSpPr/>
          <p:nvPr/>
        </p:nvSpPr>
        <p:spPr>
          <a:xfrm>
            <a:off x="7010400" y="4730496"/>
            <a:ext cx="457200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District disparities persist — national averages are misleading</a:t>
            </a:r>
            <a:endParaRPr lang="en-US" sz="1400" dirty="0"/>
          </a:p>
        </p:txBody>
      </p:sp>
      <p:sp>
        <p:nvSpPr>
          <p:cNvPr id="31" name="Shape 29"/>
          <p:cNvSpPr/>
          <p:nvPr/>
        </p:nvSpPr>
        <p:spPr>
          <a:xfrm>
            <a:off x="6583680" y="5522976"/>
            <a:ext cx="268224" cy="268224"/>
          </a:xfrm>
          <a:prstGeom prst="ellipse">
            <a:avLst/>
          </a:prstGeom>
          <a:solidFill>
            <a:srgbClr val="028090"/>
          </a:solidFill>
          <a:ln w="12700">
            <a:solidFill>
              <a:srgbClr val="028090"/>
            </a:solidFill>
            <a:prstDash val="solid"/>
          </a:ln>
        </p:spPr>
        <p:txBody>
          <a:bodyPr/>
          <a:lstStyle/>
          <a:p>
            <a:endParaRPr lang="en-US" sz="2400"/>
          </a:p>
        </p:txBody>
      </p:sp>
      <p:sp>
        <p:nvSpPr>
          <p:cNvPr id="32" name="Text 30"/>
          <p:cNvSpPr/>
          <p:nvPr/>
        </p:nvSpPr>
        <p:spPr>
          <a:xfrm>
            <a:off x="7010400" y="5486400"/>
            <a:ext cx="4572000" cy="609600"/>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Equity gaps by wealth, education &amp; residence remain structural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6720" y="268224"/>
            <a:ext cx="2682240" cy="341376"/>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26720" y="268224"/>
            <a:ext cx="2682240" cy="341376"/>
          </a:xfrm>
          <a:prstGeom prst="rect">
            <a:avLst/>
          </a:prstGeom>
          <a:noFill/>
          <a:ln/>
        </p:spPr>
        <p:txBody>
          <a:bodyPr wrap="square" lIns="0" tIns="0" rIns="0" bIns="0" rtlCol="0" anchor="ctr"/>
          <a:lstStyle/>
          <a:p>
            <a:pPr algn="ctr"/>
            <a:r>
              <a:rPr lang="en-US" sz="1067" b="1" dirty="0">
                <a:solidFill>
                  <a:srgbClr val="FFFFFF"/>
                </a:solidFill>
              </a:rPr>
              <a:t>CONCLUSIONS</a:t>
            </a:r>
            <a:endParaRPr lang="en-US" sz="1067" dirty="0"/>
          </a:p>
        </p:txBody>
      </p:sp>
      <p:sp>
        <p:nvSpPr>
          <p:cNvPr id="4" name="Text 2"/>
          <p:cNvSpPr/>
          <p:nvPr/>
        </p:nvSpPr>
        <p:spPr>
          <a:xfrm>
            <a:off x="426720" y="682752"/>
            <a:ext cx="11338560" cy="731520"/>
          </a:xfrm>
          <a:prstGeom prst="rect">
            <a:avLst/>
          </a:prstGeom>
          <a:noFill/>
          <a:ln/>
        </p:spPr>
        <p:txBody>
          <a:bodyPr wrap="square" lIns="0" tIns="0" rIns="0" bIns="0" rtlCol="0" anchor="ctr"/>
          <a:lstStyle/>
          <a:p>
            <a:r>
              <a:rPr lang="en-US" sz="3200" b="1" dirty="0">
                <a:solidFill>
                  <a:srgbClr val="0A2342"/>
                </a:solidFill>
                <a:latin typeface="Calibri" pitchFamily="34" charset="0"/>
                <a:ea typeface="Calibri" pitchFamily="34" charset="-122"/>
                <a:cs typeface="Calibri" pitchFamily="34" charset="-120"/>
              </a:rPr>
              <a:t>Key Findings &amp; Policy Recommendations</a:t>
            </a:r>
            <a:endParaRPr lang="en-US" sz="3200" dirty="0"/>
          </a:p>
        </p:txBody>
      </p:sp>
      <p:sp>
        <p:nvSpPr>
          <p:cNvPr id="5" name="Shape 3"/>
          <p:cNvSpPr/>
          <p:nvPr/>
        </p:nvSpPr>
        <p:spPr>
          <a:xfrm>
            <a:off x="426720" y="1280160"/>
            <a:ext cx="1828800" cy="60960"/>
          </a:xfrm>
          <a:prstGeom prst="rect">
            <a:avLst/>
          </a:prstGeom>
          <a:solidFill>
            <a:srgbClr val="028090"/>
          </a:solidFill>
          <a:ln w="12700">
            <a:solidFill>
              <a:srgbClr val="028090"/>
            </a:solidFill>
            <a:prstDash val="solid"/>
          </a:ln>
        </p:spPr>
        <p:txBody>
          <a:bodyPr/>
          <a:lstStyle/>
          <a:p>
            <a:endParaRPr lang="en-US" sz="2400"/>
          </a:p>
        </p:txBody>
      </p:sp>
      <p:sp>
        <p:nvSpPr>
          <p:cNvPr id="6" name="Shape 4"/>
          <p:cNvSpPr/>
          <p:nvPr/>
        </p:nvSpPr>
        <p:spPr>
          <a:xfrm>
            <a:off x="426720" y="1731264"/>
            <a:ext cx="5486400" cy="4815840"/>
          </a:xfrm>
          <a:prstGeom prst="rect">
            <a:avLst/>
          </a:prstGeom>
          <a:solidFill>
            <a:srgbClr val="FFFFFF"/>
          </a:solidFill>
          <a:ln w="6350">
            <a:solidFill>
              <a:srgbClr val="DDE6EA"/>
            </a:solidFill>
            <a:prstDash val="solid"/>
          </a:ln>
          <a:effectLst>
            <a:outerShdw blurRad="63500" dist="25400" dir="8100000" algn="bl" rotWithShape="0">
              <a:srgbClr val="000000">
                <a:alpha val="7000"/>
              </a:srgbClr>
            </a:outerShdw>
          </a:effectLst>
        </p:spPr>
        <p:txBody>
          <a:bodyPr/>
          <a:lstStyle/>
          <a:p>
            <a:endParaRPr lang="en-US" sz="2400"/>
          </a:p>
        </p:txBody>
      </p:sp>
      <p:sp>
        <p:nvSpPr>
          <p:cNvPr id="7" name="Text 5"/>
          <p:cNvSpPr/>
          <p:nvPr/>
        </p:nvSpPr>
        <p:spPr>
          <a:xfrm>
            <a:off x="609600" y="1889760"/>
            <a:ext cx="4998720" cy="390144"/>
          </a:xfrm>
          <a:prstGeom prst="rect">
            <a:avLst/>
          </a:prstGeom>
          <a:noFill/>
          <a:ln/>
        </p:spPr>
        <p:txBody>
          <a:bodyPr wrap="square" lIns="0" tIns="0" rIns="0" bIns="0" rtlCol="0" anchor="ctr"/>
          <a:lstStyle/>
          <a:p>
            <a:r>
              <a:rPr lang="en-US" sz="1600" b="1" dirty="0">
                <a:solidFill>
                  <a:srgbClr val="028090"/>
                </a:solidFill>
                <a:latin typeface="Calibri" pitchFamily="34" charset="0"/>
                <a:ea typeface="Calibri" pitchFamily="34" charset="-122"/>
                <a:cs typeface="Calibri" pitchFamily="34" charset="-120"/>
              </a:rPr>
              <a:t>Key Findings</a:t>
            </a:r>
            <a:endParaRPr lang="en-US" sz="1600" dirty="0"/>
          </a:p>
        </p:txBody>
      </p:sp>
      <p:sp>
        <p:nvSpPr>
          <p:cNvPr id="8" name="Shape 6"/>
          <p:cNvSpPr/>
          <p:nvPr/>
        </p:nvSpPr>
        <p:spPr>
          <a:xfrm>
            <a:off x="609600" y="2414016"/>
            <a:ext cx="97536" cy="463296"/>
          </a:xfrm>
          <a:prstGeom prst="rect">
            <a:avLst/>
          </a:prstGeom>
          <a:solidFill>
            <a:srgbClr val="028090"/>
          </a:solidFill>
          <a:ln w="12700">
            <a:solidFill>
              <a:srgbClr val="028090"/>
            </a:solidFill>
            <a:prstDash val="solid"/>
          </a:ln>
        </p:spPr>
        <p:txBody>
          <a:bodyPr/>
          <a:lstStyle/>
          <a:p>
            <a:endParaRPr lang="en-US" sz="2400"/>
          </a:p>
        </p:txBody>
      </p:sp>
      <p:sp>
        <p:nvSpPr>
          <p:cNvPr id="9" name="Text 7"/>
          <p:cNvSpPr/>
          <p:nvPr/>
        </p:nvSpPr>
        <p:spPr>
          <a:xfrm>
            <a:off x="877824" y="2414016"/>
            <a:ext cx="4754880" cy="536448"/>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ANC4+ rose from 51% to 63% — progress in antenatal engagement</a:t>
            </a:r>
            <a:endParaRPr lang="en-US" sz="1400" dirty="0"/>
          </a:p>
        </p:txBody>
      </p:sp>
      <p:sp>
        <p:nvSpPr>
          <p:cNvPr id="10" name="Shape 8"/>
          <p:cNvSpPr/>
          <p:nvPr/>
        </p:nvSpPr>
        <p:spPr>
          <a:xfrm>
            <a:off x="609600" y="3084576"/>
            <a:ext cx="97536" cy="463296"/>
          </a:xfrm>
          <a:prstGeom prst="rect">
            <a:avLst/>
          </a:prstGeom>
          <a:solidFill>
            <a:srgbClr val="028090"/>
          </a:solidFill>
          <a:ln w="12700">
            <a:solidFill>
              <a:srgbClr val="028090"/>
            </a:solidFill>
            <a:prstDash val="solid"/>
          </a:ln>
        </p:spPr>
        <p:txBody>
          <a:bodyPr/>
          <a:lstStyle/>
          <a:p>
            <a:endParaRPr lang="en-US" sz="2400"/>
          </a:p>
        </p:txBody>
      </p:sp>
      <p:sp>
        <p:nvSpPr>
          <p:cNvPr id="11" name="Text 9"/>
          <p:cNvSpPr/>
          <p:nvPr/>
        </p:nvSpPr>
        <p:spPr>
          <a:xfrm>
            <a:off x="877824" y="3084576"/>
            <a:ext cx="4754880" cy="536448"/>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SBA fell from 50% to 33% — critical breakdown in care continuum</a:t>
            </a:r>
            <a:endParaRPr lang="en-US" sz="1400" dirty="0"/>
          </a:p>
        </p:txBody>
      </p:sp>
      <p:sp>
        <p:nvSpPr>
          <p:cNvPr id="12" name="Shape 10"/>
          <p:cNvSpPr/>
          <p:nvPr/>
        </p:nvSpPr>
        <p:spPr>
          <a:xfrm>
            <a:off x="609600" y="3755136"/>
            <a:ext cx="97536" cy="463296"/>
          </a:xfrm>
          <a:prstGeom prst="rect">
            <a:avLst/>
          </a:prstGeom>
          <a:solidFill>
            <a:srgbClr val="028090"/>
          </a:solidFill>
          <a:ln w="12700">
            <a:solidFill>
              <a:srgbClr val="028090"/>
            </a:solidFill>
            <a:prstDash val="solid"/>
          </a:ln>
        </p:spPr>
        <p:txBody>
          <a:bodyPr/>
          <a:lstStyle/>
          <a:p>
            <a:endParaRPr lang="en-US" sz="2400"/>
          </a:p>
        </p:txBody>
      </p:sp>
      <p:sp>
        <p:nvSpPr>
          <p:cNvPr id="13" name="Text 11"/>
          <p:cNvSpPr/>
          <p:nvPr/>
        </p:nvSpPr>
        <p:spPr>
          <a:xfrm>
            <a:off x="877824" y="3755136"/>
            <a:ext cx="4754880" cy="536448"/>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PNC remained near-universal (&gt;99%) across both rounds</a:t>
            </a:r>
            <a:endParaRPr lang="en-US" sz="1400" dirty="0"/>
          </a:p>
        </p:txBody>
      </p:sp>
      <p:sp>
        <p:nvSpPr>
          <p:cNvPr id="14" name="Shape 12"/>
          <p:cNvSpPr/>
          <p:nvPr/>
        </p:nvSpPr>
        <p:spPr>
          <a:xfrm>
            <a:off x="609600" y="4425696"/>
            <a:ext cx="97536" cy="463296"/>
          </a:xfrm>
          <a:prstGeom prst="rect">
            <a:avLst/>
          </a:prstGeom>
          <a:solidFill>
            <a:srgbClr val="028090"/>
          </a:solidFill>
          <a:ln w="12700">
            <a:solidFill>
              <a:srgbClr val="028090"/>
            </a:solidFill>
            <a:prstDash val="solid"/>
          </a:ln>
        </p:spPr>
        <p:txBody>
          <a:bodyPr/>
          <a:lstStyle/>
          <a:p>
            <a:endParaRPr lang="en-US" sz="2400"/>
          </a:p>
        </p:txBody>
      </p:sp>
      <p:sp>
        <p:nvSpPr>
          <p:cNvPr id="15" name="Text 13"/>
          <p:cNvSpPr/>
          <p:nvPr/>
        </p:nvSpPr>
        <p:spPr>
          <a:xfrm>
            <a:off x="877824" y="4425696"/>
            <a:ext cx="4754880" cy="536448"/>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Wealth, education &amp; residence gaps are persistent and structural</a:t>
            </a:r>
            <a:endParaRPr lang="en-US" sz="1400" dirty="0"/>
          </a:p>
        </p:txBody>
      </p:sp>
      <p:sp>
        <p:nvSpPr>
          <p:cNvPr id="16" name="Shape 14"/>
          <p:cNvSpPr/>
          <p:nvPr/>
        </p:nvSpPr>
        <p:spPr>
          <a:xfrm>
            <a:off x="609600" y="5096256"/>
            <a:ext cx="97536" cy="463296"/>
          </a:xfrm>
          <a:prstGeom prst="rect">
            <a:avLst/>
          </a:prstGeom>
          <a:solidFill>
            <a:srgbClr val="028090"/>
          </a:solidFill>
          <a:ln w="12700">
            <a:solidFill>
              <a:srgbClr val="028090"/>
            </a:solidFill>
            <a:prstDash val="solid"/>
          </a:ln>
        </p:spPr>
        <p:txBody>
          <a:bodyPr/>
          <a:lstStyle/>
          <a:p>
            <a:endParaRPr lang="en-US" sz="2400"/>
          </a:p>
        </p:txBody>
      </p:sp>
      <p:sp>
        <p:nvSpPr>
          <p:cNvPr id="17" name="Text 15"/>
          <p:cNvSpPr/>
          <p:nvPr/>
        </p:nvSpPr>
        <p:spPr>
          <a:xfrm>
            <a:off x="877824" y="5096256"/>
            <a:ext cx="4754880" cy="536448"/>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Predictive models useful for profiling risk, not precise prediction</a:t>
            </a:r>
            <a:endParaRPr lang="en-US" sz="1400" dirty="0"/>
          </a:p>
        </p:txBody>
      </p:sp>
      <p:sp>
        <p:nvSpPr>
          <p:cNvPr id="18" name="Shape 16"/>
          <p:cNvSpPr/>
          <p:nvPr/>
        </p:nvSpPr>
        <p:spPr>
          <a:xfrm>
            <a:off x="609600" y="5766816"/>
            <a:ext cx="97536" cy="463296"/>
          </a:xfrm>
          <a:prstGeom prst="rect">
            <a:avLst/>
          </a:prstGeom>
          <a:solidFill>
            <a:srgbClr val="028090"/>
          </a:solidFill>
          <a:ln w="12700">
            <a:solidFill>
              <a:srgbClr val="028090"/>
            </a:solidFill>
            <a:prstDash val="solid"/>
          </a:ln>
        </p:spPr>
        <p:txBody>
          <a:bodyPr/>
          <a:lstStyle/>
          <a:p>
            <a:endParaRPr lang="en-US" sz="2400"/>
          </a:p>
        </p:txBody>
      </p:sp>
      <p:sp>
        <p:nvSpPr>
          <p:cNvPr id="19" name="Text 17"/>
          <p:cNvSpPr/>
          <p:nvPr/>
        </p:nvSpPr>
        <p:spPr>
          <a:xfrm>
            <a:off x="877824" y="5766816"/>
            <a:ext cx="4754880" cy="536448"/>
          </a:xfrm>
          <a:prstGeom prst="rect">
            <a:avLst/>
          </a:prstGeom>
          <a:noFill/>
          <a:ln/>
        </p:spPr>
        <p:txBody>
          <a:bodyPr wrap="square" rtlCol="0" anchor="ctr"/>
          <a:lstStyle/>
          <a:p>
            <a:r>
              <a:rPr lang="en-US" sz="1400" dirty="0">
                <a:solidFill>
                  <a:srgbClr val="475569"/>
                </a:solidFill>
                <a:latin typeface="Calibri" pitchFamily="34" charset="0"/>
                <a:ea typeface="Calibri" pitchFamily="34" charset="-122"/>
                <a:cs typeface="Calibri" pitchFamily="34" charset="-120"/>
              </a:rPr>
              <a:t>Northern districts improved; central/southern stagnated or declined</a:t>
            </a:r>
            <a:endParaRPr lang="en-US" sz="1400" dirty="0"/>
          </a:p>
        </p:txBody>
      </p:sp>
      <p:sp>
        <p:nvSpPr>
          <p:cNvPr id="20" name="Shape 18"/>
          <p:cNvSpPr/>
          <p:nvPr/>
        </p:nvSpPr>
        <p:spPr>
          <a:xfrm>
            <a:off x="6217920" y="1731264"/>
            <a:ext cx="5547360" cy="4815840"/>
          </a:xfrm>
          <a:prstGeom prst="rect">
            <a:avLst/>
          </a:prstGeom>
          <a:solidFill>
            <a:srgbClr val="0A2342"/>
          </a:solidFill>
          <a:ln w="12700">
            <a:solidFill>
              <a:srgbClr val="0A2342"/>
            </a:solidFill>
            <a:prstDash val="solid"/>
          </a:ln>
          <a:effectLst>
            <a:outerShdw blurRad="63500" dist="25400" dir="8100000" algn="bl" rotWithShape="0">
              <a:srgbClr val="000000">
                <a:alpha val="10000"/>
              </a:srgbClr>
            </a:outerShdw>
          </a:effectLst>
        </p:spPr>
        <p:txBody>
          <a:bodyPr/>
          <a:lstStyle/>
          <a:p>
            <a:endParaRPr lang="en-US" sz="2400"/>
          </a:p>
        </p:txBody>
      </p:sp>
      <p:sp>
        <p:nvSpPr>
          <p:cNvPr id="21" name="Text 19"/>
          <p:cNvSpPr/>
          <p:nvPr/>
        </p:nvSpPr>
        <p:spPr>
          <a:xfrm>
            <a:off x="6400800" y="1889760"/>
            <a:ext cx="5120640" cy="390144"/>
          </a:xfrm>
          <a:prstGeom prst="rect">
            <a:avLst/>
          </a:prstGeom>
          <a:noFill/>
          <a:ln/>
        </p:spPr>
        <p:txBody>
          <a:bodyPr wrap="square" lIns="0" tIns="0" rIns="0" bIns="0" rtlCol="0" anchor="ctr"/>
          <a:lstStyle/>
          <a:p>
            <a:r>
              <a:rPr lang="en-US" sz="1600" b="1" dirty="0">
                <a:solidFill>
                  <a:srgbClr val="02C39A"/>
                </a:solidFill>
                <a:latin typeface="Calibri" pitchFamily="34" charset="0"/>
                <a:ea typeface="Calibri" pitchFamily="34" charset="-122"/>
                <a:cs typeface="Calibri" pitchFamily="34" charset="-120"/>
              </a:rPr>
              <a:t>Recommendations</a:t>
            </a:r>
            <a:endParaRPr lang="en-US" sz="1600" dirty="0"/>
          </a:p>
        </p:txBody>
      </p:sp>
      <p:sp>
        <p:nvSpPr>
          <p:cNvPr id="22" name="Shape 20"/>
          <p:cNvSpPr/>
          <p:nvPr/>
        </p:nvSpPr>
        <p:spPr>
          <a:xfrm>
            <a:off x="6400800" y="2462784"/>
            <a:ext cx="341376" cy="341376"/>
          </a:xfrm>
          <a:prstGeom prst="ellipse">
            <a:avLst/>
          </a:prstGeom>
          <a:solidFill>
            <a:srgbClr val="02C39A"/>
          </a:solidFill>
          <a:ln w="12700">
            <a:solidFill>
              <a:srgbClr val="02C39A"/>
            </a:solidFill>
            <a:prstDash val="solid"/>
          </a:ln>
        </p:spPr>
        <p:txBody>
          <a:bodyPr/>
          <a:lstStyle/>
          <a:p>
            <a:endParaRPr lang="en-US" sz="2400"/>
          </a:p>
        </p:txBody>
      </p:sp>
      <p:sp>
        <p:nvSpPr>
          <p:cNvPr id="23" name="Text 21"/>
          <p:cNvSpPr/>
          <p:nvPr/>
        </p:nvSpPr>
        <p:spPr>
          <a:xfrm>
            <a:off x="6400800" y="2462784"/>
            <a:ext cx="341376" cy="341376"/>
          </a:xfrm>
          <a:prstGeom prst="rect">
            <a:avLst/>
          </a:prstGeom>
          <a:noFill/>
          <a:ln/>
        </p:spPr>
        <p:txBody>
          <a:bodyPr wrap="square" lIns="0" tIns="0" rIns="0" bIns="0" rtlCol="0" anchor="ctr"/>
          <a:lstStyle/>
          <a:p>
            <a:pPr algn="ctr"/>
            <a:r>
              <a:rPr lang="en-US" sz="1067" b="1" dirty="0">
                <a:solidFill>
                  <a:srgbClr val="0A2342"/>
                </a:solidFill>
              </a:rPr>
              <a:t>1</a:t>
            </a:r>
            <a:endParaRPr lang="en-US" sz="1067" dirty="0"/>
          </a:p>
        </p:txBody>
      </p:sp>
      <p:sp>
        <p:nvSpPr>
          <p:cNvPr id="24" name="Text 22"/>
          <p:cNvSpPr/>
          <p:nvPr/>
        </p:nvSpPr>
        <p:spPr>
          <a:xfrm>
            <a:off x="6888480" y="2426208"/>
            <a:ext cx="4693920" cy="585216"/>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Prioritize reversing SBA decline: strengthen facility delivery, referrals &amp; transport</a:t>
            </a:r>
            <a:endParaRPr lang="en-US" sz="1400" dirty="0"/>
          </a:p>
        </p:txBody>
      </p:sp>
      <p:sp>
        <p:nvSpPr>
          <p:cNvPr id="25" name="Shape 23"/>
          <p:cNvSpPr/>
          <p:nvPr/>
        </p:nvSpPr>
        <p:spPr>
          <a:xfrm>
            <a:off x="6400800" y="3133344"/>
            <a:ext cx="341376" cy="341376"/>
          </a:xfrm>
          <a:prstGeom prst="ellipse">
            <a:avLst/>
          </a:prstGeom>
          <a:solidFill>
            <a:srgbClr val="02C39A"/>
          </a:solidFill>
          <a:ln w="12700">
            <a:solidFill>
              <a:srgbClr val="02C39A"/>
            </a:solidFill>
            <a:prstDash val="solid"/>
          </a:ln>
        </p:spPr>
        <p:txBody>
          <a:bodyPr/>
          <a:lstStyle/>
          <a:p>
            <a:endParaRPr lang="en-US" sz="2400"/>
          </a:p>
        </p:txBody>
      </p:sp>
      <p:sp>
        <p:nvSpPr>
          <p:cNvPr id="26" name="Text 24"/>
          <p:cNvSpPr/>
          <p:nvPr/>
        </p:nvSpPr>
        <p:spPr>
          <a:xfrm>
            <a:off x="6400800" y="3133344"/>
            <a:ext cx="341376" cy="341376"/>
          </a:xfrm>
          <a:prstGeom prst="rect">
            <a:avLst/>
          </a:prstGeom>
          <a:noFill/>
          <a:ln/>
        </p:spPr>
        <p:txBody>
          <a:bodyPr wrap="square" lIns="0" tIns="0" rIns="0" bIns="0" rtlCol="0" anchor="ctr"/>
          <a:lstStyle/>
          <a:p>
            <a:pPr algn="ctr"/>
            <a:r>
              <a:rPr lang="en-US" sz="1067" b="1" dirty="0">
                <a:solidFill>
                  <a:srgbClr val="0A2342"/>
                </a:solidFill>
              </a:rPr>
              <a:t>2</a:t>
            </a:r>
            <a:endParaRPr lang="en-US" sz="1067" dirty="0"/>
          </a:p>
        </p:txBody>
      </p:sp>
      <p:sp>
        <p:nvSpPr>
          <p:cNvPr id="27" name="Text 25"/>
          <p:cNvSpPr/>
          <p:nvPr/>
        </p:nvSpPr>
        <p:spPr>
          <a:xfrm>
            <a:off x="6888480" y="3096768"/>
            <a:ext cx="4693920" cy="585216"/>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Target declining districts with spatial planning &amp; resource reallocation</a:t>
            </a:r>
            <a:endParaRPr lang="en-US" sz="1400" dirty="0"/>
          </a:p>
        </p:txBody>
      </p:sp>
      <p:sp>
        <p:nvSpPr>
          <p:cNvPr id="28" name="Shape 26"/>
          <p:cNvSpPr/>
          <p:nvPr/>
        </p:nvSpPr>
        <p:spPr>
          <a:xfrm>
            <a:off x="6400800" y="3803904"/>
            <a:ext cx="341376" cy="341376"/>
          </a:xfrm>
          <a:prstGeom prst="ellipse">
            <a:avLst/>
          </a:prstGeom>
          <a:solidFill>
            <a:srgbClr val="02C39A"/>
          </a:solidFill>
          <a:ln w="12700">
            <a:solidFill>
              <a:srgbClr val="02C39A"/>
            </a:solidFill>
            <a:prstDash val="solid"/>
          </a:ln>
        </p:spPr>
        <p:txBody>
          <a:bodyPr/>
          <a:lstStyle/>
          <a:p>
            <a:endParaRPr lang="en-US" sz="2400"/>
          </a:p>
        </p:txBody>
      </p:sp>
      <p:sp>
        <p:nvSpPr>
          <p:cNvPr id="29" name="Text 27"/>
          <p:cNvSpPr/>
          <p:nvPr/>
        </p:nvSpPr>
        <p:spPr>
          <a:xfrm>
            <a:off x="6400800" y="3803904"/>
            <a:ext cx="341376" cy="341376"/>
          </a:xfrm>
          <a:prstGeom prst="rect">
            <a:avLst/>
          </a:prstGeom>
          <a:noFill/>
          <a:ln/>
        </p:spPr>
        <p:txBody>
          <a:bodyPr wrap="square" lIns="0" tIns="0" rIns="0" bIns="0" rtlCol="0" anchor="ctr"/>
          <a:lstStyle/>
          <a:p>
            <a:pPr algn="ctr"/>
            <a:r>
              <a:rPr lang="en-US" sz="1067" b="1" dirty="0">
                <a:solidFill>
                  <a:srgbClr val="0A2342"/>
                </a:solidFill>
              </a:rPr>
              <a:t>3</a:t>
            </a:r>
            <a:endParaRPr lang="en-US" sz="1067" dirty="0"/>
          </a:p>
        </p:txBody>
      </p:sp>
      <p:sp>
        <p:nvSpPr>
          <p:cNvPr id="30" name="Text 28"/>
          <p:cNvSpPr/>
          <p:nvPr/>
        </p:nvSpPr>
        <p:spPr>
          <a:xfrm>
            <a:off x="6888480" y="3767328"/>
            <a:ext cx="4693920" cy="585216"/>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Equity-focused programs for rural, poor &amp; low-education women</a:t>
            </a:r>
            <a:endParaRPr lang="en-US" sz="1400" dirty="0"/>
          </a:p>
        </p:txBody>
      </p:sp>
      <p:sp>
        <p:nvSpPr>
          <p:cNvPr id="31" name="Shape 29"/>
          <p:cNvSpPr/>
          <p:nvPr/>
        </p:nvSpPr>
        <p:spPr>
          <a:xfrm>
            <a:off x="6400800" y="4474464"/>
            <a:ext cx="341376" cy="341376"/>
          </a:xfrm>
          <a:prstGeom prst="ellipse">
            <a:avLst/>
          </a:prstGeom>
          <a:solidFill>
            <a:srgbClr val="02C39A"/>
          </a:solidFill>
          <a:ln w="12700">
            <a:solidFill>
              <a:srgbClr val="02C39A"/>
            </a:solidFill>
            <a:prstDash val="solid"/>
          </a:ln>
        </p:spPr>
        <p:txBody>
          <a:bodyPr/>
          <a:lstStyle/>
          <a:p>
            <a:endParaRPr lang="en-US" sz="2400"/>
          </a:p>
        </p:txBody>
      </p:sp>
      <p:sp>
        <p:nvSpPr>
          <p:cNvPr id="32" name="Text 30"/>
          <p:cNvSpPr/>
          <p:nvPr/>
        </p:nvSpPr>
        <p:spPr>
          <a:xfrm>
            <a:off x="6400800" y="4474464"/>
            <a:ext cx="341376" cy="341376"/>
          </a:xfrm>
          <a:prstGeom prst="rect">
            <a:avLst/>
          </a:prstGeom>
          <a:noFill/>
          <a:ln/>
        </p:spPr>
        <p:txBody>
          <a:bodyPr wrap="square" lIns="0" tIns="0" rIns="0" bIns="0" rtlCol="0" anchor="ctr"/>
          <a:lstStyle/>
          <a:p>
            <a:pPr algn="ctr"/>
            <a:r>
              <a:rPr lang="en-US" sz="1067" b="1" dirty="0">
                <a:solidFill>
                  <a:srgbClr val="0A2342"/>
                </a:solidFill>
              </a:rPr>
              <a:t>4</a:t>
            </a:r>
            <a:endParaRPr lang="en-US" sz="1067" dirty="0"/>
          </a:p>
        </p:txBody>
      </p:sp>
      <p:sp>
        <p:nvSpPr>
          <p:cNvPr id="33" name="Text 31"/>
          <p:cNvSpPr/>
          <p:nvPr/>
        </p:nvSpPr>
        <p:spPr>
          <a:xfrm>
            <a:off x="6888480" y="4437888"/>
            <a:ext cx="4693920" cy="585216"/>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Add quality-of-care, distance &amp; community variables to predictive models</a:t>
            </a:r>
            <a:endParaRPr lang="en-US" sz="1400" dirty="0"/>
          </a:p>
        </p:txBody>
      </p:sp>
      <p:sp>
        <p:nvSpPr>
          <p:cNvPr id="34" name="Shape 32"/>
          <p:cNvSpPr/>
          <p:nvPr/>
        </p:nvSpPr>
        <p:spPr>
          <a:xfrm>
            <a:off x="6400800" y="5145024"/>
            <a:ext cx="341376" cy="341376"/>
          </a:xfrm>
          <a:prstGeom prst="ellipse">
            <a:avLst/>
          </a:prstGeom>
          <a:solidFill>
            <a:srgbClr val="02C39A"/>
          </a:solidFill>
          <a:ln w="12700">
            <a:solidFill>
              <a:srgbClr val="02C39A"/>
            </a:solidFill>
            <a:prstDash val="solid"/>
          </a:ln>
        </p:spPr>
        <p:txBody>
          <a:bodyPr/>
          <a:lstStyle/>
          <a:p>
            <a:endParaRPr lang="en-US" sz="2400"/>
          </a:p>
        </p:txBody>
      </p:sp>
      <p:sp>
        <p:nvSpPr>
          <p:cNvPr id="35" name="Text 33"/>
          <p:cNvSpPr/>
          <p:nvPr/>
        </p:nvSpPr>
        <p:spPr>
          <a:xfrm>
            <a:off x="6400800" y="5145024"/>
            <a:ext cx="341376" cy="341376"/>
          </a:xfrm>
          <a:prstGeom prst="rect">
            <a:avLst/>
          </a:prstGeom>
          <a:noFill/>
          <a:ln/>
        </p:spPr>
        <p:txBody>
          <a:bodyPr wrap="square" lIns="0" tIns="0" rIns="0" bIns="0" rtlCol="0" anchor="ctr"/>
          <a:lstStyle/>
          <a:p>
            <a:pPr algn="ctr"/>
            <a:r>
              <a:rPr lang="en-US" sz="1067" b="1" dirty="0">
                <a:solidFill>
                  <a:srgbClr val="0A2342"/>
                </a:solidFill>
              </a:rPr>
              <a:t>5</a:t>
            </a:r>
            <a:endParaRPr lang="en-US" sz="1067" dirty="0"/>
          </a:p>
        </p:txBody>
      </p:sp>
      <p:sp>
        <p:nvSpPr>
          <p:cNvPr id="36" name="Text 34"/>
          <p:cNvSpPr/>
          <p:nvPr/>
        </p:nvSpPr>
        <p:spPr>
          <a:xfrm>
            <a:off x="6888480" y="5108448"/>
            <a:ext cx="4693920" cy="585216"/>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Use Power BI dashboards as routine planning tools for district monitoring</a:t>
            </a:r>
            <a:endParaRPr lang="en-US" sz="1400" dirty="0"/>
          </a:p>
        </p:txBody>
      </p:sp>
      <p:sp>
        <p:nvSpPr>
          <p:cNvPr id="37" name="Shape 35"/>
          <p:cNvSpPr/>
          <p:nvPr/>
        </p:nvSpPr>
        <p:spPr>
          <a:xfrm>
            <a:off x="6400800" y="5815584"/>
            <a:ext cx="341376" cy="341376"/>
          </a:xfrm>
          <a:prstGeom prst="ellipse">
            <a:avLst/>
          </a:prstGeom>
          <a:solidFill>
            <a:srgbClr val="02C39A"/>
          </a:solidFill>
          <a:ln w="12700">
            <a:solidFill>
              <a:srgbClr val="02C39A"/>
            </a:solidFill>
            <a:prstDash val="solid"/>
          </a:ln>
        </p:spPr>
        <p:txBody>
          <a:bodyPr/>
          <a:lstStyle/>
          <a:p>
            <a:endParaRPr lang="en-US" sz="2400"/>
          </a:p>
        </p:txBody>
      </p:sp>
      <p:sp>
        <p:nvSpPr>
          <p:cNvPr id="38" name="Text 36"/>
          <p:cNvSpPr/>
          <p:nvPr/>
        </p:nvSpPr>
        <p:spPr>
          <a:xfrm>
            <a:off x="6400800" y="5815584"/>
            <a:ext cx="341376" cy="341376"/>
          </a:xfrm>
          <a:prstGeom prst="rect">
            <a:avLst/>
          </a:prstGeom>
          <a:noFill/>
          <a:ln/>
        </p:spPr>
        <p:txBody>
          <a:bodyPr wrap="square" lIns="0" tIns="0" rIns="0" bIns="0" rtlCol="0" anchor="ctr"/>
          <a:lstStyle/>
          <a:p>
            <a:pPr algn="ctr"/>
            <a:r>
              <a:rPr lang="en-US" sz="1067" b="1" dirty="0">
                <a:solidFill>
                  <a:srgbClr val="0A2342"/>
                </a:solidFill>
              </a:rPr>
              <a:t>6</a:t>
            </a:r>
            <a:endParaRPr lang="en-US" sz="1067" dirty="0"/>
          </a:p>
        </p:txBody>
      </p:sp>
      <p:sp>
        <p:nvSpPr>
          <p:cNvPr id="39" name="Text 37"/>
          <p:cNvSpPr/>
          <p:nvPr/>
        </p:nvSpPr>
        <p:spPr>
          <a:xfrm>
            <a:off x="6888480" y="5779008"/>
            <a:ext cx="4693920" cy="585216"/>
          </a:xfrm>
          <a:prstGeom prst="rect">
            <a:avLst/>
          </a:prstGeom>
          <a:noFill/>
          <a:ln/>
        </p:spPr>
        <p:txBody>
          <a:bodyPr wrap="square" rtlCol="0" anchor="ctr"/>
          <a:lstStyle/>
          <a:p>
            <a:r>
              <a:rPr lang="en-US" sz="1400" dirty="0">
                <a:solidFill>
                  <a:srgbClr val="FFFFFF"/>
                </a:solidFill>
                <a:latin typeface="Calibri" pitchFamily="34" charset="0"/>
                <a:ea typeface="Calibri" pitchFamily="34" charset="-122"/>
                <a:cs typeface="Calibri" pitchFamily="34" charset="-120"/>
              </a:rPr>
              <a:t>Qualitative research to explain the ANC4+–SBA disconnect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028090"/>
          </a:solidFill>
          <a:ln w="12700">
            <a:solidFill>
              <a:srgbClr val="028090"/>
            </a:solidFill>
            <a:prstDash val="solid"/>
          </a:ln>
        </p:spPr>
        <p:txBody>
          <a:bodyPr/>
          <a:lstStyle/>
          <a:p>
            <a:endParaRPr lang="en-US" sz="2400"/>
          </a:p>
        </p:txBody>
      </p:sp>
      <p:sp>
        <p:nvSpPr>
          <p:cNvPr id="3" name="Text 1"/>
          <p:cNvSpPr/>
          <p:nvPr/>
        </p:nvSpPr>
        <p:spPr>
          <a:xfrm>
            <a:off x="487680" y="365760"/>
            <a:ext cx="11338560" cy="609600"/>
          </a:xfrm>
          <a:prstGeom prst="rect">
            <a:avLst/>
          </a:prstGeom>
          <a:noFill/>
          <a:ln/>
        </p:spPr>
        <p:txBody>
          <a:bodyPr wrap="square" rtlCol="0" anchor="ctr"/>
          <a:lstStyle/>
          <a:p>
            <a:r>
              <a:rPr lang="en-US" sz="2933" b="1" dirty="0">
                <a:latin typeface="Calibri" pitchFamily="34" charset="0"/>
                <a:ea typeface="Calibri" pitchFamily="34" charset="-122"/>
                <a:cs typeface="Calibri" pitchFamily="34" charset="-120"/>
              </a:rPr>
              <a:t>References &amp; Acknowledgements</a:t>
            </a:r>
            <a:endParaRPr lang="en-US" sz="2933" dirty="0"/>
          </a:p>
        </p:txBody>
      </p:sp>
      <p:sp>
        <p:nvSpPr>
          <p:cNvPr id="4" name="Shape 2"/>
          <p:cNvSpPr/>
          <p:nvPr/>
        </p:nvSpPr>
        <p:spPr>
          <a:xfrm>
            <a:off x="487680" y="999744"/>
            <a:ext cx="3048000" cy="60960"/>
          </a:xfrm>
          <a:prstGeom prst="rect">
            <a:avLst/>
          </a:prstGeom>
          <a:solidFill>
            <a:srgbClr val="028090"/>
          </a:solidFill>
          <a:ln w="12700">
            <a:solidFill>
              <a:srgbClr val="028090"/>
            </a:solidFill>
            <a:prstDash val="solid"/>
          </a:ln>
        </p:spPr>
        <p:txBody>
          <a:bodyPr/>
          <a:lstStyle/>
          <a:p>
            <a:endParaRPr lang="en-US" sz="2400"/>
          </a:p>
        </p:txBody>
      </p:sp>
      <p:sp>
        <p:nvSpPr>
          <p:cNvPr id="5" name="Text 3"/>
          <p:cNvSpPr/>
          <p:nvPr/>
        </p:nvSpPr>
        <p:spPr>
          <a:xfrm>
            <a:off x="487680" y="1194816"/>
            <a:ext cx="54864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Data References</a:t>
            </a:r>
            <a:endParaRPr lang="en-US" sz="1600" dirty="0"/>
          </a:p>
        </p:txBody>
      </p:sp>
      <p:sp>
        <p:nvSpPr>
          <p:cNvPr id="6" name="Text 4"/>
          <p:cNvSpPr/>
          <p:nvPr/>
        </p:nvSpPr>
        <p:spPr>
          <a:xfrm>
            <a:off x="487680" y="1609344"/>
            <a:ext cx="5486400" cy="438912"/>
          </a:xfrm>
          <a:prstGeom prst="rect">
            <a:avLst/>
          </a:prstGeom>
          <a:noFill/>
          <a:ln/>
        </p:spPr>
        <p:txBody>
          <a:bodyPr wrap="square" rtlCol="0" anchor="ctr"/>
          <a:lstStyle/>
          <a:p>
            <a:r>
              <a:rPr lang="en-US" sz="1333" b="1" i="1" dirty="0">
                <a:latin typeface="Calibri" pitchFamily="34" charset="0"/>
                <a:ea typeface="Calibri" pitchFamily="34" charset="-122"/>
                <a:cs typeface="Calibri" pitchFamily="34" charset="-120"/>
              </a:rPr>
              <a:t>NSO [Malawi] &amp; ICF. (2017). Malawi DHS 2015–16. Zomba &amp; Rockville.</a:t>
            </a:r>
            <a:endParaRPr lang="en-US" sz="1333" b="1" dirty="0"/>
          </a:p>
        </p:txBody>
      </p:sp>
      <p:sp>
        <p:nvSpPr>
          <p:cNvPr id="7" name="Text 5"/>
          <p:cNvSpPr/>
          <p:nvPr/>
        </p:nvSpPr>
        <p:spPr>
          <a:xfrm>
            <a:off x="487680" y="2097024"/>
            <a:ext cx="5486400" cy="438912"/>
          </a:xfrm>
          <a:prstGeom prst="rect">
            <a:avLst/>
          </a:prstGeom>
          <a:noFill/>
          <a:ln/>
        </p:spPr>
        <p:txBody>
          <a:bodyPr wrap="square" rtlCol="0" anchor="ctr"/>
          <a:lstStyle/>
          <a:p>
            <a:r>
              <a:rPr lang="en-US" sz="1333" b="1" i="1" dirty="0">
                <a:latin typeface="Calibri" pitchFamily="34" charset="0"/>
                <a:ea typeface="Calibri" pitchFamily="34" charset="-122"/>
                <a:cs typeface="Calibri" pitchFamily="34" charset="-120"/>
              </a:rPr>
              <a:t>NSO [Malawi] &amp; ICF. (2025). Malawi DHS 2024. Lilongwe &amp; Rockville.</a:t>
            </a:r>
            <a:endParaRPr lang="en-US" sz="1333" b="1" dirty="0"/>
          </a:p>
        </p:txBody>
      </p:sp>
      <p:sp>
        <p:nvSpPr>
          <p:cNvPr id="8" name="Text 6"/>
          <p:cNvSpPr/>
          <p:nvPr/>
        </p:nvSpPr>
        <p:spPr>
          <a:xfrm>
            <a:off x="487680" y="2584704"/>
            <a:ext cx="5486400" cy="438912"/>
          </a:xfrm>
          <a:prstGeom prst="rect">
            <a:avLst/>
          </a:prstGeom>
          <a:noFill/>
          <a:ln/>
        </p:spPr>
        <p:txBody>
          <a:bodyPr wrap="square" rtlCol="0" anchor="ctr"/>
          <a:lstStyle/>
          <a:p>
            <a:r>
              <a:rPr lang="en-US" sz="1333" b="1" i="1" dirty="0">
                <a:latin typeface="Calibri" pitchFamily="34" charset="0"/>
                <a:ea typeface="Calibri" pitchFamily="34" charset="-122"/>
                <a:cs typeface="Calibri" pitchFamily="34" charset="-120"/>
              </a:rPr>
              <a:t>World Bank. (2024). World Development Indicators.</a:t>
            </a:r>
            <a:endParaRPr lang="en-US" sz="1333" b="1" dirty="0"/>
          </a:p>
        </p:txBody>
      </p:sp>
      <p:sp>
        <p:nvSpPr>
          <p:cNvPr id="9" name="Text 7"/>
          <p:cNvSpPr/>
          <p:nvPr/>
        </p:nvSpPr>
        <p:spPr>
          <a:xfrm>
            <a:off x="487680" y="3072384"/>
            <a:ext cx="5486400" cy="438912"/>
          </a:xfrm>
          <a:prstGeom prst="rect">
            <a:avLst/>
          </a:prstGeom>
          <a:noFill/>
          <a:ln/>
        </p:spPr>
        <p:txBody>
          <a:bodyPr wrap="square" rtlCol="0" anchor="ctr"/>
          <a:lstStyle/>
          <a:p>
            <a:r>
              <a:rPr lang="en-US" sz="1333" b="1" i="1" dirty="0">
                <a:latin typeface="Calibri" pitchFamily="34" charset="0"/>
                <a:ea typeface="Calibri" pitchFamily="34" charset="-122"/>
                <a:cs typeface="Calibri" pitchFamily="34" charset="-120"/>
              </a:rPr>
              <a:t>GADM. (n.d.). Database of Global Administrative Areas: Malawi.</a:t>
            </a:r>
            <a:endParaRPr lang="en-US" sz="1333" b="1" dirty="0"/>
          </a:p>
        </p:txBody>
      </p:sp>
      <p:sp>
        <p:nvSpPr>
          <p:cNvPr id="10" name="Text 8"/>
          <p:cNvSpPr/>
          <p:nvPr/>
        </p:nvSpPr>
        <p:spPr>
          <a:xfrm>
            <a:off x="487680" y="3596640"/>
            <a:ext cx="54864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Tools</a:t>
            </a:r>
            <a:endParaRPr lang="en-US" sz="1600" dirty="0"/>
          </a:p>
        </p:txBody>
      </p:sp>
      <p:sp>
        <p:nvSpPr>
          <p:cNvPr id="11" name="Text 9"/>
          <p:cNvSpPr/>
          <p:nvPr/>
        </p:nvSpPr>
        <p:spPr>
          <a:xfrm>
            <a:off x="487680" y="4023360"/>
            <a:ext cx="5486400" cy="609600"/>
          </a:xfrm>
          <a:prstGeom prst="rect">
            <a:avLst/>
          </a:prstGeom>
          <a:noFill/>
          <a:ln/>
        </p:spPr>
        <p:txBody>
          <a:bodyPr wrap="square" rtlCol="0" anchor="ctr"/>
          <a:lstStyle/>
          <a:p>
            <a:r>
              <a:rPr lang="en-US" sz="1333" b="1" dirty="0">
                <a:latin typeface="Calibri" pitchFamily="34" charset="0"/>
                <a:ea typeface="Calibri" pitchFamily="34" charset="-122"/>
                <a:cs typeface="Calibri" pitchFamily="34" charset="-120"/>
              </a:rPr>
              <a:t>R/RStudio · Python/scikit-learn · Power BI · Quarto · GitHub · GADM · sf · ggplot2</a:t>
            </a:r>
            <a:endParaRPr lang="en-US" sz="1333" b="1" dirty="0"/>
          </a:p>
        </p:txBody>
      </p:sp>
      <p:sp>
        <p:nvSpPr>
          <p:cNvPr id="12" name="Text 10"/>
          <p:cNvSpPr/>
          <p:nvPr/>
        </p:nvSpPr>
        <p:spPr>
          <a:xfrm>
            <a:off x="487680" y="4730496"/>
            <a:ext cx="54864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AI Use Disclosure</a:t>
            </a:r>
            <a:endParaRPr lang="en-US" sz="1600" b="1" dirty="0"/>
          </a:p>
        </p:txBody>
      </p:sp>
      <p:sp>
        <p:nvSpPr>
          <p:cNvPr id="13" name="Text 11"/>
          <p:cNvSpPr/>
          <p:nvPr/>
        </p:nvSpPr>
        <p:spPr>
          <a:xfrm>
            <a:off x="487680" y="5145024"/>
            <a:ext cx="5486400" cy="853440"/>
          </a:xfrm>
          <a:prstGeom prst="rect">
            <a:avLst/>
          </a:prstGeom>
          <a:noFill/>
          <a:ln/>
        </p:spPr>
        <p:txBody>
          <a:bodyPr wrap="square" rtlCol="0" anchor="ctr"/>
          <a:lstStyle/>
          <a:p>
            <a:r>
              <a:rPr lang="en-US" sz="1333" b="1" i="1" dirty="0">
                <a:latin typeface="Calibri" pitchFamily="34" charset="0"/>
                <a:ea typeface="Calibri" pitchFamily="34" charset="-122"/>
                <a:cs typeface="Calibri" pitchFamily="34" charset="-120"/>
              </a:rPr>
              <a:t>ChatGPT used for code troubleshooting, export guidance, and editing support. Dataset selection, analytical decisions, and interpretation remain the author's own.</a:t>
            </a:r>
            <a:endParaRPr lang="en-US" sz="1333" b="1" dirty="0"/>
          </a:p>
        </p:txBody>
      </p:sp>
      <p:sp>
        <p:nvSpPr>
          <p:cNvPr id="14" name="Text 12"/>
          <p:cNvSpPr/>
          <p:nvPr/>
        </p:nvSpPr>
        <p:spPr>
          <a:xfrm>
            <a:off x="6217920" y="1194816"/>
            <a:ext cx="54864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Acknowledgements</a:t>
            </a:r>
            <a:endParaRPr lang="en-US" sz="1600" b="1" dirty="0"/>
          </a:p>
        </p:txBody>
      </p:sp>
      <p:sp>
        <p:nvSpPr>
          <p:cNvPr id="15" name="Shape 13"/>
          <p:cNvSpPr/>
          <p:nvPr/>
        </p:nvSpPr>
        <p:spPr>
          <a:xfrm>
            <a:off x="6217920" y="1645920"/>
            <a:ext cx="73152" cy="426720"/>
          </a:xfrm>
          <a:prstGeom prst="rect">
            <a:avLst/>
          </a:prstGeom>
          <a:solidFill>
            <a:srgbClr val="028090"/>
          </a:solidFill>
          <a:ln w="12700">
            <a:solidFill>
              <a:srgbClr val="028090"/>
            </a:solidFill>
            <a:prstDash val="solid"/>
          </a:ln>
        </p:spPr>
        <p:txBody>
          <a:bodyPr/>
          <a:lstStyle/>
          <a:p>
            <a:endParaRPr lang="en-US" sz="2400"/>
          </a:p>
        </p:txBody>
      </p:sp>
      <p:sp>
        <p:nvSpPr>
          <p:cNvPr id="16" name="Text 14"/>
          <p:cNvSpPr/>
          <p:nvPr/>
        </p:nvSpPr>
        <p:spPr>
          <a:xfrm>
            <a:off x="6437376" y="1621536"/>
            <a:ext cx="5303520" cy="536448"/>
          </a:xfrm>
          <a:prstGeom prst="rect">
            <a:avLst/>
          </a:prstGeom>
          <a:noFill/>
          <a:ln/>
        </p:spPr>
        <p:txBody>
          <a:bodyPr wrap="square" rtlCol="0" anchor="ctr"/>
          <a:lstStyle/>
          <a:p>
            <a:r>
              <a:rPr lang="en-US" sz="1400" b="1" dirty="0">
                <a:latin typeface="Calibri" pitchFamily="34" charset="0"/>
                <a:ea typeface="Calibri" pitchFamily="34" charset="-122"/>
                <a:cs typeface="Calibri" pitchFamily="34" charset="-120"/>
              </a:rPr>
              <a:t>Prof. Rachel Saidi — DATA 205, Montgomery College</a:t>
            </a:r>
            <a:endParaRPr lang="en-US" sz="1400" b="1" dirty="0"/>
          </a:p>
        </p:txBody>
      </p:sp>
      <p:sp>
        <p:nvSpPr>
          <p:cNvPr id="17" name="Shape 15"/>
          <p:cNvSpPr/>
          <p:nvPr/>
        </p:nvSpPr>
        <p:spPr>
          <a:xfrm>
            <a:off x="6217920" y="2279904"/>
            <a:ext cx="73152" cy="426720"/>
          </a:xfrm>
          <a:prstGeom prst="rect">
            <a:avLst/>
          </a:prstGeom>
          <a:solidFill>
            <a:srgbClr val="028090"/>
          </a:solidFill>
          <a:ln w="12700">
            <a:solidFill>
              <a:srgbClr val="028090"/>
            </a:solidFill>
            <a:prstDash val="solid"/>
          </a:ln>
        </p:spPr>
        <p:txBody>
          <a:bodyPr/>
          <a:lstStyle/>
          <a:p>
            <a:endParaRPr lang="en-US" sz="2400"/>
          </a:p>
        </p:txBody>
      </p:sp>
      <p:sp>
        <p:nvSpPr>
          <p:cNvPr id="18" name="Text 16"/>
          <p:cNvSpPr/>
          <p:nvPr/>
        </p:nvSpPr>
        <p:spPr>
          <a:xfrm>
            <a:off x="6437376" y="2255520"/>
            <a:ext cx="5303520" cy="536448"/>
          </a:xfrm>
          <a:prstGeom prst="rect">
            <a:avLst/>
          </a:prstGeom>
          <a:noFill/>
          <a:ln/>
        </p:spPr>
        <p:txBody>
          <a:bodyPr wrap="square" rtlCol="0" anchor="ctr"/>
          <a:lstStyle/>
          <a:p>
            <a:r>
              <a:rPr lang="en-US" sz="1400" b="1" dirty="0">
                <a:latin typeface="Calibri" pitchFamily="34" charset="0"/>
                <a:ea typeface="Calibri" pitchFamily="34" charset="-122"/>
                <a:cs typeface="Calibri" pitchFamily="34" charset="-120"/>
              </a:rPr>
              <a:t>Prof. Lori A. Perine — DATA 205, Montgomery College</a:t>
            </a:r>
            <a:endParaRPr lang="en-US" sz="1400" b="1" dirty="0"/>
          </a:p>
        </p:txBody>
      </p:sp>
      <p:sp>
        <p:nvSpPr>
          <p:cNvPr id="19" name="Shape 17"/>
          <p:cNvSpPr/>
          <p:nvPr/>
        </p:nvSpPr>
        <p:spPr>
          <a:xfrm>
            <a:off x="6217920" y="2913888"/>
            <a:ext cx="73152" cy="426720"/>
          </a:xfrm>
          <a:prstGeom prst="rect">
            <a:avLst/>
          </a:prstGeom>
          <a:solidFill>
            <a:srgbClr val="028090"/>
          </a:solidFill>
          <a:ln w="12700">
            <a:solidFill>
              <a:srgbClr val="028090"/>
            </a:solidFill>
            <a:prstDash val="solid"/>
          </a:ln>
        </p:spPr>
        <p:txBody>
          <a:bodyPr/>
          <a:lstStyle/>
          <a:p>
            <a:endParaRPr lang="en-US" sz="2400"/>
          </a:p>
        </p:txBody>
      </p:sp>
      <p:sp>
        <p:nvSpPr>
          <p:cNvPr id="20" name="Text 18"/>
          <p:cNvSpPr/>
          <p:nvPr/>
        </p:nvSpPr>
        <p:spPr>
          <a:xfrm>
            <a:off x="6437376" y="2889504"/>
            <a:ext cx="5303520" cy="536448"/>
          </a:xfrm>
          <a:prstGeom prst="rect">
            <a:avLst/>
          </a:prstGeom>
          <a:noFill/>
          <a:ln/>
        </p:spPr>
        <p:txBody>
          <a:bodyPr wrap="square" rtlCol="0" anchor="ctr"/>
          <a:lstStyle/>
          <a:p>
            <a:r>
              <a:rPr lang="en-US" sz="1400" b="1" dirty="0">
                <a:latin typeface="Calibri" pitchFamily="34" charset="0"/>
                <a:ea typeface="Calibri" pitchFamily="34" charset="-122"/>
                <a:cs typeface="Calibri" pitchFamily="34" charset="-120"/>
              </a:rPr>
              <a:t>Asad Azhar — Data Scientist, Peloria Insights</a:t>
            </a:r>
            <a:endParaRPr lang="en-US" sz="1400" b="1" dirty="0"/>
          </a:p>
        </p:txBody>
      </p:sp>
      <p:sp>
        <p:nvSpPr>
          <p:cNvPr id="21" name="Shape 19"/>
          <p:cNvSpPr/>
          <p:nvPr/>
        </p:nvSpPr>
        <p:spPr>
          <a:xfrm>
            <a:off x="6217920" y="3547872"/>
            <a:ext cx="73152" cy="426720"/>
          </a:xfrm>
          <a:prstGeom prst="rect">
            <a:avLst/>
          </a:prstGeom>
          <a:solidFill>
            <a:srgbClr val="028090"/>
          </a:solidFill>
          <a:ln w="12700">
            <a:solidFill>
              <a:srgbClr val="028090"/>
            </a:solidFill>
            <a:prstDash val="solid"/>
          </a:ln>
        </p:spPr>
        <p:txBody>
          <a:bodyPr/>
          <a:lstStyle/>
          <a:p>
            <a:endParaRPr lang="en-US" sz="2400"/>
          </a:p>
        </p:txBody>
      </p:sp>
      <p:sp>
        <p:nvSpPr>
          <p:cNvPr id="22" name="Text 20"/>
          <p:cNvSpPr/>
          <p:nvPr/>
        </p:nvSpPr>
        <p:spPr>
          <a:xfrm>
            <a:off x="6437376" y="3523488"/>
            <a:ext cx="5303520" cy="536448"/>
          </a:xfrm>
          <a:prstGeom prst="rect">
            <a:avLst/>
          </a:prstGeom>
          <a:noFill/>
          <a:ln/>
        </p:spPr>
        <p:txBody>
          <a:bodyPr wrap="square" rtlCol="0" anchor="ctr"/>
          <a:lstStyle/>
          <a:p>
            <a:r>
              <a:rPr lang="en-US" sz="1400" b="1" dirty="0">
                <a:latin typeface="Calibri" pitchFamily="34" charset="0"/>
                <a:ea typeface="Calibri" pitchFamily="34" charset="-122"/>
                <a:cs typeface="Calibri" pitchFamily="34" charset="-120"/>
              </a:rPr>
              <a:t>Madeleine Short Fabic — Public Health Leader, ICF</a:t>
            </a:r>
            <a:endParaRPr lang="en-US" sz="1400" b="1" dirty="0"/>
          </a:p>
        </p:txBody>
      </p:sp>
      <p:sp>
        <p:nvSpPr>
          <p:cNvPr id="23" name="Shape 21"/>
          <p:cNvSpPr/>
          <p:nvPr/>
        </p:nvSpPr>
        <p:spPr>
          <a:xfrm>
            <a:off x="6217920" y="4181856"/>
            <a:ext cx="73152" cy="426720"/>
          </a:xfrm>
          <a:prstGeom prst="rect">
            <a:avLst/>
          </a:prstGeom>
          <a:solidFill>
            <a:srgbClr val="028090"/>
          </a:solidFill>
          <a:ln w="12700">
            <a:solidFill>
              <a:srgbClr val="028090"/>
            </a:solidFill>
            <a:prstDash val="solid"/>
          </a:ln>
        </p:spPr>
        <p:txBody>
          <a:bodyPr/>
          <a:lstStyle/>
          <a:p>
            <a:endParaRPr lang="en-US" sz="2400"/>
          </a:p>
        </p:txBody>
      </p:sp>
      <p:sp>
        <p:nvSpPr>
          <p:cNvPr id="24" name="Text 22"/>
          <p:cNvSpPr/>
          <p:nvPr/>
        </p:nvSpPr>
        <p:spPr>
          <a:xfrm>
            <a:off x="6437376" y="4157472"/>
            <a:ext cx="5303520" cy="536448"/>
          </a:xfrm>
          <a:prstGeom prst="rect">
            <a:avLst/>
          </a:prstGeom>
          <a:noFill/>
          <a:ln/>
        </p:spPr>
        <p:txBody>
          <a:bodyPr wrap="square" rtlCol="0" anchor="ctr"/>
          <a:lstStyle/>
          <a:p>
            <a:r>
              <a:rPr lang="en-US" sz="1400" b="1" dirty="0">
                <a:latin typeface="Calibri" pitchFamily="34" charset="0"/>
                <a:ea typeface="Calibri" pitchFamily="34" charset="-122"/>
                <a:cs typeface="Calibri" pitchFamily="34" charset="-120"/>
              </a:rPr>
              <a:t>Dr. John Borrazzo — Global Health &amp; Development Advisor</a:t>
            </a:r>
            <a:endParaRPr lang="en-US" sz="1400" b="1" dirty="0"/>
          </a:p>
        </p:txBody>
      </p:sp>
      <p:sp>
        <p:nvSpPr>
          <p:cNvPr id="25" name="Shape 23"/>
          <p:cNvSpPr/>
          <p:nvPr/>
        </p:nvSpPr>
        <p:spPr>
          <a:xfrm>
            <a:off x="6217920" y="4815840"/>
            <a:ext cx="73152" cy="426720"/>
          </a:xfrm>
          <a:prstGeom prst="rect">
            <a:avLst/>
          </a:prstGeom>
          <a:solidFill>
            <a:srgbClr val="028090"/>
          </a:solidFill>
          <a:ln w="12700">
            <a:solidFill>
              <a:srgbClr val="028090"/>
            </a:solidFill>
            <a:prstDash val="solid"/>
          </a:ln>
        </p:spPr>
        <p:txBody>
          <a:bodyPr/>
          <a:lstStyle/>
          <a:p>
            <a:endParaRPr lang="en-US" sz="2400"/>
          </a:p>
        </p:txBody>
      </p:sp>
      <p:sp>
        <p:nvSpPr>
          <p:cNvPr id="26" name="Text 24"/>
          <p:cNvSpPr/>
          <p:nvPr/>
        </p:nvSpPr>
        <p:spPr>
          <a:xfrm>
            <a:off x="6437376" y="4791456"/>
            <a:ext cx="5303520" cy="536448"/>
          </a:xfrm>
          <a:prstGeom prst="rect">
            <a:avLst/>
          </a:prstGeom>
          <a:noFill/>
          <a:ln/>
        </p:spPr>
        <p:txBody>
          <a:bodyPr wrap="square" rtlCol="0" anchor="ctr"/>
          <a:lstStyle/>
          <a:p>
            <a:r>
              <a:rPr lang="en-US" sz="1400" b="1" dirty="0">
                <a:latin typeface="Calibri" pitchFamily="34" charset="0"/>
                <a:ea typeface="Calibri" pitchFamily="34" charset="-122"/>
                <a:cs typeface="Calibri" pitchFamily="34" charset="-120"/>
              </a:rPr>
              <a:t>Michael Iapalucci &amp; Melissa Mostrom — Fiber Locator</a:t>
            </a:r>
            <a:endParaRPr lang="en-US" sz="1400" b="1" dirty="0"/>
          </a:p>
        </p:txBody>
      </p:sp>
      <p:sp>
        <p:nvSpPr>
          <p:cNvPr id="28" name="Shape 26"/>
          <p:cNvSpPr/>
          <p:nvPr/>
        </p:nvSpPr>
        <p:spPr>
          <a:xfrm>
            <a:off x="487680" y="6315456"/>
            <a:ext cx="11277600" cy="341376"/>
          </a:xfrm>
          <a:prstGeom prst="rect">
            <a:avLst/>
          </a:prstGeom>
          <a:solidFill>
            <a:srgbClr val="028090"/>
          </a:solidFill>
          <a:ln w="12700">
            <a:solidFill>
              <a:srgbClr val="028090"/>
            </a:solidFill>
            <a:prstDash val="solid"/>
          </a:ln>
        </p:spPr>
        <p:txBody>
          <a:bodyPr/>
          <a:lstStyle/>
          <a:p>
            <a:endParaRPr lang="en-US" sz="2400"/>
          </a:p>
        </p:txBody>
      </p:sp>
      <p:sp>
        <p:nvSpPr>
          <p:cNvPr id="29" name="Text 27"/>
          <p:cNvSpPr/>
          <p:nvPr/>
        </p:nvSpPr>
        <p:spPr>
          <a:xfrm>
            <a:off x="487680" y="6315456"/>
            <a:ext cx="11277600" cy="341376"/>
          </a:xfrm>
          <a:prstGeom prst="rect">
            <a:avLst/>
          </a:prstGeom>
          <a:noFill/>
          <a:ln/>
        </p:spPr>
        <p:txBody>
          <a:bodyPr wrap="square" rtlCol="0" anchor="ctr"/>
          <a:lstStyle/>
          <a:p>
            <a:pPr algn="ctr"/>
            <a:r>
              <a:rPr lang="en-US" sz="1133" dirty="0">
                <a:solidFill>
                  <a:srgbClr val="FFFFFF"/>
                </a:solidFill>
                <a:latin typeface="Calibri" pitchFamily="34" charset="0"/>
                <a:ea typeface="Calibri" pitchFamily="34" charset="-122"/>
                <a:cs typeface="Calibri" pitchFamily="34" charset="-120"/>
              </a:rPr>
              <a:t>DATA 205 – CRN 3206 - Spring 2026 - Télesphore Evariste Larba KABORÉ - Montgomery College</a:t>
            </a:r>
            <a:endParaRPr lang="en-US" sz="1133"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189</TotalTime>
  <Words>3496</Words>
  <Application>Microsoft Office PowerPoint</Application>
  <PresentationFormat>Widescreen</PresentationFormat>
  <Paragraphs>291</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Telesphore Kabore</dc:creator>
  <cp:lastModifiedBy>Telesphore Kabore</cp:lastModifiedBy>
  <cp:revision>1</cp:revision>
  <dcterms:created xsi:type="dcterms:W3CDTF">2026-05-12T20:08:19Z</dcterms:created>
  <dcterms:modified xsi:type="dcterms:W3CDTF">2026-05-12T23:17:35Z</dcterms:modified>
</cp:coreProperties>
</file>